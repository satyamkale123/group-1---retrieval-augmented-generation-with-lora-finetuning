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rts/chart1.xml" ContentType="application/vnd.openxmlformats-officedocument.drawingml.chart+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09"/>
  </p:normalViewPr>
  <p:slideViewPr>
    <p:cSldViewPr snapToGrid="0" snapToObjects="1">
      <p:cViewPr varScale="1">
        <p:scale>
          <a:sx n="148" d="100"/>
          <a:sy n="148" d="100"/>
        </p:scale>
        <p:origin x="624" y="176"/>
      </p:cViewPr>
      <p:guideLst/>
    </p:cSldViewPr>
  </p:slideViewPr>
  <p:notesTextViewPr>
    <p:cViewPr>
      <p:scale>
        <a:sx n="1" d="1"/>
        <a:sy n="1" d="1"/>
      </p:scale>
      <p:origin x="0" y="-736"/>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autoTitleDeleted val="1"/>
    <c:plotArea>
      <c:layout/>
      <c:lineChart>
        <c:grouping val="standard"/>
        <c:varyColors val="0"/>
        <c:ser>
          <c:idx val="0"/>
          <c:order val="0"/>
          <c:tx>
            <c:strRef>
              <c:f>Sheet1!$B$1</c:f>
              <c:strCache>
                <c:ptCount val="1"/>
                <c:pt idx="0">
                  <c:v>Cross-Entropy Loss</c:v>
                </c:pt>
              </c:strCache>
            </c:strRef>
          </c:tx>
          <c:spPr>
            <a:ln w="31750" cap="flat">
              <a:solidFill>
                <a:srgbClr val="1A6B8A"/>
              </a:solidFill>
              <a:prstDash val="solid"/>
              <a:round/>
            </a:ln>
            <a:effectLst/>
          </c:spPr>
          <c:marker>
            <c:symbol val="circle"/>
            <c:size val="6"/>
            <c:spPr>
              <a:solidFill>
                <a:srgbClr val="1A6B8A"/>
              </a:solidFill>
              <a:ln w="9525" cap="flat">
                <a:solidFill>
                  <a:srgbClr val="1A6B8A"/>
                </a:solidFill>
                <a:prstDash val="solid"/>
                <a:round/>
              </a:ln>
              <a:effectLst/>
            </c:spPr>
          </c:marker>
          <c:cat>
            <c:strRef>
              <c:f>Sheet1!$A$2:$A$26</c:f>
              <c:strCache>
                <c:ptCount val="25"/>
                <c:pt idx="0">
                  <c:v>25</c:v>
                </c:pt>
                <c:pt idx="1">
                  <c:v>50</c:v>
                </c:pt>
                <c:pt idx="2">
                  <c:v>75</c:v>
                </c:pt>
                <c:pt idx="3">
                  <c:v>100</c:v>
                </c:pt>
                <c:pt idx="4">
                  <c:v>125</c:v>
                </c:pt>
                <c:pt idx="5">
                  <c:v>150</c:v>
                </c:pt>
                <c:pt idx="6">
                  <c:v>175</c:v>
                </c:pt>
                <c:pt idx="7">
                  <c:v>200</c:v>
                </c:pt>
                <c:pt idx="8">
                  <c:v>225</c:v>
                </c:pt>
                <c:pt idx="9">
                  <c:v>250</c:v>
                </c:pt>
                <c:pt idx="10">
                  <c:v>275</c:v>
                </c:pt>
                <c:pt idx="11">
                  <c:v>300</c:v>
                </c:pt>
                <c:pt idx="12">
                  <c:v>325</c:v>
                </c:pt>
                <c:pt idx="13">
                  <c:v>350</c:v>
                </c:pt>
                <c:pt idx="14">
                  <c:v>375</c:v>
                </c:pt>
                <c:pt idx="15">
                  <c:v>400</c:v>
                </c:pt>
                <c:pt idx="16">
                  <c:v>425</c:v>
                </c:pt>
                <c:pt idx="17">
                  <c:v>450</c:v>
                </c:pt>
                <c:pt idx="18">
                  <c:v>475</c:v>
                </c:pt>
                <c:pt idx="19">
                  <c:v>500</c:v>
                </c:pt>
                <c:pt idx="20">
                  <c:v>525</c:v>
                </c:pt>
                <c:pt idx="21">
                  <c:v>550</c:v>
                </c:pt>
                <c:pt idx="22">
                  <c:v>575</c:v>
                </c:pt>
                <c:pt idx="23">
                  <c:v>600</c:v>
                </c:pt>
                <c:pt idx="24">
                  <c:v>625</c:v>
                </c:pt>
              </c:strCache>
            </c:strRef>
          </c:cat>
          <c:val>
            <c:numRef>
              <c:f>Sheet1!$B$2:$B$26</c:f>
              <c:numCache>
                <c:formatCode>General</c:formatCode>
                <c:ptCount val="25"/>
                <c:pt idx="0">
                  <c:v>3.23</c:v>
                </c:pt>
                <c:pt idx="1">
                  <c:v>2.97</c:v>
                </c:pt>
                <c:pt idx="2">
                  <c:v>2.7389999999999999</c:v>
                </c:pt>
                <c:pt idx="3">
                  <c:v>2.5329999999999999</c:v>
                </c:pt>
                <c:pt idx="4">
                  <c:v>2.35</c:v>
                </c:pt>
                <c:pt idx="5">
                  <c:v>2.1869999999999998</c:v>
                </c:pt>
                <c:pt idx="6">
                  <c:v>2.0419999999999998</c:v>
                </c:pt>
                <c:pt idx="7">
                  <c:v>1.913</c:v>
                </c:pt>
                <c:pt idx="8">
                  <c:v>1.798</c:v>
                </c:pt>
                <c:pt idx="9">
                  <c:v>1.696</c:v>
                </c:pt>
                <c:pt idx="10">
                  <c:v>1.605</c:v>
                </c:pt>
                <c:pt idx="11">
                  <c:v>1.524</c:v>
                </c:pt>
                <c:pt idx="12">
                  <c:v>1.452</c:v>
                </c:pt>
                <c:pt idx="13">
                  <c:v>1.3879999999999999</c:v>
                </c:pt>
                <c:pt idx="14">
                  <c:v>1.331</c:v>
                </c:pt>
                <c:pt idx="15">
                  <c:v>1.28</c:v>
                </c:pt>
                <c:pt idx="16">
                  <c:v>1.2350000000000001</c:v>
                </c:pt>
                <c:pt idx="17">
                  <c:v>1.1950000000000001</c:v>
                </c:pt>
                <c:pt idx="18">
                  <c:v>1.159</c:v>
                </c:pt>
                <c:pt idx="19">
                  <c:v>1.127</c:v>
                </c:pt>
                <c:pt idx="20">
                  <c:v>1.099</c:v>
                </c:pt>
                <c:pt idx="21">
                  <c:v>1.0740000000000001</c:v>
                </c:pt>
                <c:pt idx="22">
                  <c:v>1.0509999999999999</c:v>
                </c:pt>
                <c:pt idx="23">
                  <c:v>1.0309999999999999</c:v>
                </c:pt>
                <c:pt idx="24">
                  <c:v>1.014</c:v>
                </c:pt>
              </c:numCache>
            </c:numRef>
          </c:val>
          <c:smooth val="0"/>
          <c:extLst>
            <c:ext xmlns:c16="http://schemas.microsoft.com/office/drawing/2014/chart" uri="{C3380CC4-5D6E-409C-BE32-E72D297353CC}">
              <c16:uniqueId val="{00000000-EB6E-2A4F-92FA-C4E9E8525F50}"/>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A7080"/>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2E8F0"/>
              </a:solidFill>
              <a:prstDash val="solid"/>
              <a:round/>
            </a:ln>
          </c:spPr>
        </c:majorGridlines>
        <c:title>
          <c:tx>
            <c:rich>
              <a:bodyPr/>
              <a:lstStyle/>
              <a:p>
                <a:pPr>
                  <a:defRPr b="0" i="0" u="none" strike="noStrike">
                    <a:solidFill>
                      <a:srgbClr val="000000"/>
                    </a:solidFill>
                    <a:latin typeface="Arial"/>
                  </a:defRPr>
                </a:pPr>
                <a:r>
                  <a:rPr lang="en-US" b="0" i="0" u="none" strike="noStrike">
                    <a:solidFill>
                      <a:srgbClr val="000000"/>
                    </a:solidFill>
                    <a:latin typeface="Arial"/>
                  </a:rPr>
                  <a:t>Cross-Entropy Loss</a:t>
                </a:r>
              </a:p>
            </c:rich>
          </c:tx>
          <c:overlay val="0"/>
        </c:title>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A7080"/>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0596447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everyone! We're [name your team]. Our project is about making AI models give more accurate answers when they're asked factual questions.</a:t>
            </a:r>
          </a:p>
          <a:p>
            <a:r>
              <a:rPr lang="en-US" dirty="0"/>
              <a:t>The full title is "Enhancing Open-Domain Question Answering via Retrieval-Augmented Generation with </a:t>
            </a:r>
            <a:r>
              <a:rPr lang="en-US" dirty="0" err="1"/>
              <a:t>LoRA</a:t>
            </a:r>
            <a:r>
              <a:rPr lang="en-US" dirty="0"/>
              <a:t> Fine-Tuning." That sounds complicated, but the idea is actually pretty simple — and we'll explain everything from the ground up.</a:t>
            </a:r>
          </a:p>
          <a:p>
            <a:r>
              <a:rPr lang="en-US" dirty="0"/>
              <a:t>Over the next 20 minutes, we'll cover the problem we're solving, how we solved it, what we built, and what we found. Some of our findings were surprising — including one result that goes against what we expected.</a:t>
            </a:r>
          </a:p>
          <a:p>
            <a:r>
              <a:rPr lang="en-US" dirty="0"/>
              <a:t>Let's start by looking at why this problem matters.</a:t>
            </a:r>
          </a:p>
          <a:p>
            <a:endParaRPr lang="en-US" dirty="0"/>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the big issue with AI language models is that they sound confident even when they're wrong. We call this "hallucination."</a:t>
            </a:r>
          </a:p>
          <a:p>
            <a:r>
              <a:rPr lang="en-US" dirty="0"/>
              <a:t>Here's a real example from our experiments. We asked the Mistral language model: "Which US gangster was released from Alcatraz prison in November 1939?"</a:t>
            </a:r>
          </a:p>
          <a:p>
            <a:r>
              <a:rPr lang="en-US" dirty="0"/>
              <a:t>The model confidently answered: "Robert Stroud, the Birdman of Alcatraz." That sounds right — Robert Stroud is a real person, he was actually at Alcatraz. But he wasn't released in 1939. The correct answer is </a:t>
            </a:r>
            <a:r>
              <a:rPr lang="en-US" b="1" dirty="0"/>
              <a:t>Al Capone</a:t>
            </a:r>
            <a:r>
              <a:rPr lang="en-US" dirty="0"/>
              <a:t>.</a:t>
            </a:r>
          </a:p>
          <a:p>
            <a:r>
              <a:rPr lang="en-US" dirty="0"/>
              <a:t>What happened? The model recognized "Alcatraz" and "famous gangster," and it pattern-matched to a plausible name. It didn't actually know the fact — it just made one up that sounded reasonable. This is dangerous in real applications like medical, legal, or research tools.</a:t>
            </a:r>
          </a:p>
          <a:p>
            <a:r>
              <a:rPr lang="en-US" dirty="0"/>
              <a:t>The fix that researchers came up with is called RAG — Retrieval-Augmented Generation. Instead of trusting the model's memory, we let it look things up first, like an open-book exam. But there's still an open question: can we make this even better by training the model to use those lookups properly? That's what our project investigates.</a:t>
            </a:r>
          </a:p>
          <a:p>
            <a:endParaRPr lang="en-US" dirty="0"/>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our central research question is: does training the AI model — what we call "fine-tuning" — actually help when it's already using retrieval?</a:t>
            </a:r>
          </a:p>
          <a:p>
            <a:r>
              <a:rPr lang="en-US" dirty="0"/>
              <a:t>To answer this properly, we set up four different versions of the system and compared them.</a:t>
            </a:r>
          </a:p>
          <a:p>
            <a:r>
              <a:rPr lang="en-US" b="1" dirty="0"/>
              <a:t>Version 1, Baseline 1:</a:t>
            </a:r>
            <a:r>
              <a:rPr lang="en-US" dirty="0"/>
              <a:t> Just ask the AI directly, no retrieval. This is the basic case.</a:t>
            </a:r>
          </a:p>
          <a:p>
            <a:r>
              <a:rPr lang="en-US" b="1" dirty="0"/>
              <a:t>Version 2, Baseline 2:</a:t>
            </a:r>
            <a:r>
              <a:rPr lang="en-US" dirty="0"/>
              <a:t> Same thing, but we give the AI five example question-answer pairs first, so it understands what kind of answers we want.</a:t>
            </a:r>
          </a:p>
          <a:p>
            <a:r>
              <a:rPr lang="en-US" b="1" dirty="0"/>
              <a:t>Version 3, RAG:</a:t>
            </a:r>
            <a:r>
              <a:rPr lang="en-US" dirty="0"/>
              <a:t> Now we add retrieval. The AI looks up Wikipedia passages before answering.</a:t>
            </a:r>
          </a:p>
          <a:p>
            <a:r>
              <a:rPr lang="en-US" b="1" dirty="0"/>
              <a:t>Version 4, RAG plus </a:t>
            </a:r>
            <a:r>
              <a:rPr lang="en-US" b="1" dirty="0" err="1"/>
              <a:t>LoRA</a:t>
            </a:r>
            <a:r>
              <a:rPr lang="en-US" b="1" dirty="0"/>
              <a:t>:</a:t>
            </a:r>
            <a:r>
              <a:rPr lang="en-US" dirty="0"/>
              <a:t> Same as version 3, but we also fine-tuned the AI specifically on this kind of task.</a:t>
            </a:r>
          </a:p>
          <a:p>
            <a:r>
              <a:rPr lang="en-US" dirty="0"/>
              <a:t>The point of having all four versions is that we can measure exactly what each technique contributes. Comparing version 3 to version 4 tells us how much fine-tuning helps. Comparing version 2 to version 3 tells us how much retrieval helps. It's a clean way to isolate each effect.</a:t>
            </a:r>
          </a:p>
          <a:p>
            <a:endParaRPr lang="en-US" dirty="0"/>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are five stages in the pipeline.</a:t>
            </a:r>
          </a:p>
          <a:p>
            <a:r>
              <a:rPr lang="en-US" dirty="0"/>
              <a:t>First, the user asks a </a:t>
            </a:r>
            <a:r>
              <a:rPr lang="en-US" b="1" dirty="0"/>
              <a:t>question</a:t>
            </a:r>
            <a:r>
              <a:rPr lang="en-US" dirty="0"/>
              <a:t>.</a:t>
            </a:r>
          </a:p>
          <a:p>
            <a:r>
              <a:rPr lang="en-US" dirty="0"/>
              <a:t>Second, that question goes to a </a:t>
            </a:r>
            <a:r>
              <a:rPr lang="en-US" b="1" dirty="0"/>
              <a:t>retriever</a:t>
            </a:r>
            <a:r>
              <a:rPr lang="en-US" dirty="0"/>
              <a:t>. The retriever's job is to find relevant information. It uses something called DPR with a FAISS index — basically, a really fast search engine over text.</a:t>
            </a:r>
          </a:p>
          <a:p>
            <a:r>
              <a:rPr lang="en-US" dirty="0"/>
              <a:t>Third, the retriever returns the </a:t>
            </a:r>
            <a:r>
              <a:rPr lang="en-US" b="1" dirty="0"/>
              <a:t>top-k passages</a:t>
            </a:r>
            <a:r>
              <a:rPr lang="en-US" dirty="0"/>
              <a:t> — usually the 5 most relevant chunks from Wikipedia.</a:t>
            </a:r>
          </a:p>
          <a:p>
            <a:r>
              <a:rPr lang="en-US" dirty="0"/>
              <a:t>Fourth, those passages plus the original question go to the </a:t>
            </a:r>
            <a:r>
              <a:rPr lang="en-US" b="1" dirty="0"/>
              <a:t>generator</a:t>
            </a:r>
            <a:r>
              <a:rPr lang="en-US" dirty="0"/>
              <a:t>, which is the language model — in our case, Mistral-7B.</a:t>
            </a:r>
          </a:p>
          <a:p>
            <a:r>
              <a:rPr lang="en-US" dirty="0"/>
              <a:t>Fifth, the generator produces an </a:t>
            </a:r>
            <a:r>
              <a:rPr lang="en-US" b="1" dirty="0"/>
              <a:t>answer</a:t>
            </a:r>
            <a:r>
              <a:rPr lang="en-US" dirty="0"/>
              <a:t> based on those passages.</a:t>
            </a:r>
          </a:p>
          <a:p>
            <a:r>
              <a:rPr lang="en-US" dirty="0"/>
              <a:t>The key idea is in the dark box at the bottom: instead of relying on what the AI memorized during its training, the AI now answers based on text from a verifiable source — Wikipedia. So if it gets something wrong, we can actually check the source.</a:t>
            </a:r>
          </a:p>
          <a:p>
            <a:endParaRPr lang="en-US" dirty="0"/>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the language model we used, Mistral-7B, has 7 </a:t>
            </a:r>
            <a:r>
              <a:rPr lang="en-US" b="1" dirty="0"/>
              <a:t>billion</a:t>
            </a:r>
            <a:r>
              <a:rPr lang="en-US" dirty="0"/>
              <a:t> parameters. That's the number on the left of the screen. To do traditional fine-tuning, you'd have to update all 7 billion of them. That requires multiple expensive GPUs and many hours of training. Way too expensive for a class project.</a:t>
            </a:r>
          </a:p>
          <a:p>
            <a:r>
              <a:rPr lang="en-US" dirty="0" err="1"/>
              <a:t>LoRA</a:t>
            </a:r>
            <a:r>
              <a:rPr lang="en-US" dirty="0"/>
              <a:t>, which stands for Low-Rank Adaptation, solves this problem really cleverly. Instead of updating all 7 billion parameters, we add a small number of trainable parameters alongside the original ones, and only train those.</a:t>
            </a:r>
          </a:p>
          <a:p>
            <a:r>
              <a:rPr lang="en-US" dirty="0"/>
              <a:t>In our case, that's only 3.4 million trainable parameters — that's the number on the right. That's just </a:t>
            </a:r>
            <a:r>
              <a:rPr lang="en-US" b="1" dirty="0"/>
              <a:t>0.09%</a:t>
            </a:r>
            <a:r>
              <a:rPr lang="en-US" dirty="0"/>
              <a:t> of the model. The original model stays frozen and untouched.</a:t>
            </a:r>
          </a:p>
          <a:p>
            <a:r>
              <a:rPr lang="en-US" dirty="0"/>
              <a:t>The way it works technically is that we inject small "adapter" matrices into the attention layers of the model. Those adapters learn the task-specific behavior we want. Combined with something called 4-bit quantization, this lets us fine-tune a 7-billion-parameter model on a single GPU in about 30 minutes.</a:t>
            </a:r>
          </a:p>
          <a:p>
            <a:r>
              <a:rPr lang="en-US" dirty="0"/>
              <a:t>This is what makes the entire project feasible.</a:t>
            </a:r>
          </a:p>
          <a:p>
            <a:endParaRPr lang="en-US" dirty="0"/>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The retriever</a:t>
            </a:r>
            <a:r>
              <a:rPr lang="en-US" dirty="0"/>
              <a:t>, on the left, uses an embedding model called sentence-transformers </a:t>
            </a:r>
            <a:r>
              <a:rPr lang="en-US" dirty="0" err="1"/>
              <a:t>MiniLM</a:t>
            </a:r>
            <a:r>
              <a:rPr lang="en-US" dirty="0"/>
              <a:t>. It converts text into 384-dimensional vectors. We then store all those vectors in a FAISS index, which lets us do really fast similarity search — about 20 milliseconds per query. Our knowledge base has over 525,000 Wikipedia passages.</a:t>
            </a:r>
          </a:p>
          <a:p>
            <a:r>
              <a:rPr lang="en-US" b="1" dirty="0"/>
              <a:t>The generator</a:t>
            </a:r>
            <a:r>
              <a:rPr lang="en-US" dirty="0"/>
              <a:t>, in the middle, is Mistral-7B-Instruct. It's the language model that actually produces the answers. We loaded it in 4-bit quantization, which compresses the model from 28 GB down to about 5 GB so it fits on a single </a:t>
            </a:r>
            <a:r>
              <a:rPr lang="en-US" dirty="0" err="1"/>
              <a:t>Colab</a:t>
            </a:r>
            <a:r>
              <a:rPr lang="en-US" dirty="0"/>
              <a:t> GPU. We use greedy decoding — meaning the model picks the most likely word each time — for reproducibility.</a:t>
            </a:r>
          </a:p>
          <a:p>
            <a:r>
              <a:rPr lang="en-US" b="1" dirty="0" err="1"/>
              <a:t>LoRA</a:t>
            </a:r>
            <a:r>
              <a:rPr lang="en-US" b="1" dirty="0"/>
              <a:t> fine-tuning</a:t>
            </a:r>
            <a:r>
              <a:rPr lang="en-US" dirty="0"/>
              <a:t>, on the right, is what teaches the generator to give better answers in our specific format. We used the </a:t>
            </a:r>
            <a:r>
              <a:rPr lang="en-US" dirty="0" err="1"/>
              <a:t>HuggingFace</a:t>
            </a:r>
            <a:r>
              <a:rPr lang="en-US" dirty="0"/>
              <a:t> PEFT library, with rank-8 adapters injected into the attention layers. We trained on 10,000 question-answer pairs from </a:t>
            </a:r>
            <a:r>
              <a:rPr lang="en-US" dirty="0" err="1"/>
              <a:t>TriviaQA</a:t>
            </a:r>
            <a:r>
              <a:rPr lang="en-US" dirty="0"/>
              <a:t>.</a:t>
            </a:r>
          </a:p>
          <a:p>
            <a:r>
              <a:rPr lang="en-US" dirty="0"/>
              <a:t>At the bottom, you can see we evaluated on </a:t>
            </a:r>
            <a:r>
              <a:rPr lang="en-US" dirty="0" err="1"/>
              <a:t>TriviaQA</a:t>
            </a:r>
            <a:r>
              <a:rPr lang="en-US" dirty="0"/>
              <a:t> — that's the standard benchmark dataset we used — with 500 fixed questions, the same 500 across all four configurations so the comparison is fair.</a:t>
            </a:r>
          </a:p>
          <a:p>
            <a:endParaRPr lang="en-US" dirty="0"/>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before we talk about results, it's worth pausing to explain </a:t>
            </a:r>
            <a:r>
              <a:rPr lang="en-US" i="1" dirty="0"/>
              <a:t>how</a:t>
            </a:r>
            <a:r>
              <a:rPr lang="en-US" dirty="0"/>
              <a:t> we actually talk to the model — because the prompt format turns out to be really important.</a:t>
            </a:r>
          </a:p>
          <a:p>
            <a:r>
              <a:rPr lang="en-US" dirty="0"/>
              <a:t>We have three different prompt styles, one for each configuration. The first is zero-shot — we literally just say "answer this question briefly" and hand it the question. No examples, no extra context. Just testing what the model already knows from training.</a:t>
            </a:r>
          </a:p>
          <a:p>
            <a:r>
              <a:rPr lang="en-US" dirty="0"/>
              <a:t>The second is few-shot — we give it 5 example question-answer pairs before the real question. This primes the model to know </a:t>
            </a:r>
            <a:r>
              <a:rPr lang="en-US" i="1" dirty="0"/>
              <a:t>how</a:t>
            </a:r>
            <a:r>
              <a:rPr lang="en-US" dirty="0"/>
              <a:t> to format its answer. Think of it like showing someone a template before asking them to fill it in.</a:t>
            </a:r>
          </a:p>
          <a:p>
            <a:r>
              <a:rPr lang="en-US" dirty="0"/>
              <a:t>The third prompt — and this one's used for both plain RAG and </a:t>
            </a:r>
            <a:r>
              <a:rPr lang="en-US" dirty="0" err="1"/>
              <a:t>RAG+LoRA</a:t>
            </a:r>
            <a:r>
              <a:rPr lang="en-US" dirty="0"/>
              <a:t> — actually prepends 5 Wikipedia passages before the question. We're telling the model: "here's some relevant text, now answer based on this."</a:t>
            </a:r>
          </a:p>
          <a:p>
            <a:r>
              <a:rPr lang="en-US" dirty="0"/>
              <a:t>Here's the really important thing to notice: plain RAG and </a:t>
            </a:r>
            <a:r>
              <a:rPr lang="en-US" dirty="0" err="1"/>
              <a:t>RAG+LoRA</a:t>
            </a:r>
            <a:r>
              <a:rPr lang="en-US" dirty="0"/>
              <a:t> use the </a:t>
            </a:r>
            <a:r>
              <a:rPr lang="en-US" i="1" dirty="0"/>
              <a:t>exact same prompt</a:t>
            </a:r>
            <a:r>
              <a:rPr lang="en-US" dirty="0"/>
              <a:t>. The only difference is that </a:t>
            </a:r>
            <a:r>
              <a:rPr lang="en-US" dirty="0" err="1"/>
              <a:t>LoRA</a:t>
            </a:r>
            <a:r>
              <a:rPr lang="en-US" dirty="0"/>
              <a:t> has been trained on this format thousands of times, so it actually knows how to use it properly. The untrained model sees that prompt and doesn't know what to do with it — it treats it like a reading comprehension essay and writes a long paragraph. The </a:t>
            </a:r>
            <a:r>
              <a:rPr lang="en-US" dirty="0" err="1"/>
              <a:t>LoRA</a:t>
            </a:r>
            <a:r>
              <a:rPr lang="en-US" dirty="0"/>
              <a:t> model sees it and just gives you the answer. Same input, completely different output behavior.</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walk through one concrete example so you can see exactly what the system does.</a:t>
            </a:r>
          </a:p>
          <a:p>
            <a:r>
              <a:rPr lang="en-US" dirty="0"/>
              <a:t>The question is: "Who wrote the play Hamlet?"</a:t>
            </a:r>
          </a:p>
          <a:p>
            <a:r>
              <a:rPr lang="en-US" b="1" dirty="0"/>
              <a:t>Step 1:</a:t>
            </a:r>
            <a:r>
              <a:rPr lang="en-US" dirty="0"/>
              <a:t> the question gets embedded — converted to a 384-dimensional number vector.</a:t>
            </a:r>
          </a:p>
          <a:p>
            <a:r>
              <a:rPr lang="en-US" b="1" dirty="0"/>
              <a:t>Step 2:</a:t>
            </a:r>
            <a:r>
              <a:rPr lang="en-US" dirty="0"/>
              <a:t> FAISS searches our 525,000 passages and returns the top 5 most similar ones.</a:t>
            </a:r>
          </a:p>
          <a:p>
            <a:r>
              <a:rPr lang="en-US" dirty="0"/>
              <a:t>You can see those titles on the right side of the slide — the retriever pulled up "Words, Words, Words" (which is a famous line from Hamlet), the actual Hamlet article, the William Shakespeare article, the 1990 Hamlet film, and Prince Hamlet. Really good retrieval — exactly what we'd hope for.</a:t>
            </a:r>
          </a:p>
          <a:p>
            <a:r>
              <a:rPr lang="en-US" b="1" dirty="0"/>
              <a:t>Step 3:</a:t>
            </a:r>
            <a:r>
              <a:rPr lang="en-US" dirty="0"/>
              <a:t> we build a RAG prompt by combining the question with those 5 passages.</a:t>
            </a:r>
          </a:p>
          <a:p>
            <a:r>
              <a:rPr lang="en-US" b="1" dirty="0"/>
              <a:t>Step 4:</a:t>
            </a:r>
            <a:r>
              <a:rPr lang="en-US" dirty="0"/>
              <a:t> the </a:t>
            </a:r>
            <a:r>
              <a:rPr lang="en-US" dirty="0" err="1"/>
              <a:t>LoRA</a:t>
            </a:r>
            <a:r>
              <a:rPr lang="en-US" dirty="0"/>
              <a:t>-fine-tuned Mistral processes that prompt and produces the answer.</a:t>
            </a:r>
          </a:p>
          <a:p>
            <a:r>
              <a:rPr lang="en-US" dirty="0"/>
              <a:t>The output, in the dark box on the right: "William Shakespeare." Concise, correct, and grounded in the retrieved passages. This is the system working as intended.</a:t>
            </a:r>
          </a:p>
          <a:p>
            <a:r>
              <a:rPr lang="en-US" dirty="0"/>
              <a:t>Now obviously not every question is this clean. We'll talk about the harder cases in a couple of slides.</a:t>
            </a:r>
          </a:p>
          <a:p>
            <a:endParaRPr lang="en-US" dirty="0"/>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gives you a high-level view of all the work that went into the project.</a:t>
            </a:r>
          </a:p>
          <a:p>
            <a:r>
              <a:rPr lang="en-US" dirty="0"/>
              <a:t>We started with environment </a:t>
            </a:r>
            <a:r>
              <a:rPr lang="en-US" b="1" dirty="0"/>
              <a:t>setup</a:t>
            </a:r>
            <a:r>
              <a:rPr lang="en-US" dirty="0"/>
              <a:t> — getting Mistral running on </a:t>
            </a:r>
            <a:r>
              <a:rPr lang="en-US" dirty="0" err="1"/>
              <a:t>Colab</a:t>
            </a:r>
            <a:r>
              <a:rPr lang="en-US" dirty="0"/>
              <a:t>, resolving all the dependency conflicts. That took longer than expected because of compatibility issues between NumPy, FAISS, and the quantization library.</a:t>
            </a:r>
          </a:p>
          <a:p>
            <a:r>
              <a:rPr lang="en-US" dirty="0"/>
              <a:t>Then we built the </a:t>
            </a:r>
            <a:r>
              <a:rPr lang="en-US" b="1" dirty="0"/>
              <a:t>retriever</a:t>
            </a:r>
            <a:r>
              <a:rPr lang="en-US" dirty="0"/>
              <a:t> using sentence-transformers and FAISS.</a:t>
            </a:r>
          </a:p>
          <a:p>
            <a:r>
              <a:rPr lang="en-US" dirty="0"/>
              <a:t>Next, the </a:t>
            </a:r>
            <a:r>
              <a:rPr lang="en-US" b="1" dirty="0"/>
              <a:t>baselines</a:t>
            </a:r>
            <a:r>
              <a:rPr lang="en-US" dirty="0"/>
              <a:t> — we ran zero-shot and few-shot configurations on 500 questions each. That gave us our first real numbers to compare against.</a:t>
            </a:r>
          </a:p>
          <a:p>
            <a:r>
              <a:rPr lang="en-US" dirty="0"/>
              <a:t>Then we built the full </a:t>
            </a:r>
            <a:r>
              <a:rPr lang="en-US" b="1" dirty="0"/>
              <a:t>RAG pipeline</a:t>
            </a:r>
            <a:r>
              <a:rPr lang="en-US" dirty="0"/>
              <a:t>, integrating the retriever and the generator.</a:t>
            </a:r>
          </a:p>
          <a:p>
            <a:r>
              <a:rPr lang="en-US" dirty="0"/>
              <a:t>For </a:t>
            </a:r>
            <a:r>
              <a:rPr lang="en-US" b="1" dirty="0" err="1"/>
              <a:t>LoRA</a:t>
            </a:r>
            <a:r>
              <a:rPr lang="en-US" b="1" dirty="0"/>
              <a:t> training</a:t>
            </a:r>
            <a:r>
              <a:rPr lang="en-US" dirty="0"/>
              <a:t>, we ran a full epoch on 10,000 examples — the loss dropped from 3.23 to 0.87 in about 30 minutes on an A100 GPU.</a:t>
            </a:r>
          </a:p>
          <a:p>
            <a:r>
              <a:rPr lang="en-US" dirty="0"/>
              <a:t>The </a:t>
            </a:r>
            <a:r>
              <a:rPr lang="en-US" b="1" dirty="0"/>
              <a:t>corpus scaling</a:t>
            </a:r>
            <a:r>
              <a:rPr lang="en-US" dirty="0"/>
              <a:t> step was actually our biggest improvement late in the project. Our initial Wikipedia corpus only had 3,200 passages. We rebuilt it with 525,000 — about 165 times bigger.</a:t>
            </a:r>
          </a:p>
          <a:p>
            <a:r>
              <a:rPr lang="en-US" dirty="0"/>
              <a:t>Finally, the </a:t>
            </a:r>
            <a:r>
              <a:rPr lang="en-US" b="1" dirty="0"/>
              <a:t>evaluation</a:t>
            </a:r>
            <a:r>
              <a:rPr lang="en-US" dirty="0"/>
              <a:t> harness — implementing canonical </a:t>
            </a:r>
            <a:r>
              <a:rPr lang="en-US" dirty="0" err="1"/>
              <a:t>SQuAD</a:t>
            </a:r>
            <a:r>
              <a:rPr lang="en-US" dirty="0"/>
              <a:t>-style metrics so we could compare all four configurations fairly.</a:t>
            </a:r>
          </a:p>
          <a:p>
            <a:endParaRPr lang="en-US" dirty="0"/>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actual training curve from our </a:t>
            </a:r>
            <a:r>
              <a:rPr lang="en-US" dirty="0" err="1"/>
              <a:t>LoRA</a:t>
            </a:r>
            <a:r>
              <a:rPr lang="en-US" dirty="0"/>
              <a:t> run. You can see the loss on the y-axis and the training step number on the x-axis.</a:t>
            </a:r>
          </a:p>
          <a:p>
            <a:r>
              <a:rPr lang="en-US" dirty="0"/>
              <a:t>Look at how it starts. Step 25, the loss is 3.23 — that's the model figuring out what we're asking it to do. Then there's a big drop to about 1.08 by step 50 — that's the model rapidly learning the new format.</a:t>
            </a:r>
          </a:p>
          <a:p>
            <a:r>
              <a:rPr lang="en-US" dirty="0"/>
              <a:t>After that, the loss settles into a smooth gradual decline, and from around step 200 onwards it plateaus at about 0.87. That plateau is normal — it means the model has learned what it can from this amount of data. Training longer wouldn't help much.</a:t>
            </a:r>
          </a:p>
          <a:p>
            <a:r>
              <a:rPr lang="en-US" dirty="0"/>
              <a:t>On the right side, the key statistics: we trained 3.4 million parameters in about 30 minutes on a single A100 GPU. The final adapter file is just 30 megabytes — compare that to the 14 GB Mistral model itself. That's the magic of </a:t>
            </a:r>
            <a:r>
              <a:rPr lang="en-US" dirty="0" err="1"/>
              <a:t>LoRA</a:t>
            </a:r>
            <a:r>
              <a:rPr lang="en-US" dirty="0"/>
              <a:t>.</a:t>
            </a:r>
          </a:p>
          <a:p>
            <a:endParaRPr lang="en-US" dirty="0"/>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really makes the point concrete — let me show you what actually comes out of the model before and after </a:t>
            </a:r>
            <a:r>
              <a:rPr lang="en-US" dirty="0" err="1"/>
              <a:t>LoRA</a:t>
            </a:r>
            <a:r>
              <a:rPr lang="en-US" dirty="0"/>
              <a:t> training.</a:t>
            </a:r>
          </a:p>
          <a:p>
            <a:r>
              <a:rPr lang="en-US" dirty="0"/>
              <a:t>Take the first example: "Who wrote the play Hamlet?" Both versions of the system retrieve the same Wikipedia passages. But look at the difference in output. Without </a:t>
            </a:r>
            <a:r>
              <a:rPr lang="en-US" dirty="0" err="1"/>
              <a:t>LoRA</a:t>
            </a:r>
            <a:r>
              <a:rPr lang="en-US" dirty="0"/>
              <a:t>, the model writes this whole paragraph — "Based on the retrieved passages, particularly from the Hamlet and William Shakespeare articles, Hamlet was written by William Shakespeare during the early 17th century..." It's </a:t>
            </a:r>
            <a:r>
              <a:rPr lang="en-US" i="1" dirty="0"/>
              <a:t>correct</a:t>
            </a:r>
            <a:r>
              <a:rPr lang="en-US" dirty="0"/>
              <a:t>, but it fails our evaluation metric because we're looking for exact match. The answer is "William Shakespeare", not a three-sentence essay.</a:t>
            </a:r>
          </a:p>
          <a:p>
            <a:r>
              <a:rPr lang="en-US" dirty="0"/>
              <a:t>After </a:t>
            </a:r>
            <a:r>
              <a:rPr lang="en-US" dirty="0" err="1"/>
              <a:t>LoRA</a:t>
            </a:r>
            <a:r>
              <a:rPr lang="en-US" dirty="0"/>
              <a:t> training? The model just says: "William Shakespeare." Done. Correct. Full marks.</a:t>
            </a:r>
          </a:p>
          <a:p>
            <a:r>
              <a:rPr lang="en-US" dirty="0"/>
              <a:t>Same thing with "What is the capital of Australia?" — before </a:t>
            </a:r>
            <a:r>
              <a:rPr lang="en-US" dirty="0" err="1"/>
              <a:t>LoRA</a:t>
            </a:r>
            <a:r>
              <a:rPr lang="en-US" dirty="0"/>
              <a:t>, you get a geography lesson about how Canberra was built as a compromise between Sydney and Melbourne. After </a:t>
            </a:r>
            <a:r>
              <a:rPr lang="en-US" dirty="0" err="1"/>
              <a:t>LoRA</a:t>
            </a:r>
            <a:r>
              <a:rPr lang="en-US" dirty="0"/>
              <a:t>, you get "Canberra."</a:t>
            </a:r>
          </a:p>
          <a:p>
            <a:r>
              <a:rPr lang="en-US" dirty="0"/>
              <a:t>And notice that third row — the Alcatraz question. Without </a:t>
            </a:r>
            <a:r>
              <a:rPr lang="en-US" dirty="0" err="1"/>
              <a:t>LoRA</a:t>
            </a:r>
            <a:r>
              <a:rPr lang="en-US" dirty="0"/>
              <a:t>, the model actually </a:t>
            </a:r>
            <a:r>
              <a:rPr lang="en-US" i="1" dirty="0"/>
              <a:t>hedges</a:t>
            </a:r>
            <a:r>
              <a:rPr lang="en-US" dirty="0"/>
              <a:t> and says "the passages don't specifically mention this." That's a failure mode we'll come back to. With </a:t>
            </a:r>
            <a:r>
              <a:rPr lang="en-US" dirty="0" err="1"/>
              <a:t>LoRA</a:t>
            </a:r>
            <a:r>
              <a:rPr lang="en-US" dirty="0"/>
              <a:t>, it correctly outputs "Al Capone."</a:t>
            </a:r>
          </a:p>
          <a:p>
            <a:r>
              <a:rPr lang="en-US" dirty="0"/>
              <a:t>So what's happening here? </a:t>
            </a:r>
            <a:r>
              <a:rPr lang="en-US" dirty="0" err="1"/>
              <a:t>LoRA</a:t>
            </a:r>
            <a:r>
              <a:rPr lang="en-US" dirty="0"/>
              <a:t> is teaching the model a new behavior — it's learning that when you're in this RAG prompt format, you give terse factual answers, not paragraph-length summaries. That's the format alignment effect, and it's why strict exact match jumps from 1.4% to 25.6%.</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Okay, this is the main result of our project. The table shows all four configurations evaluated on the same 500 questions.</a:t>
            </a:r>
          </a:p>
          <a:p>
            <a:r>
              <a:rPr lang="en-US" dirty="0"/>
              <a:t>Two columns to focus on. Strict EM means "exact match" — does the model's answer exactly equal the correct answer? Substring EM is looser — does the correct answer appear anywhere in the model's response?</a:t>
            </a:r>
          </a:p>
          <a:p>
            <a:r>
              <a:rPr lang="en-US" dirty="0"/>
              <a:t>Look at row 3 — RAG without fine-tuning. Strict EM is just 0.014 — basically zero. Why? Because the model produces verbose answers like "According to passage 1, the answer is Canberra." The correct answer is in there, but it doesn't exactly equal "Canberra" as a single word, so strict matching fails.</a:t>
            </a:r>
          </a:p>
          <a:p>
            <a:r>
              <a:rPr lang="en-US" dirty="0"/>
              <a:t>Now look at row 4 — RAG plus </a:t>
            </a:r>
            <a:r>
              <a:rPr lang="en-US" dirty="0" err="1"/>
              <a:t>LoRA</a:t>
            </a:r>
            <a:r>
              <a:rPr lang="en-US" dirty="0"/>
              <a:t>. Strict EM jumps to 0.256. </a:t>
            </a:r>
            <a:r>
              <a:rPr lang="en-US" b="1" dirty="0"/>
              <a:t>That's an 18 times improvement.</a:t>
            </a:r>
            <a:r>
              <a:rPr lang="en-US" dirty="0"/>
              <a:t> Look at the orange callout on the right. Just from adding fine-tuning, we went from a broken system to a working one.</a:t>
            </a:r>
          </a:p>
          <a:p>
            <a:r>
              <a:rPr lang="en-US" dirty="0"/>
              <a:t>On substring EM — the more forgiving metric — RAG plus </a:t>
            </a:r>
            <a:r>
              <a:rPr lang="en-US" dirty="0" err="1"/>
              <a:t>LoRA</a:t>
            </a:r>
            <a:r>
              <a:rPr lang="en-US" dirty="0"/>
              <a:t> hits 0.726. That's basically tied with the strong zero-shot baseline at 0.746. Within 2 percentage points.</a:t>
            </a:r>
          </a:p>
          <a:p>
            <a:r>
              <a:rPr lang="en-US" dirty="0"/>
              <a:t>There's one surprise though, which is that RAG plus </a:t>
            </a:r>
            <a:r>
              <a:rPr lang="en-US" dirty="0" err="1"/>
              <a:t>LoRA</a:t>
            </a:r>
            <a:r>
              <a:rPr lang="en-US" dirty="0"/>
              <a:t> does NOT outright beat the zero-shot baseline. We expected it to, and it didn't. We dug into why — that's the next slide.</a:t>
            </a:r>
          </a:p>
          <a:p>
            <a:endParaRPr lang="en-US" dirty="0"/>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we expected adding retrieval and fine-tuning to clearly beat just asking the model directly. But it didn't. We investigated, and there are two reasons.</a:t>
            </a:r>
          </a:p>
          <a:p>
            <a:r>
              <a:rPr lang="en-US" b="1" dirty="0"/>
              <a:t>First reason:</a:t>
            </a:r>
            <a:r>
              <a:rPr lang="en-US" dirty="0"/>
              <a:t> Mistral-7B was already trained on huge amounts of text, including most of Wikipedia. So a lot of </a:t>
            </a:r>
            <a:r>
              <a:rPr lang="en-US" dirty="0" err="1"/>
              <a:t>TriviaQA's</a:t>
            </a:r>
            <a:r>
              <a:rPr lang="en-US" dirty="0"/>
              <a:t> answers are already memorized inside the model. When we ask "Who wrote Hamlet?", the model already knows it's Shakespeare — it doesn't need retrieval. So zero-shot is actually a really strong baseline on this dataset, stronger than we initially realized.</a:t>
            </a:r>
          </a:p>
          <a:p>
            <a:r>
              <a:rPr lang="en-US" b="1" dirty="0"/>
              <a:t>Second reason:</a:t>
            </a:r>
            <a:r>
              <a:rPr lang="en-US" dirty="0"/>
              <a:t> Even though our corpus has 525,000 passages, that's still only a 50,000-article subset of Wikipedia. </a:t>
            </a:r>
            <a:r>
              <a:rPr lang="en-US" dirty="0" err="1"/>
              <a:t>TriviaQA</a:t>
            </a:r>
            <a:r>
              <a:rPr lang="en-US" dirty="0"/>
              <a:t> covers really obscure trivia — old movies, historical figures, regional facts. A lot of those topics are simply not in our subset. When retrieval misses, the model often hedges and says something like "the passages don't contain this information," which fails evaluation.</a:t>
            </a:r>
          </a:p>
          <a:p>
            <a:r>
              <a:rPr lang="en-US" dirty="0"/>
              <a:t>So the bottleneck isn't the fine-tuning quality — the </a:t>
            </a:r>
            <a:r>
              <a:rPr lang="en-US" dirty="0" err="1"/>
              <a:t>LoRA</a:t>
            </a:r>
            <a:r>
              <a:rPr lang="en-US" dirty="0"/>
              <a:t> part is working great. The bottleneck is corpus coverage. With the full Wikipedia, we'd expect </a:t>
            </a:r>
            <a:r>
              <a:rPr lang="en-US" dirty="0" err="1"/>
              <a:t>RAG+LoRA</a:t>
            </a:r>
            <a:r>
              <a:rPr lang="en-US" dirty="0"/>
              <a:t> to clearly beat the baselines. That's our top recommendation for future work.</a:t>
            </a:r>
          </a:p>
          <a:p>
            <a:endParaRPr lang="en-US" dirty="0"/>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Okay so </a:t>
            </a:r>
            <a:r>
              <a:rPr lang="en-US" dirty="0" err="1"/>
              <a:t>LoRA</a:t>
            </a:r>
            <a:r>
              <a:rPr lang="en-US" dirty="0"/>
              <a:t> dramatically improves things — but </a:t>
            </a:r>
            <a:r>
              <a:rPr lang="en-US" dirty="0" err="1"/>
              <a:t>RAG+LoRA</a:t>
            </a:r>
            <a:r>
              <a:rPr lang="en-US" dirty="0"/>
              <a:t> still doesn't beat the zero-shot baseline overall. So we dug into the failures and found three distinct patterns.</a:t>
            </a:r>
          </a:p>
          <a:p>
            <a:r>
              <a:rPr lang="en-US" dirty="0"/>
              <a:t>The biggest category — about 45% of errors — is what we call Retrieval Miss. This is when our corpus simply doesn't have the right article. Our index has 525,000 passages from 50,000 Wikipedia articles, which sounds like a lot, but </a:t>
            </a:r>
            <a:r>
              <a:rPr lang="en-US" dirty="0" err="1"/>
              <a:t>TriviaQA</a:t>
            </a:r>
            <a:r>
              <a:rPr lang="en-US" dirty="0"/>
              <a:t> covers really deep trivia. Questions about obscure treaties, minor historical events, niche sports records — we just don't have that text. When the retriever can't find relevant context, the model has nothing to work with and it hedges — you see it saying things like "the passages don't mention this." The fix here is straightforward: scale to full Wikipedia, which has about 5.5 million passages.</a:t>
            </a:r>
          </a:p>
          <a:p>
            <a:r>
              <a:rPr lang="en-US" dirty="0"/>
              <a:t>The second category — about 30% — is Format Drift. This is actually more subtle. The answer </a:t>
            </a:r>
            <a:r>
              <a:rPr lang="en-US" i="1" dirty="0"/>
              <a:t>is</a:t>
            </a:r>
            <a:r>
              <a:rPr lang="en-US" dirty="0"/>
              <a:t> in the retrieved passage, but the model still copies a whole phrase instead of extracting just the key fact. So for "Who invented the telephone?" it says "Alexander Graham Bell invented the telephone in 1876" instead of just "Alexander Graham Bell." That extra context causes the strict exact match to fail. Fix: add a stop token so the model stops after the answer, and refine the training data format.</a:t>
            </a:r>
          </a:p>
          <a:p>
            <a:r>
              <a:rPr lang="en-US" dirty="0"/>
              <a:t>The third one — about 25% — is Parametric Override. This is where things get philosophically interesting. The retriever brings back the right passage, the answer is right there, but the model </a:t>
            </a:r>
            <a:r>
              <a:rPr lang="en-US" i="1" dirty="0"/>
              <a:t>ignores</a:t>
            </a:r>
            <a:r>
              <a:rPr lang="en-US" dirty="0"/>
              <a:t> it and relies on something it memorized during pretraining instead. Sometimes that gives the right answer, sometimes it doesn't. This is actually a known problem in the RAG literature — large models that were trained on Wikipedia don't always trust retrieved text over their own memory. The fix is more instruction tuning specifically telling the model to prioritize the context it's given.</a:t>
            </a:r>
          </a:p>
          <a:p>
            <a:r>
              <a:rPr lang="en-US" dirty="0"/>
              <a:t>What this analysis tells us is these aren't random errors — they're structural problems with specific solutions. Which makes them fixable with more time and resources.</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big takeaways from this project.</a:t>
            </a:r>
          </a:p>
          <a:p>
            <a:r>
              <a:rPr lang="en-US" b="1" dirty="0"/>
              <a:t>One: </a:t>
            </a:r>
            <a:r>
              <a:rPr lang="en-US" b="1" dirty="0" err="1"/>
              <a:t>LoRA</a:t>
            </a:r>
            <a:r>
              <a:rPr lang="en-US" b="1" dirty="0"/>
              <a:t> fine-tuning rescues RAG.</a:t>
            </a:r>
            <a:r>
              <a:rPr lang="en-US" dirty="0"/>
              <a:t> Without fine-tuning, RAG looked like a complete failure on strict EM — just 1.4%. With </a:t>
            </a:r>
            <a:r>
              <a:rPr lang="en-US" dirty="0" err="1"/>
              <a:t>LoRA</a:t>
            </a:r>
            <a:r>
              <a:rPr lang="en-US" dirty="0"/>
              <a:t>, it jumped to 25.6%. That's not a small improvement — that's the difference between a broken system and a working one.</a:t>
            </a:r>
          </a:p>
          <a:p>
            <a:r>
              <a:rPr lang="en-US" b="1" dirty="0"/>
              <a:t>Two: Format mismatch is a real, fixable problem.</a:t>
            </a:r>
            <a:r>
              <a:rPr lang="en-US" dirty="0"/>
              <a:t> Off-the-shelf RAG models tend to produce wordy, citation-heavy answers. Fine-tuning teaches them to give clean, direct answers. We saw this both in the numbers and qualitatively.</a:t>
            </a:r>
          </a:p>
          <a:p>
            <a:r>
              <a:rPr lang="en-US" b="1" dirty="0"/>
              <a:t>Three: RAG is corpus-bound.</a:t>
            </a:r>
            <a:r>
              <a:rPr lang="en-US" dirty="0"/>
              <a:t> When the model already knows something from pretraining, retrieval doesn't help. When the model doesn't know, retrieval only helps if the answer is actually in your corpus. So having a comprehensive knowledge base is critical — it's not enough to just have any knowledge base.</a:t>
            </a:r>
          </a:p>
          <a:p>
            <a:r>
              <a:rPr lang="en-US" b="1" dirty="0"/>
              <a:t>Four: Modular pipelines work.</a:t>
            </a:r>
            <a:r>
              <a:rPr lang="en-US" dirty="0"/>
              <a:t> We kept the retriever, generator, and adapter as separate components. Mid-project, we swapped our Wikipedia corpus from 3,200 passages to 525,000 — and we didn't have to retrain any </a:t>
            </a:r>
            <a:r>
              <a:rPr lang="en-US" dirty="0" err="1"/>
              <a:t>LoRA</a:t>
            </a:r>
            <a:r>
              <a:rPr lang="en-US" dirty="0"/>
              <a:t>. The pieces just plug together. That's a real engineering win that lets you iterate quickly.</a:t>
            </a:r>
          </a:p>
          <a:p>
            <a:endParaRPr lang="en-US" dirty="0"/>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want to be honest about what we didn't do, and what we'd do next.</a:t>
            </a:r>
          </a:p>
          <a:p>
            <a:r>
              <a:rPr lang="en-US" b="1" dirty="0"/>
              <a:t>Limitations:</a:t>
            </a:r>
            <a:r>
              <a:rPr lang="en-US" dirty="0"/>
              <a:t> Our corpus is a subset of Wikipedia, not the full thing. Our evaluation set is 500 questions, which is meaningful but narrow. We only used greedy decoding — no exploration of beam search or sampling. We didn't try stop tokens to control output length, which might have helped RAG. And we used standard </a:t>
            </a:r>
            <a:r>
              <a:rPr lang="en-US" dirty="0" err="1"/>
              <a:t>LoRA</a:t>
            </a:r>
            <a:r>
              <a:rPr lang="en-US" dirty="0"/>
              <a:t> hyperparameters without tuning them.</a:t>
            </a:r>
          </a:p>
          <a:p>
            <a:r>
              <a:rPr lang="en-US" b="1" dirty="0"/>
              <a:t>Future work:</a:t>
            </a:r>
            <a:r>
              <a:rPr lang="en-US" dirty="0"/>
              <a:t> Top priority would be scaling to full Wikipedia — over 5 million passages. That alone would probably change all the numbers. Second, swapping in the original DPR retriever from the literature, which was specifically trained for question answering. Third, doing a hyperparameter sweep on </a:t>
            </a:r>
            <a:r>
              <a:rPr lang="en-US" dirty="0" err="1"/>
              <a:t>LoRA</a:t>
            </a:r>
            <a:r>
              <a:rPr lang="en-US" dirty="0"/>
              <a:t> — different ranks, different target modules. Fourth, adding stop tokens to control verbose output. Fifth, doing a detailed per-question failure analysis to separate retrieval failures from generation failures.</a:t>
            </a:r>
          </a:p>
          <a:p>
            <a:r>
              <a:rPr lang="en-US" dirty="0"/>
              <a:t>Each of these would be one to a few days of additional work, and any one of them might meaningfully improve the numbers.</a:t>
            </a:r>
          </a:p>
          <a:p>
            <a:endParaRPr lang="en-US" dirty="0"/>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all for listening. We're happy to take questions.</a:t>
            </a:r>
          </a:p>
          <a:p>
            <a:r>
              <a:rPr lang="en-US" dirty="0"/>
              <a:t>Just to wrap up — in our project, we showed that fine-tuning a language model with </a:t>
            </a:r>
            <a:r>
              <a:rPr lang="en-US" dirty="0" err="1"/>
              <a:t>LoRA</a:t>
            </a:r>
            <a:r>
              <a:rPr lang="en-US" dirty="0"/>
              <a:t> is essential for retrieval-augmented systems to work properly, that format mismatch is a real and fixable problem, and that corpus scale is the next frontier. The 18x improvement from fine-tuning was our biggest finding.</a:t>
            </a:r>
          </a:p>
          <a:p>
            <a:r>
              <a:rPr lang="en-US" dirty="0"/>
              <a:t>We'd like to thank the authors of the key papers we built on — Lewis et al. for RAG, Hu et al. for </a:t>
            </a:r>
            <a:r>
              <a:rPr lang="en-US" dirty="0" err="1"/>
              <a:t>LoRA</a:t>
            </a:r>
            <a:r>
              <a:rPr lang="en-US" dirty="0"/>
              <a:t>, and the Mistral team for the open-source model. And as noted at the bottom, we used Claude as an AI assistant for project planning, debugging, and report drafting, per our course's tool-use policy.</a:t>
            </a:r>
          </a:p>
          <a:p>
            <a:r>
              <a:rPr lang="en-US" dirty="0"/>
              <a:t>Happy to take any questions.</a:t>
            </a:r>
          </a:p>
          <a:p>
            <a:endParaRPr lang="en-US"/>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8.png"/><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9.png"/><Relationship Id="rId4" Type="http://schemas.openxmlformats.org/officeDocument/2006/relationships/image" Target="../media/image5.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3E"/>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alphaModFix amt="70000"/>
          </a:blip>
          <a:stretch>
            <a:fillRect/>
          </a:stretch>
        </p:blipFill>
        <p:spPr>
          <a:xfrm>
            <a:off x="7863840" y="228600"/>
            <a:ext cx="457200" cy="457200"/>
          </a:xfrm>
          <a:prstGeom prst="rect">
            <a:avLst/>
          </a:prstGeom>
        </p:spPr>
      </p:pic>
      <p:pic>
        <p:nvPicPr>
          <p:cNvPr id="3" name="Image 1" descr="preencoded.png"/>
          <p:cNvPicPr>
            <a:picLocks noChangeAspect="1"/>
          </p:cNvPicPr>
          <p:nvPr/>
        </p:nvPicPr>
        <p:blipFill>
          <a:blip r:embed="rId3">
            <a:alphaModFix amt="50000"/>
          </a:blip>
          <a:stretch>
            <a:fillRect/>
          </a:stretch>
        </p:blipFill>
        <p:spPr>
          <a:xfrm>
            <a:off x="8229600" y="502920"/>
            <a:ext cx="320040" cy="320040"/>
          </a:xfrm>
          <a:prstGeom prst="rect">
            <a:avLst/>
          </a:prstGeom>
        </p:spPr>
      </p:pic>
      <p:pic>
        <p:nvPicPr>
          <p:cNvPr id="4" name="Image 2" descr="preencoded.png"/>
          <p:cNvPicPr>
            <a:picLocks noChangeAspect="1"/>
          </p:cNvPicPr>
          <p:nvPr/>
        </p:nvPicPr>
        <p:blipFill>
          <a:blip r:embed="rId3">
            <a:alphaModFix amt="40000"/>
          </a:blip>
          <a:stretch>
            <a:fillRect/>
          </a:stretch>
        </p:blipFill>
        <p:spPr>
          <a:xfrm>
            <a:off x="8458200" y="164592"/>
            <a:ext cx="228600" cy="228600"/>
          </a:xfrm>
          <a:prstGeom prst="rect">
            <a:avLst/>
          </a:prstGeom>
        </p:spPr>
      </p:pic>
      <p:sp>
        <p:nvSpPr>
          <p:cNvPr id="5" name="Text 0"/>
          <p:cNvSpPr/>
          <p:nvPr/>
        </p:nvSpPr>
        <p:spPr>
          <a:xfrm>
            <a:off x="457200" y="365760"/>
            <a:ext cx="7772400" cy="320040"/>
          </a:xfrm>
          <a:prstGeom prst="rect">
            <a:avLst/>
          </a:prstGeom>
          <a:noFill/>
          <a:ln/>
        </p:spPr>
        <p:txBody>
          <a:bodyPr wrap="square" rtlCol="0" anchor="ctr"/>
          <a:lstStyle/>
          <a:p>
            <a:pPr marL="0" indent="0">
              <a:buNone/>
            </a:pPr>
            <a:r>
              <a:rPr lang="en-US" sz="900" b="1" kern="0" spc="100" dirty="0">
                <a:solidFill>
                  <a:srgbClr val="5A8AB0"/>
                </a:solidFill>
              </a:rPr>
              <a:t>D A T A  6 1 2  ·  D E E P  L E A R N I N G  ·  G R O U P  P R O J E C T</a:t>
            </a:r>
            <a:endParaRPr lang="en-US" sz="900" dirty="0"/>
          </a:p>
        </p:txBody>
      </p:sp>
      <p:sp>
        <p:nvSpPr>
          <p:cNvPr id="6" name="Text 1"/>
          <p:cNvSpPr/>
          <p:nvPr/>
        </p:nvSpPr>
        <p:spPr>
          <a:xfrm>
            <a:off x="457200" y="960120"/>
            <a:ext cx="8046720" cy="2194560"/>
          </a:xfrm>
          <a:prstGeom prst="rect">
            <a:avLst/>
          </a:prstGeom>
          <a:noFill/>
          <a:ln/>
        </p:spPr>
        <p:txBody>
          <a:bodyPr wrap="square" rtlCol="0" anchor="ctr"/>
          <a:lstStyle/>
          <a:p>
            <a:pPr marL="0" indent="0" algn="l">
              <a:buNone/>
            </a:pPr>
            <a:r>
              <a:rPr lang="en-US" sz="3800" b="1" dirty="0">
                <a:solidFill>
                  <a:srgbClr val="FFFFFF"/>
                </a:solidFill>
                <a:latin typeface="Calibri" pitchFamily="34" charset="0"/>
                <a:ea typeface="Calibri" pitchFamily="34" charset="-122"/>
                <a:cs typeface="Calibri" pitchFamily="34" charset="-120"/>
              </a:rPr>
              <a:t>Enhancing Open-Domain QA via
Retrieval-Augmented Generation
</a:t>
            </a:r>
            <a:r>
              <a:rPr lang="en-US" sz="3800" b="1" i="1" dirty="0">
                <a:solidFill>
                  <a:srgbClr val="E8842A"/>
                </a:solidFill>
                <a:latin typeface="Calibri" pitchFamily="34" charset="0"/>
                <a:ea typeface="Calibri" pitchFamily="34" charset="-122"/>
                <a:cs typeface="Calibri" pitchFamily="34" charset="-120"/>
              </a:rPr>
              <a:t>with LoRA Fine-Tuning</a:t>
            </a:r>
            <a:endParaRPr lang="en-US" sz="3800" dirty="0"/>
          </a:p>
        </p:txBody>
      </p:sp>
      <p:sp>
        <p:nvSpPr>
          <p:cNvPr id="7" name="Shape 2"/>
          <p:cNvSpPr/>
          <p:nvPr/>
        </p:nvSpPr>
        <p:spPr>
          <a:xfrm>
            <a:off x="457200" y="3246120"/>
            <a:ext cx="2560320" cy="45720"/>
          </a:xfrm>
          <a:prstGeom prst="rect">
            <a:avLst/>
          </a:prstGeom>
          <a:solidFill>
            <a:srgbClr val="E8842A"/>
          </a:solidFill>
          <a:ln w="12700">
            <a:solidFill>
              <a:srgbClr val="E8842A"/>
            </a:solidFill>
            <a:prstDash val="solid"/>
          </a:ln>
        </p:spPr>
        <p:txBody>
          <a:bodyPr/>
          <a:lstStyle/>
          <a:p>
            <a:endParaRPr lang="en-US"/>
          </a:p>
        </p:txBody>
      </p:sp>
      <p:sp>
        <p:nvSpPr>
          <p:cNvPr id="8" name="Text 3"/>
          <p:cNvSpPr/>
          <p:nvPr/>
        </p:nvSpPr>
        <p:spPr>
          <a:xfrm>
            <a:off x="457200" y="3429000"/>
            <a:ext cx="8229600" cy="320040"/>
          </a:xfrm>
          <a:prstGeom prst="rect">
            <a:avLst/>
          </a:prstGeom>
          <a:noFill/>
          <a:ln/>
        </p:spPr>
        <p:txBody>
          <a:bodyPr wrap="square" rtlCol="0" anchor="ctr"/>
          <a:lstStyle/>
          <a:p>
            <a:pPr marL="0" indent="0" algn="l">
              <a:buNone/>
            </a:pPr>
            <a:r>
              <a:rPr lang="en-US" sz="1300" dirty="0">
                <a:solidFill>
                  <a:srgbClr val="B0C8E0"/>
                </a:solidFill>
              </a:rPr>
              <a:t>Shruti Gajipara · Mayur Sangle · Satyam Kale · Parth Maheshwari · Adwait Gaur</a:t>
            </a:r>
            <a:endParaRPr lang="en-US" sz="1300" dirty="0"/>
          </a:p>
        </p:txBody>
      </p:sp>
      <p:sp>
        <p:nvSpPr>
          <p:cNvPr id="9" name="Text 4"/>
          <p:cNvSpPr/>
          <p:nvPr/>
        </p:nvSpPr>
        <p:spPr>
          <a:xfrm>
            <a:off x="457200" y="3794760"/>
            <a:ext cx="8229600" cy="274320"/>
          </a:xfrm>
          <a:prstGeom prst="rect">
            <a:avLst/>
          </a:prstGeom>
          <a:noFill/>
          <a:ln/>
        </p:spPr>
        <p:txBody>
          <a:bodyPr wrap="square" rtlCol="0" anchor="ctr"/>
          <a:lstStyle/>
          <a:p>
            <a:pPr marL="0" indent="0" algn="l">
              <a:buNone/>
            </a:pPr>
            <a:r>
              <a:rPr lang="en-US" sz="1200" i="1" dirty="0">
                <a:solidFill>
                  <a:srgbClr val="7A9CC0"/>
                </a:solidFill>
              </a:rPr>
              <a:t>Final Presentation · Spring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164592"/>
            <a:ext cx="8229600" cy="256032"/>
          </a:xfrm>
          <a:prstGeom prst="rect">
            <a:avLst/>
          </a:prstGeom>
          <a:noFill/>
          <a:ln/>
        </p:spPr>
        <p:txBody>
          <a:bodyPr wrap="square" rtlCol="0" anchor="ctr"/>
          <a:lstStyle/>
          <a:p>
            <a:pPr marL="0" indent="0" algn="l">
              <a:buNone/>
            </a:pPr>
            <a:r>
              <a:rPr lang="en-US" sz="900" b="1" kern="0" spc="300" dirty="0">
                <a:solidFill>
                  <a:srgbClr val="2E8BAE"/>
                </a:solidFill>
              </a:rPr>
              <a:t>M O T I V A T I O N</a:t>
            </a:r>
            <a:endParaRPr lang="en-US" sz="900" dirty="0"/>
          </a:p>
        </p:txBody>
      </p:sp>
      <p:sp>
        <p:nvSpPr>
          <p:cNvPr id="3" name="Text 1"/>
          <p:cNvSpPr/>
          <p:nvPr/>
        </p:nvSpPr>
        <p:spPr>
          <a:xfrm>
            <a:off x="7863840" y="164592"/>
            <a:ext cx="1097280" cy="256032"/>
          </a:xfrm>
          <a:prstGeom prst="rect">
            <a:avLst/>
          </a:prstGeom>
          <a:noFill/>
          <a:ln/>
        </p:spPr>
        <p:txBody>
          <a:bodyPr wrap="square" rtlCol="0" anchor="ctr"/>
          <a:lstStyle/>
          <a:p>
            <a:pPr marL="0" indent="0" algn="r">
              <a:buNone/>
            </a:pPr>
            <a:r>
              <a:rPr lang="en-US" sz="900" dirty="0">
                <a:solidFill>
                  <a:srgbClr val="5A7080"/>
                </a:solidFill>
              </a:rPr>
              <a:t>2 / 17</a:t>
            </a:r>
            <a:endParaRPr lang="en-US" sz="900" dirty="0"/>
          </a:p>
        </p:txBody>
      </p:sp>
      <p:sp>
        <p:nvSpPr>
          <p:cNvPr id="4" name="Text 2"/>
          <p:cNvSpPr/>
          <p:nvPr/>
        </p:nvSpPr>
        <p:spPr>
          <a:xfrm>
            <a:off x="457200" y="502920"/>
            <a:ext cx="8229600" cy="777240"/>
          </a:xfrm>
          <a:prstGeom prst="rect">
            <a:avLst/>
          </a:prstGeom>
          <a:noFill/>
          <a:ln/>
        </p:spPr>
        <p:txBody>
          <a:bodyPr wrap="square" rtlCol="0" anchor="ctr"/>
          <a:lstStyle/>
          <a:p>
            <a:pPr marL="0" indent="0" algn="l">
              <a:buNone/>
            </a:pPr>
            <a:r>
              <a:rPr lang="en-US" sz="3000" b="1" dirty="0">
                <a:solidFill>
                  <a:srgbClr val="0D2B5E"/>
                </a:solidFill>
                <a:latin typeface="Calibri" pitchFamily="34" charset="0"/>
                <a:ea typeface="Calibri" pitchFamily="34" charset="-122"/>
                <a:cs typeface="Calibri" pitchFamily="34" charset="-120"/>
              </a:rPr>
              <a:t>LLMs are fluent — but they hallucinate.</a:t>
            </a:r>
            <a:endParaRPr lang="en-US" sz="3000" dirty="0"/>
          </a:p>
        </p:txBody>
      </p:sp>
      <p:sp>
        <p:nvSpPr>
          <p:cNvPr id="5" name="Shape 3"/>
          <p:cNvSpPr/>
          <p:nvPr/>
        </p:nvSpPr>
        <p:spPr>
          <a:xfrm>
            <a:off x="457200" y="1417320"/>
            <a:ext cx="3931920" cy="3200400"/>
          </a:xfrm>
          <a:prstGeom prst="rect">
            <a:avLst/>
          </a:prstGeom>
          <a:solidFill>
            <a:srgbClr val="EEF3F8"/>
          </a:solidFill>
          <a:ln w="9525">
            <a:solidFill>
              <a:srgbClr val="D0DCE8"/>
            </a:solidFill>
            <a:prstDash val="solid"/>
          </a:ln>
        </p:spPr>
        <p:txBody>
          <a:bodyPr/>
          <a:lstStyle/>
          <a:p>
            <a:endParaRPr lang="en-US"/>
          </a:p>
        </p:txBody>
      </p:sp>
      <p:sp>
        <p:nvSpPr>
          <p:cNvPr id="6" name="Text 4"/>
          <p:cNvSpPr/>
          <p:nvPr/>
        </p:nvSpPr>
        <p:spPr>
          <a:xfrm>
            <a:off x="594360" y="1554480"/>
            <a:ext cx="3657600" cy="594360"/>
          </a:xfrm>
          <a:prstGeom prst="rect">
            <a:avLst/>
          </a:prstGeom>
          <a:noFill/>
          <a:ln/>
        </p:spPr>
        <p:txBody>
          <a:bodyPr wrap="square" rtlCol="0" anchor="ctr"/>
          <a:lstStyle/>
          <a:p>
            <a:pPr marL="0" indent="0" algn="l">
              <a:buNone/>
            </a:pPr>
            <a:r>
              <a:rPr lang="en-US" sz="1150" b="1" dirty="0">
                <a:solidFill>
                  <a:srgbClr val="0D2B5E"/>
                </a:solidFill>
              </a:rPr>
              <a:t>Q: Which US gangster was released from Alcatraz in November 1939?</a:t>
            </a:r>
            <a:endParaRPr lang="en-US" sz="1150" dirty="0"/>
          </a:p>
        </p:txBody>
      </p:sp>
      <p:sp>
        <p:nvSpPr>
          <p:cNvPr id="7" name="Text 5"/>
          <p:cNvSpPr/>
          <p:nvPr/>
        </p:nvSpPr>
        <p:spPr>
          <a:xfrm>
            <a:off x="594360" y="2240280"/>
            <a:ext cx="3657600" cy="228600"/>
          </a:xfrm>
          <a:prstGeom prst="rect">
            <a:avLst/>
          </a:prstGeom>
          <a:noFill/>
          <a:ln/>
        </p:spPr>
        <p:txBody>
          <a:bodyPr wrap="square" rtlCol="0" anchor="ctr"/>
          <a:lstStyle/>
          <a:p>
            <a:pPr marL="0" indent="0">
              <a:buNone/>
            </a:pPr>
            <a:r>
              <a:rPr lang="en-US" sz="1000" i="1" dirty="0">
                <a:solidFill>
                  <a:srgbClr val="5A7080"/>
                </a:solidFill>
              </a:rPr>
              <a:t>Mistral-7B says:</a:t>
            </a:r>
            <a:endParaRPr lang="en-US" sz="1000" dirty="0"/>
          </a:p>
        </p:txBody>
      </p:sp>
      <p:sp>
        <p:nvSpPr>
          <p:cNvPr id="8" name="Text 6"/>
          <p:cNvSpPr/>
          <p:nvPr/>
        </p:nvSpPr>
        <p:spPr>
          <a:xfrm>
            <a:off x="594360" y="2487168"/>
            <a:ext cx="3657600" cy="640080"/>
          </a:xfrm>
          <a:prstGeom prst="rect">
            <a:avLst/>
          </a:prstGeom>
          <a:noFill/>
          <a:ln/>
        </p:spPr>
        <p:txBody>
          <a:bodyPr wrap="square" rtlCol="0" anchor="ctr"/>
          <a:lstStyle/>
          <a:p>
            <a:pPr marL="0" indent="0">
              <a:buNone/>
            </a:pPr>
            <a:r>
              <a:rPr lang="en-US" sz="1100" b="1" i="1" dirty="0">
                <a:solidFill>
                  <a:srgbClr val="C0392B"/>
                </a:solidFill>
              </a:rPr>
              <a:t>"Robert Stroud, the Birdman of</a:t>
            </a:r>
            <a:endParaRPr lang="en-US" sz="1100" dirty="0"/>
          </a:p>
          <a:p>
            <a:pPr marL="0" indent="0">
              <a:buNone/>
            </a:pPr>
            <a:r>
              <a:rPr lang="en-US" sz="1100" b="1" i="1" dirty="0">
                <a:solidFill>
                  <a:srgbClr val="C0392B"/>
                </a:solidFill>
              </a:rPr>
              <a:t>Alcatraz, was released in 1939…"</a:t>
            </a:r>
            <a:endParaRPr lang="en-US" sz="1100" dirty="0"/>
          </a:p>
        </p:txBody>
      </p:sp>
      <p:sp>
        <p:nvSpPr>
          <p:cNvPr id="9" name="Text 7"/>
          <p:cNvSpPr/>
          <p:nvPr/>
        </p:nvSpPr>
        <p:spPr>
          <a:xfrm>
            <a:off x="594360" y="3218688"/>
            <a:ext cx="3657600" cy="228600"/>
          </a:xfrm>
          <a:prstGeom prst="rect">
            <a:avLst/>
          </a:prstGeom>
          <a:noFill/>
          <a:ln/>
        </p:spPr>
        <p:txBody>
          <a:bodyPr wrap="square" rtlCol="0" anchor="ctr"/>
          <a:lstStyle/>
          <a:p>
            <a:pPr marL="0" indent="0">
              <a:buNone/>
            </a:pPr>
            <a:r>
              <a:rPr lang="en-US" sz="1000" i="1" dirty="0">
                <a:solidFill>
                  <a:srgbClr val="5A7080"/>
                </a:solidFill>
              </a:rPr>
              <a:t>Correct answer:</a:t>
            </a:r>
            <a:endParaRPr lang="en-US" sz="1000" dirty="0"/>
          </a:p>
        </p:txBody>
      </p:sp>
      <p:sp>
        <p:nvSpPr>
          <p:cNvPr id="10" name="Text 8"/>
          <p:cNvSpPr/>
          <p:nvPr/>
        </p:nvSpPr>
        <p:spPr>
          <a:xfrm>
            <a:off x="594360" y="3474720"/>
            <a:ext cx="3657600" cy="411480"/>
          </a:xfrm>
          <a:prstGeom prst="rect">
            <a:avLst/>
          </a:prstGeom>
          <a:noFill/>
          <a:ln/>
        </p:spPr>
        <p:txBody>
          <a:bodyPr wrap="square" rtlCol="0" anchor="ctr"/>
          <a:lstStyle/>
          <a:p>
            <a:pPr marL="0" indent="0">
              <a:buNone/>
            </a:pPr>
            <a:r>
              <a:rPr lang="en-US" sz="1800" b="1" dirty="0">
                <a:solidFill>
                  <a:srgbClr val="2E9E6B"/>
                </a:solidFill>
              </a:rPr>
              <a:t>Al Capone</a:t>
            </a:r>
            <a:endParaRPr lang="en-US" sz="1800" dirty="0"/>
          </a:p>
        </p:txBody>
      </p:sp>
      <p:sp>
        <p:nvSpPr>
          <p:cNvPr id="11" name="Shape 9"/>
          <p:cNvSpPr/>
          <p:nvPr/>
        </p:nvSpPr>
        <p:spPr>
          <a:xfrm>
            <a:off x="4526280" y="2468880"/>
            <a:ext cx="594360" cy="548640"/>
          </a:xfrm>
          <a:prstGeom prst="rightArrow">
            <a:avLst/>
          </a:prstGeom>
          <a:solidFill>
            <a:srgbClr val="E8842A"/>
          </a:solidFill>
          <a:ln w="12700">
            <a:solidFill>
              <a:srgbClr val="E8842A"/>
            </a:solidFill>
            <a:prstDash val="solid"/>
          </a:ln>
        </p:spPr>
        <p:txBody>
          <a:bodyPr/>
          <a:lstStyle/>
          <a:p>
            <a:endParaRPr lang="en-US"/>
          </a:p>
        </p:txBody>
      </p:sp>
      <p:sp>
        <p:nvSpPr>
          <p:cNvPr id="12" name="Text 10"/>
          <p:cNvSpPr/>
          <p:nvPr/>
        </p:nvSpPr>
        <p:spPr>
          <a:xfrm>
            <a:off x="5257800" y="1417320"/>
            <a:ext cx="3657600" cy="640080"/>
          </a:xfrm>
          <a:prstGeom prst="rect">
            <a:avLst/>
          </a:prstGeom>
          <a:noFill/>
          <a:ln/>
        </p:spPr>
        <p:txBody>
          <a:bodyPr wrap="square" rtlCol="0" anchor="ctr"/>
          <a:lstStyle/>
          <a:p>
            <a:pPr marL="0" indent="0" algn="l">
              <a:buNone/>
            </a:pPr>
            <a:r>
              <a:rPr lang="en-US" sz="1400" b="1" dirty="0">
                <a:solidFill>
                  <a:srgbClr val="1A6B8A"/>
                </a:solidFill>
              </a:rPr>
              <a:t>The Fix: Ground generation in retrieved documents</a:t>
            </a:r>
            <a:endParaRPr lang="en-US" sz="1400" dirty="0"/>
          </a:p>
        </p:txBody>
      </p:sp>
      <p:sp>
        <p:nvSpPr>
          <p:cNvPr id="13" name="Text 11"/>
          <p:cNvSpPr/>
          <p:nvPr/>
        </p:nvSpPr>
        <p:spPr>
          <a:xfrm>
            <a:off x="5257800" y="2148840"/>
            <a:ext cx="3657600" cy="2194560"/>
          </a:xfrm>
          <a:prstGeom prst="rect">
            <a:avLst/>
          </a:prstGeom>
          <a:noFill/>
          <a:ln/>
        </p:spPr>
        <p:txBody>
          <a:bodyPr wrap="square" rtlCol="0" anchor="ctr"/>
          <a:lstStyle/>
          <a:p>
            <a:pPr marL="342900" indent="-342900" algn="l">
              <a:buSzPct val="100000"/>
              <a:buChar char="•"/>
            </a:pPr>
            <a:r>
              <a:rPr lang="en-US" sz="1200" dirty="0">
                <a:solidFill>
                  <a:srgbClr val="2C3E50"/>
                </a:solidFill>
              </a:rPr>
              <a:t>Hallucination is a critical issue in knowledge-intensive tasks</a:t>
            </a:r>
            <a:endParaRPr lang="en-US" sz="1200" dirty="0"/>
          </a:p>
          <a:p>
            <a:pPr marL="342900" indent="-342900" algn="l">
              <a:buSzPct val="100000"/>
              <a:buChar char="•"/>
            </a:pPr>
            <a:r>
              <a:rPr lang="en-US" sz="1200" dirty="0">
                <a:solidFill>
                  <a:srgbClr val="2C3E50"/>
                </a:solidFill>
              </a:rPr>
              <a:t>Retrieval-Augmented Generation (RAG) conditions answers on source material</a:t>
            </a:r>
            <a:endParaRPr lang="en-US" sz="1200" dirty="0"/>
          </a:p>
          <a:p>
            <a:pPr marL="342900" indent="-342900" algn="l">
              <a:buSzPct val="100000"/>
              <a:buChar char="•"/>
            </a:pPr>
            <a:r>
              <a:rPr lang="en-US" sz="1200" b="1" dirty="0">
                <a:solidFill>
                  <a:srgbClr val="0D2B5E"/>
                </a:solidFill>
              </a:rPr>
              <a:t>But: Can we do better than just plugging in an off-the-shelf LLM?</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164592"/>
            <a:ext cx="8229600" cy="256032"/>
          </a:xfrm>
          <a:prstGeom prst="rect">
            <a:avLst/>
          </a:prstGeom>
          <a:noFill/>
          <a:ln/>
        </p:spPr>
        <p:txBody>
          <a:bodyPr wrap="square" rtlCol="0" anchor="ctr"/>
          <a:lstStyle/>
          <a:p>
            <a:pPr marL="0" indent="0" algn="l">
              <a:buNone/>
            </a:pPr>
            <a:r>
              <a:rPr lang="en-US" sz="900" b="1" kern="0" spc="300" dirty="0">
                <a:solidFill>
                  <a:srgbClr val="2E8BAE"/>
                </a:solidFill>
              </a:rPr>
              <a:t>R E S E A R C H  D E S I G N</a:t>
            </a:r>
            <a:endParaRPr lang="en-US" sz="900" dirty="0"/>
          </a:p>
        </p:txBody>
      </p:sp>
      <p:sp>
        <p:nvSpPr>
          <p:cNvPr id="3" name="Text 1"/>
          <p:cNvSpPr/>
          <p:nvPr/>
        </p:nvSpPr>
        <p:spPr>
          <a:xfrm>
            <a:off x="7863840" y="164592"/>
            <a:ext cx="1097280" cy="256032"/>
          </a:xfrm>
          <a:prstGeom prst="rect">
            <a:avLst/>
          </a:prstGeom>
          <a:noFill/>
          <a:ln/>
        </p:spPr>
        <p:txBody>
          <a:bodyPr wrap="square" rtlCol="0" anchor="ctr"/>
          <a:lstStyle/>
          <a:p>
            <a:pPr marL="0" indent="0" algn="r">
              <a:buNone/>
            </a:pPr>
            <a:r>
              <a:rPr lang="en-US" sz="900" dirty="0">
                <a:solidFill>
                  <a:srgbClr val="5A7080"/>
                </a:solidFill>
              </a:rPr>
              <a:t>3 / 17</a:t>
            </a:r>
            <a:endParaRPr lang="en-US" sz="900" dirty="0"/>
          </a:p>
        </p:txBody>
      </p:sp>
      <p:sp>
        <p:nvSpPr>
          <p:cNvPr id="4" name="Text 2"/>
          <p:cNvSpPr/>
          <p:nvPr/>
        </p:nvSpPr>
        <p:spPr>
          <a:xfrm>
            <a:off x="457200" y="502920"/>
            <a:ext cx="8229600" cy="777240"/>
          </a:xfrm>
          <a:prstGeom prst="rect">
            <a:avLst/>
          </a:prstGeom>
          <a:noFill/>
          <a:ln/>
        </p:spPr>
        <p:txBody>
          <a:bodyPr wrap="square" rtlCol="0" anchor="ctr"/>
          <a:lstStyle/>
          <a:p>
            <a:pPr marL="0" indent="0" algn="l">
              <a:buNone/>
            </a:pPr>
            <a:r>
              <a:rPr lang="en-US" sz="3000" b="1" dirty="0">
                <a:solidFill>
                  <a:srgbClr val="0D2B5E"/>
                </a:solidFill>
                <a:latin typeface="Calibri" pitchFamily="34" charset="0"/>
                <a:ea typeface="Calibri" pitchFamily="34" charset="-122"/>
                <a:cs typeface="Calibri" pitchFamily="34" charset="-120"/>
              </a:rPr>
              <a:t>Does fine-tuning help RAG? A 4-way comparison.</a:t>
            </a:r>
            <a:endParaRPr lang="en-US" sz="3000" dirty="0"/>
          </a:p>
        </p:txBody>
      </p:sp>
      <p:sp>
        <p:nvSpPr>
          <p:cNvPr id="5" name="Text 3"/>
          <p:cNvSpPr/>
          <p:nvPr/>
        </p:nvSpPr>
        <p:spPr>
          <a:xfrm>
            <a:off x="457200" y="1371600"/>
            <a:ext cx="8229600" cy="320040"/>
          </a:xfrm>
          <a:prstGeom prst="rect">
            <a:avLst/>
          </a:prstGeom>
          <a:noFill/>
          <a:ln/>
        </p:spPr>
        <p:txBody>
          <a:bodyPr wrap="square" rtlCol="0" anchor="ctr"/>
          <a:lstStyle/>
          <a:p>
            <a:pPr marL="0" indent="0">
              <a:buNone/>
            </a:pPr>
            <a:r>
              <a:rPr lang="en-US" sz="1200" i="1" dirty="0">
                <a:solidFill>
                  <a:srgbClr val="5A7080"/>
                </a:solidFill>
              </a:rPr>
              <a:t>Does LoRA fine-tuning of the generator improve RAG-based QA accuracy?</a:t>
            </a:r>
            <a:endParaRPr lang="en-US" sz="1200" dirty="0"/>
          </a:p>
        </p:txBody>
      </p:sp>
      <p:sp>
        <p:nvSpPr>
          <p:cNvPr id="6" name="Shape 4"/>
          <p:cNvSpPr/>
          <p:nvPr/>
        </p:nvSpPr>
        <p:spPr>
          <a:xfrm>
            <a:off x="411480" y="1783080"/>
            <a:ext cx="1920240" cy="2560320"/>
          </a:xfrm>
          <a:prstGeom prst="rect">
            <a:avLst/>
          </a:prstGeom>
          <a:solidFill>
            <a:srgbClr val="EEF3F8"/>
          </a:solidFill>
          <a:ln w="9525">
            <a:solidFill>
              <a:srgbClr val="D0DCE8"/>
            </a:solidFill>
            <a:prstDash val="solid"/>
          </a:ln>
        </p:spPr>
        <p:txBody>
          <a:bodyPr/>
          <a:lstStyle/>
          <a:p>
            <a:endParaRPr lang="en-US"/>
          </a:p>
        </p:txBody>
      </p:sp>
      <p:sp>
        <p:nvSpPr>
          <p:cNvPr id="7" name="Shape 5"/>
          <p:cNvSpPr/>
          <p:nvPr/>
        </p:nvSpPr>
        <p:spPr>
          <a:xfrm>
            <a:off x="502920" y="1874520"/>
            <a:ext cx="502920" cy="502920"/>
          </a:xfrm>
          <a:prstGeom prst="ellipse">
            <a:avLst/>
          </a:prstGeom>
          <a:solidFill>
            <a:srgbClr val="1A6B8A"/>
          </a:solidFill>
          <a:ln/>
        </p:spPr>
        <p:txBody>
          <a:bodyPr/>
          <a:lstStyle/>
          <a:p>
            <a:endParaRPr lang="en-US"/>
          </a:p>
        </p:txBody>
      </p:sp>
      <p:sp>
        <p:nvSpPr>
          <p:cNvPr id="8" name="Text 6"/>
          <p:cNvSpPr/>
          <p:nvPr/>
        </p:nvSpPr>
        <p:spPr>
          <a:xfrm>
            <a:off x="502920" y="1874520"/>
            <a:ext cx="502920" cy="502920"/>
          </a:xfrm>
          <a:prstGeom prst="rect">
            <a:avLst/>
          </a:prstGeom>
          <a:noFill/>
          <a:ln/>
        </p:spPr>
        <p:txBody>
          <a:bodyPr wrap="square" rtlCol="0" anchor="ctr"/>
          <a:lstStyle/>
          <a:p>
            <a:pPr marL="0" indent="0" algn="ctr">
              <a:buNone/>
            </a:pPr>
            <a:r>
              <a:rPr lang="en-US" sz="1400" b="1" dirty="0">
                <a:solidFill>
                  <a:srgbClr val="FFFFFF"/>
                </a:solidFill>
              </a:rPr>
              <a:t>1</a:t>
            </a:r>
            <a:endParaRPr lang="en-US" sz="1400" dirty="0"/>
          </a:p>
        </p:txBody>
      </p:sp>
      <p:sp>
        <p:nvSpPr>
          <p:cNvPr id="9" name="Text 7"/>
          <p:cNvSpPr/>
          <p:nvPr/>
        </p:nvSpPr>
        <p:spPr>
          <a:xfrm>
            <a:off x="502920" y="2450592"/>
            <a:ext cx="1737360" cy="320040"/>
          </a:xfrm>
          <a:prstGeom prst="rect">
            <a:avLst/>
          </a:prstGeom>
          <a:noFill/>
          <a:ln/>
        </p:spPr>
        <p:txBody>
          <a:bodyPr wrap="square" rtlCol="0" anchor="ctr"/>
          <a:lstStyle/>
          <a:p>
            <a:pPr marL="0" indent="0">
              <a:buNone/>
            </a:pPr>
            <a:r>
              <a:rPr lang="en-US" sz="1300" b="1" dirty="0">
                <a:solidFill>
                  <a:srgbClr val="0D2B5E"/>
                </a:solidFill>
              </a:rPr>
              <a:t>Baseline 1</a:t>
            </a:r>
            <a:endParaRPr lang="en-US" sz="1300" dirty="0"/>
          </a:p>
        </p:txBody>
      </p:sp>
      <p:sp>
        <p:nvSpPr>
          <p:cNvPr id="10" name="Text 8"/>
          <p:cNvSpPr/>
          <p:nvPr/>
        </p:nvSpPr>
        <p:spPr>
          <a:xfrm>
            <a:off x="502920" y="2788920"/>
            <a:ext cx="1737360" cy="274320"/>
          </a:xfrm>
          <a:prstGeom prst="rect">
            <a:avLst/>
          </a:prstGeom>
          <a:noFill/>
          <a:ln/>
        </p:spPr>
        <p:txBody>
          <a:bodyPr wrap="square" rtlCol="0" anchor="ctr"/>
          <a:lstStyle/>
          <a:p>
            <a:pPr marL="0" indent="0">
              <a:buNone/>
            </a:pPr>
            <a:r>
              <a:rPr lang="en-US" sz="1050" i="1" dirty="0">
                <a:solidFill>
                  <a:srgbClr val="1A6B8A"/>
                </a:solidFill>
              </a:rPr>
              <a:t>Zero-shot LLM</a:t>
            </a:r>
            <a:endParaRPr lang="en-US" sz="1050" dirty="0"/>
          </a:p>
        </p:txBody>
      </p:sp>
      <p:sp>
        <p:nvSpPr>
          <p:cNvPr id="11" name="Text 9"/>
          <p:cNvSpPr/>
          <p:nvPr/>
        </p:nvSpPr>
        <p:spPr>
          <a:xfrm>
            <a:off x="502920" y="3108960"/>
            <a:ext cx="1737360" cy="822960"/>
          </a:xfrm>
          <a:prstGeom prst="rect">
            <a:avLst/>
          </a:prstGeom>
          <a:noFill/>
          <a:ln/>
        </p:spPr>
        <p:txBody>
          <a:bodyPr wrap="square" rtlCol="0" anchor="ctr"/>
          <a:lstStyle/>
          <a:p>
            <a:pPr marL="0" indent="0">
              <a:buNone/>
            </a:pPr>
            <a:r>
              <a:rPr lang="en-US" sz="1000" dirty="0">
                <a:solidFill>
                  <a:srgbClr val="2C3E50"/>
                </a:solidFill>
              </a:rPr>
              <a:t>No retrieval. Direct prompt.</a:t>
            </a:r>
            <a:endParaRPr lang="en-US" sz="1000" dirty="0"/>
          </a:p>
        </p:txBody>
      </p:sp>
      <p:sp>
        <p:nvSpPr>
          <p:cNvPr id="12" name="Shape 10"/>
          <p:cNvSpPr/>
          <p:nvPr/>
        </p:nvSpPr>
        <p:spPr>
          <a:xfrm>
            <a:off x="2514600" y="1783080"/>
            <a:ext cx="1920240" cy="2560320"/>
          </a:xfrm>
          <a:prstGeom prst="rect">
            <a:avLst/>
          </a:prstGeom>
          <a:solidFill>
            <a:srgbClr val="EEF3F8"/>
          </a:solidFill>
          <a:ln w="9525">
            <a:solidFill>
              <a:srgbClr val="D0DCE8"/>
            </a:solidFill>
            <a:prstDash val="solid"/>
          </a:ln>
        </p:spPr>
        <p:txBody>
          <a:bodyPr/>
          <a:lstStyle/>
          <a:p>
            <a:endParaRPr lang="en-US"/>
          </a:p>
        </p:txBody>
      </p:sp>
      <p:sp>
        <p:nvSpPr>
          <p:cNvPr id="13" name="Shape 11"/>
          <p:cNvSpPr/>
          <p:nvPr/>
        </p:nvSpPr>
        <p:spPr>
          <a:xfrm>
            <a:off x="2606040" y="1874520"/>
            <a:ext cx="502920" cy="502920"/>
          </a:xfrm>
          <a:prstGeom prst="ellipse">
            <a:avLst/>
          </a:prstGeom>
          <a:solidFill>
            <a:srgbClr val="1A6B8A"/>
          </a:solidFill>
          <a:ln/>
        </p:spPr>
        <p:txBody>
          <a:bodyPr/>
          <a:lstStyle/>
          <a:p>
            <a:endParaRPr lang="en-US"/>
          </a:p>
        </p:txBody>
      </p:sp>
      <p:sp>
        <p:nvSpPr>
          <p:cNvPr id="14" name="Text 12"/>
          <p:cNvSpPr/>
          <p:nvPr/>
        </p:nvSpPr>
        <p:spPr>
          <a:xfrm>
            <a:off x="2606040" y="1874520"/>
            <a:ext cx="502920" cy="502920"/>
          </a:xfrm>
          <a:prstGeom prst="rect">
            <a:avLst/>
          </a:prstGeom>
          <a:noFill/>
          <a:ln/>
        </p:spPr>
        <p:txBody>
          <a:bodyPr wrap="square" rtlCol="0" anchor="ctr"/>
          <a:lstStyle/>
          <a:p>
            <a:pPr marL="0" indent="0" algn="ctr">
              <a:buNone/>
            </a:pPr>
            <a:r>
              <a:rPr lang="en-US" sz="1400" b="1" dirty="0">
                <a:solidFill>
                  <a:srgbClr val="FFFFFF"/>
                </a:solidFill>
              </a:rPr>
              <a:t>2</a:t>
            </a:r>
            <a:endParaRPr lang="en-US" sz="1400" dirty="0"/>
          </a:p>
        </p:txBody>
      </p:sp>
      <p:sp>
        <p:nvSpPr>
          <p:cNvPr id="15" name="Text 13"/>
          <p:cNvSpPr/>
          <p:nvPr/>
        </p:nvSpPr>
        <p:spPr>
          <a:xfrm>
            <a:off x="2606040" y="2450592"/>
            <a:ext cx="1737360" cy="320040"/>
          </a:xfrm>
          <a:prstGeom prst="rect">
            <a:avLst/>
          </a:prstGeom>
          <a:noFill/>
          <a:ln/>
        </p:spPr>
        <p:txBody>
          <a:bodyPr wrap="square" rtlCol="0" anchor="ctr"/>
          <a:lstStyle/>
          <a:p>
            <a:pPr marL="0" indent="0">
              <a:buNone/>
            </a:pPr>
            <a:r>
              <a:rPr lang="en-US" sz="1300" b="1" dirty="0">
                <a:solidFill>
                  <a:srgbClr val="0D2B5E"/>
                </a:solidFill>
              </a:rPr>
              <a:t>Baseline 2</a:t>
            </a:r>
            <a:endParaRPr lang="en-US" sz="1300" dirty="0"/>
          </a:p>
        </p:txBody>
      </p:sp>
      <p:sp>
        <p:nvSpPr>
          <p:cNvPr id="16" name="Text 14"/>
          <p:cNvSpPr/>
          <p:nvPr/>
        </p:nvSpPr>
        <p:spPr>
          <a:xfrm>
            <a:off x="2606040" y="2788920"/>
            <a:ext cx="1737360" cy="274320"/>
          </a:xfrm>
          <a:prstGeom prst="rect">
            <a:avLst/>
          </a:prstGeom>
          <a:noFill/>
          <a:ln/>
        </p:spPr>
        <p:txBody>
          <a:bodyPr wrap="square" rtlCol="0" anchor="ctr"/>
          <a:lstStyle/>
          <a:p>
            <a:pPr marL="0" indent="0">
              <a:buNone/>
            </a:pPr>
            <a:r>
              <a:rPr lang="en-US" sz="1050" i="1" dirty="0">
                <a:solidFill>
                  <a:srgbClr val="1A6B8A"/>
                </a:solidFill>
              </a:rPr>
              <a:t>Few-shot LLM</a:t>
            </a:r>
            <a:endParaRPr lang="en-US" sz="1050" dirty="0"/>
          </a:p>
        </p:txBody>
      </p:sp>
      <p:sp>
        <p:nvSpPr>
          <p:cNvPr id="17" name="Text 15"/>
          <p:cNvSpPr/>
          <p:nvPr/>
        </p:nvSpPr>
        <p:spPr>
          <a:xfrm>
            <a:off x="2606040" y="3108960"/>
            <a:ext cx="1737360" cy="822960"/>
          </a:xfrm>
          <a:prstGeom prst="rect">
            <a:avLst/>
          </a:prstGeom>
          <a:noFill/>
          <a:ln/>
        </p:spPr>
        <p:txBody>
          <a:bodyPr wrap="square" rtlCol="0" anchor="ctr"/>
          <a:lstStyle/>
          <a:p>
            <a:pPr marL="0" indent="0">
              <a:buNone/>
            </a:pPr>
            <a:r>
              <a:rPr lang="en-US" sz="1000" dirty="0">
                <a:solidFill>
                  <a:srgbClr val="2C3E50"/>
                </a:solidFill>
              </a:rPr>
              <a:t>5 in-context examples. No retrieval.</a:t>
            </a:r>
            <a:endParaRPr lang="en-US" sz="1000" dirty="0"/>
          </a:p>
        </p:txBody>
      </p:sp>
      <p:sp>
        <p:nvSpPr>
          <p:cNvPr id="18" name="Shape 16"/>
          <p:cNvSpPr/>
          <p:nvPr/>
        </p:nvSpPr>
        <p:spPr>
          <a:xfrm>
            <a:off x="4617720" y="1783080"/>
            <a:ext cx="1920240" cy="2560320"/>
          </a:xfrm>
          <a:prstGeom prst="rect">
            <a:avLst/>
          </a:prstGeom>
          <a:solidFill>
            <a:srgbClr val="EEF3F8"/>
          </a:solidFill>
          <a:ln w="9525">
            <a:solidFill>
              <a:srgbClr val="D0DCE8"/>
            </a:solidFill>
            <a:prstDash val="solid"/>
          </a:ln>
        </p:spPr>
        <p:txBody>
          <a:bodyPr/>
          <a:lstStyle/>
          <a:p>
            <a:endParaRPr lang="en-US"/>
          </a:p>
        </p:txBody>
      </p:sp>
      <p:sp>
        <p:nvSpPr>
          <p:cNvPr id="19" name="Shape 17"/>
          <p:cNvSpPr/>
          <p:nvPr/>
        </p:nvSpPr>
        <p:spPr>
          <a:xfrm>
            <a:off x="4709160" y="1874520"/>
            <a:ext cx="502920" cy="502920"/>
          </a:xfrm>
          <a:prstGeom prst="ellipse">
            <a:avLst/>
          </a:prstGeom>
          <a:solidFill>
            <a:srgbClr val="1A6B8A"/>
          </a:solidFill>
          <a:ln/>
        </p:spPr>
        <p:txBody>
          <a:bodyPr/>
          <a:lstStyle/>
          <a:p>
            <a:endParaRPr lang="en-US"/>
          </a:p>
        </p:txBody>
      </p:sp>
      <p:sp>
        <p:nvSpPr>
          <p:cNvPr id="20" name="Text 18"/>
          <p:cNvSpPr/>
          <p:nvPr/>
        </p:nvSpPr>
        <p:spPr>
          <a:xfrm>
            <a:off x="4709160" y="1874520"/>
            <a:ext cx="502920" cy="502920"/>
          </a:xfrm>
          <a:prstGeom prst="rect">
            <a:avLst/>
          </a:prstGeom>
          <a:noFill/>
          <a:ln/>
        </p:spPr>
        <p:txBody>
          <a:bodyPr wrap="square" rtlCol="0" anchor="ctr"/>
          <a:lstStyle/>
          <a:p>
            <a:pPr marL="0" indent="0" algn="ctr">
              <a:buNone/>
            </a:pPr>
            <a:r>
              <a:rPr lang="en-US" sz="1400" b="1" dirty="0">
                <a:solidFill>
                  <a:srgbClr val="FFFFFF"/>
                </a:solidFill>
              </a:rPr>
              <a:t>3</a:t>
            </a:r>
            <a:endParaRPr lang="en-US" sz="1400" dirty="0"/>
          </a:p>
        </p:txBody>
      </p:sp>
      <p:sp>
        <p:nvSpPr>
          <p:cNvPr id="21" name="Text 19"/>
          <p:cNvSpPr/>
          <p:nvPr/>
        </p:nvSpPr>
        <p:spPr>
          <a:xfrm>
            <a:off x="4709160" y="2450592"/>
            <a:ext cx="1737360" cy="320040"/>
          </a:xfrm>
          <a:prstGeom prst="rect">
            <a:avLst/>
          </a:prstGeom>
          <a:noFill/>
          <a:ln/>
        </p:spPr>
        <p:txBody>
          <a:bodyPr wrap="square" rtlCol="0" anchor="ctr"/>
          <a:lstStyle/>
          <a:p>
            <a:pPr marL="0" indent="0">
              <a:buNone/>
            </a:pPr>
            <a:r>
              <a:rPr lang="en-US" sz="1300" b="1" dirty="0">
                <a:solidFill>
                  <a:srgbClr val="0D2B5E"/>
                </a:solidFill>
              </a:rPr>
              <a:t>RAG</a:t>
            </a:r>
            <a:endParaRPr lang="en-US" sz="1300" dirty="0"/>
          </a:p>
        </p:txBody>
      </p:sp>
      <p:sp>
        <p:nvSpPr>
          <p:cNvPr id="22" name="Text 20"/>
          <p:cNvSpPr/>
          <p:nvPr/>
        </p:nvSpPr>
        <p:spPr>
          <a:xfrm>
            <a:off x="4709160" y="2788920"/>
            <a:ext cx="1737360" cy="274320"/>
          </a:xfrm>
          <a:prstGeom prst="rect">
            <a:avLst/>
          </a:prstGeom>
          <a:noFill/>
          <a:ln/>
        </p:spPr>
        <p:txBody>
          <a:bodyPr wrap="square" rtlCol="0" anchor="ctr"/>
          <a:lstStyle/>
          <a:p>
            <a:pPr marL="0" indent="0">
              <a:buNone/>
            </a:pPr>
            <a:r>
              <a:rPr lang="en-US" sz="1050" i="1" dirty="0">
                <a:solidFill>
                  <a:srgbClr val="1A6B8A"/>
                </a:solidFill>
              </a:rPr>
              <a:t>Off-the-shelf RAG</a:t>
            </a:r>
            <a:endParaRPr lang="en-US" sz="1050" dirty="0"/>
          </a:p>
        </p:txBody>
      </p:sp>
      <p:sp>
        <p:nvSpPr>
          <p:cNvPr id="23" name="Text 21"/>
          <p:cNvSpPr/>
          <p:nvPr/>
        </p:nvSpPr>
        <p:spPr>
          <a:xfrm>
            <a:off x="4709160" y="3108960"/>
            <a:ext cx="1737360" cy="822960"/>
          </a:xfrm>
          <a:prstGeom prst="rect">
            <a:avLst/>
          </a:prstGeom>
          <a:noFill/>
          <a:ln/>
        </p:spPr>
        <p:txBody>
          <a:bodyPr wrap="square" rtlCol="0" anchor="ctr"/>
          <a:lstStyle/>
          <a:p>
            <a:pPr marL="0" indent="0">
              <a:buNone/>
            </a:pPr>
            <a:r>
              <a:rPr lang="en-US" sz="1000" dirty="0">
                <a:solidFill>
                  <a:srgbClr val="2C3E50"/>
                </a:solidFill>
              </a:rPr>
              <a:t>Retrieval + generation. No fine-tuning.</a:t>
            </a:r>
            <a:endParaRPr lang="en-US" sz="1000" dirty="0"/>
          </a:p>
        </p:txBody>
      </p:sp>
      <p:sp>
        <p:nvSpPr>
          <p:cNvPr id="24" name="Shape 22"/>
          <p:cNvSpPr/>
          <p:nvPr/>
        </p:nvSpPr>
        <p:spPr>
          <a:xfrm>
            <a:off x="6720840" y="1783080"/>
            <a:ext cx="1920240" cy="2560320"/>
          </a:xfrm>
          <a:prstGeom prst="rect">
            <a:avLst/>
          </a:prstGeom>
          <a:solidFill>
            <a:srgbClr val="EEF3F8"/>
          </a:solidFill>
          <a:ln w="9525">
            <a:solidFill>
              <a:srgbClr val="D0DCE8"/>
            </a:solidFill>
            <a:prstDash val="solid"/>
          </a:ln>
        </p:spPr>
        <p:txBody>
          <a:bodyPr/>
          <a:lstStyle/>
          <a:p>
            <a:endParaRPr lang="en-US"/>
          </a:p>
        </p:txBody>
      </p:sp>
      <p:sp>
        <p:nvSpPr>
          <p:cNvPr id="25" name="Shape 23"/>
          <p:cNvSpPr/>
          <p:nvPr/>
        </p:nvSpPr>
        <p:spPr>
          <a:xfrm>
            <a:off x="6812280" y="1874520"/>
            <a:ext cx="502920" cy="502920"/>
          </a:xfrm>
          <a:prstGeom prst="ellipse">
            <a:avLst/>
          </a:prstGeom>
          <a:solidFill>
            <a:srgbClr val="1A6B8A"/>
          </a:solidFill>
          <a:ln/>
        </p:spPr>
        <p:txBody>
          <a:bodyPr/>
          <a:lstStyle/>
          <a:p>
            <a:endParaRPr lang="en-US"/>
          </a:p>
        </p:txBody>
      </p:sp>
      <p:sp>
        <p:nvSpPr>
          <p:cNvPr id="26" name="Text 24"/>
          <p:cNvSpPr/>
          <p:nvPr/>
        </p:nvSpPr>
        <p:spPr>
          <a:xfrm>
            <a:off x="6812280" y="1874520"/>
            <a:ext cx="502920" cy="502920"/>
          </a:xfrm>
          <a:prstGeom prst="rect">
            <a:avLst/>
          </a:prstGeom>
          <a:noFill/>
          <a:ln/>
        </p:spPr>
        <p:txBody>
          <a:bodyPr wrap="square" rtlCol="0" anchor="ctr"/>
          <a:lstStyle/>
          <a:p>
            <a:pPr marL="0" indent="0" algn="ctr">
              <a:buNone/>
            </a:pPr>
            <a:r>
              <a:rPr lang="en-US" sz="1400" b="1" dirty="0">
                <a:solidFill>
                  <a:srgbClr val="FFFFFF"/>
                </a:solidFill>
              </a:rPr>
              <a:t>4</a:t>
            </a:r>
            <a:endParaRPr lang="en-US" sz="1400" dirty="0"/>
          </a:p>
        </p:txBody>
      </p:sp>
      <p:sp>
        <p:nvSpPr>
          <p:cNvPr id="27" name="Text 25"/>
          <p:cNvSpPr/>
          <p:nvPr/>
        </p:nvSpPr>
        <p:spPr>
          <a:xfrm>
            <a:off x="6812280" y="2450592"/>
            <a:ext cx="1737360" cy="320040"/>
          </a:xfrm>
          <a:prstGeom prst="rect">
            <a:avLst/>
          </a:prstGeom>
          <a:noFill/>
          <a:ln/>
        </p:spPr>
        <p:txBody>
          <a:bodyPr wrap="square" rtlCol="0" anchor="ctr"/>
          <a:lstStyle/>
          <a:p>
            <a:pPr marL="0" indent="0">
              <a:buNone/>
            </a:pPr>
            <a:r>
              <a:rPr lang="en-US" sz="1300" b="1" dirty="0">
                <a:solidFill>
                  <a:srgbClr val="0D2B5E"/>
                </a:solidFill>
              </a:rPr>
              <a:t>RAG + LoRA</a:t>
            </a:r>
            <a:endParaRPr lang="en-US" sz="1300" dirty="0"/>
          </a:p>
        </p:txBody>
      </p:sp>
      <p:sp>
        <p:nvSpPr>
          <p:cNvPr id="28" name="Text 26"/>
          <p:cNvSpPr/>
          <p:nvPr/>
        </p:nvSpPr>
        <p:spPr>
          <a:xfrm>
            <a:off x="6812280" y="2788920"/>
            <a:ext cx="1737360" cy="274320"/>
          </a:xfrm>
          <a:prstGeom prst="rect">
            <a:avLst/>
          </a:prstGeom>
          <a:noFill/>
          <a:ln/>
        </p:spPr>
        <p:txBody>
          <a:bodyPr wrap="square" rtlCol="0" anchor="ctr"/>
          <a:lstStyle/>
          <a:p>
            <a:pPr marL="0" indent="0">
              <a:buNone/>
            </a:pPr>
            <a:r>
              <a:rPr lang="en-US" sz="1050" i="1" dirty="0">
                <a:solidFill>
                  <a:srgbClr val="1A6B8A"/>
                </a:solidFill>
              </a:rPr>
              <a:t>Fine-tuned RAG</a:t>
            </a:r>
            <a:endParaRPr lang="en-US" sz="1050" dirty="0"/>
          </a:p>
        </p:txBody>
      </p:sp>
      <p:sp>
        <p:nvSpPr>
          <p:cNvPr id="29" name="Text 27"/>
          <p:cNvSpPr/>
          <p:nvPr/>
        </p:nvSpPr>
        <p:spPr>
          <a:xfrm>
            <a:off x="6812280" y="3108960"/>
            <a:ext cx="1737360" cy="822960"/>
          </a:xfrm>
          <a:prstGeom prst="rect">
            <a:avLst/>
          </a:prstGeom>
          <a:noFill/>
          <a:ln/>
        </p:spPr>
        <p:txBody>
          <a:bodyPr wrap="square" rtlCol="0" anchor="ctr"/>
          <a:lstStyle/>
          <a:p>
            <a:pPr marL="0" indent="0">
              <a:buNone/>
            </a:pPr>
            <a:r>
              <a:rPr lang="en-US" sz="1000" dirty="0">
                <a:solidFill>
                  <a:srgbClr val="2C3E50"/>
                </a:solidFill>
              </a:rPr>
              <a:t>Retrieval + LoRA-tuned generator.</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164592"/>
            <a:ext cx="8229600" cy="256032"/>
          </a:xfrm>
          <a:prstGeom prst="rect">
            <a:avLst/>
          </a:prstGeom>
          <a:noFill/>
          <a:ln/>
        </p:spPr>
        <p:txBody>
          <a:bodyPr wrap="square" rtlCol="0" anchor="ctr"/>
          <a:lstStyle/>
          <a:p>
            <a:pPr marL="0" indent="0" algn="l">
              <a:buNone/>
            </a:pPr>
            <a:r>
              <a:rPr lang="en-US" sz="900" b="1" kern="0" spc="300" dirty="0">
                <a:solidFill>
                  <a:srgbClr val="2E8BAE"/>
                </a:solidFill>
              </a:rPr>
              <a:t>B A C K G R O U N D</a:t>
            </a:r>
            <a:endParaRPr lang="en-US" sz="900" dirty="0"/>
          </a:p>
        </p:txBody>
      </p:sp>
      <p:sp>
        <p:nvSpPr>
          <p:cNvPr id="3" name="Text 1"/>
          <p:cNvSpPr/>
          <p:nvPr/>
        </p:nvSpPr>
        <p:spPr>
          <a:xfrm>
            <a:off x="7863840" y="164592"/>
            <a:ext cx="1097280" cy="256032"/>
          </a:xfrm>
          <a:prstGeom prst="rect">
            <a:avLst/>
          </a:prstGeom>
          <a:noFill/>
          <a:ln/>
        </p:spPr>
        <p:txBody>
          <a:bodyPr wrap="square" rtlCol="0" anchor="ctr"/>
          <a:lstStyle/>
          <a:p>
            <a:pPr marL="0" indent="0" algn="r">
              <a:buNone/>
            </a:pPr>
            <a:r>
              <a:rPr lang="en-US" sz="900" dirty="0">
                <a:solidFill>
                  <a:srgbClr val="5A7080"/>
                </a:solidFill>
              </a:rPr>
              <a:t>4 / 17</a:t>
            </a:r>
            <a:endParaRPr lang="en-US" sz="900" dirty="0"/>
          </a:p>
        </p:txBody>
      </p:sp>
      <p:sp>
        <p:nvSpPr>
          <p:cNvPr id="4" name="Text 2"/>
          <p:cNvSpPr/>
          <p:nvPr/>
        </p:nvSpPr>
        <p:spPr>
          <a:xfrm>
            <a:off x="457200" y="502920"/>
            <a:ext cx="8229600" cy="777240"/>
          </a:xfrm>
          <a:prstGeom prst="rect">
            <a:avLst/>
          </a:prstGeom>
          <a:noFill/>
          <a:ln/>
        </p:spPr>
        <p:txBody>
          <a:bodyPr wrap="square" rtlCol="0" anchor="ctr"/>
          <a:lstStyle/>
          <a:p>
            <a:pPr marL="0" indent="0" algn="l">
              <a:buNone/>
            </a:pPr>
            <a:r>
              <a:rPr lang="en-US" sz="3000" b="1" dirty="0">
                <a:solidFill>
                  <a:srgbClr val="0D2B5E"/>
                </a:solidFill>
                <a:latin typeface="Calibri" pitchFamily="34" charset="0"/>
                <a:ea typeface="Calibri" pitchFamily="34" charset="-122"/>
                <a:cs typeface="Calibri" pitchFamily="34" charset="-120"/>
              </a:rPr>
              <a:t>How Retrieval-Augmented Generation works</a:t>
            </a:r>
            <a:endParaRPr lang="en-US" sz="3000" dirty="0"/>
          </a:p>
        </p:txBody>
      </p:sp>
      <p:sp>
        <p:nvSpPr>
          <p:cNvPr id="5" name="Shape 3"/>
          <p:cNvSpPr/>
          <p:nvPr/>
        </p:nvSpPr>
        <p:spPr>
          <a:xfrm>
            <a:off x="365760" y="1417320"/>
            <a:ext cx="1508760" cy="2011680"/>
          </a:xfrm>
          <a:prstGeom prst="rect">
            <a:avLst/>
          </a:prstGeom>
          <a:solidFill>
            <a:srgbClr val="EEF3F8"/>
          </a:solidFill>
          <a:ln w="9525">
            <a:solidFill>
              <a:srgbClr val="D0DCE8"/>
            </a:solidFill>
            <a:prstDash val="solid"/>
          </a:ln>
        </p:spPr>
        <p:txBody>
          <a:bodyPr/>
          <a:lstStyle/>
          <a:p>
            <a:endParaRPr lang="en-US"/>
          </a:p>
        </p:txBody>
      </p:sp>
      <p:pic>
        <p:nvPicPr>
          <p:cNvPr id="6" name="Image 0" descr="preencoded.png"/>
          <p:cNvPicPr>
            <a:picLocks noChangeAspect="1"/>
          </p:cNvPicPr>
          <p:nvPr/>
        </p:nvPicPr>
        <p:blipFill>
          <a:blip r:embed="rId3"/>
          <a:stretch>
            <a:fillRect/>
          </a:stretch>
        </p:blipFill>
        <p:spPr>
          <a:xfrm>
            <a:off x="868680" y="1554480"/>
            <a:ext cx="502920" cy="502920"/>
          </a:xfrm>
          <a:prstGeom prst="rect">
            <a:avLst/>
          </a:prstGeom>
        </p:spPr>
      </p:pic>
      <p:sp>
        <p:nvSpPr>
          <p:cNvPr id="7" name="Text 4"/>
          <p:cNvSpPr/>
          <p:nvPr/>
        </p:nvSpPr>
        <p:spPr>
          <a:xfrm>
            <a:off x="365760" y="2176272"/>
            <a:ext cx="1508760" cy="320040"/>
          </a:xfrm>
          <a:prstGeom prst="rect">
            <a:avLst/>
          </a:prstGeom>
          <a:noFill/>
          <a:ln/>
        </p:spPr>
        <p:txBody>
          <a:bodyPr wrap="square" rtlCol="0" anchor="ctr"/>
          <a:lstStyle/>
          <a:p>
            <a:pPr marL="0" indent="0" algn="ctr">
              <a:buNone/>
            </a:pPr>
            <a:r>
              <a:rPr lang="en-US" sz="1100" b="1" dirty="0">
                <a:solidFill>
                  <a:srgbClr val="0D2B5E"/>
                </a:solidFill>
              </a:rPr>
              <a:t>Question</a:t>
            </a:r>
            <a:endParaRPr lang="en-US" sz="1100" dirty="0"/>
          </a:p>
        </p:txBody>
      </p:sp>
      <p:sp>
        <p:nvSpPr>
          <p:cNvPr id="8" name="Text 5"/>
          <p:cNvSpPr/>
          <p:nvPr/>
        </p:nvSpPr>
        <p:spPr>
          <a:xfrm>
            <a:off x="365760" y="2487168"/>
            <a:ext cx="1508760" cy="274320"/>
          </a:xfrm>
          <a:prstGeom prst="rect">
            <a:avLst/>
          </a:prstGeom>
          <a:noFill/>
          <a:ln/>
        </p:spPr>
        <p:txBody>
          <a:bodyPr wrap="square" rtlCol="0" anchor="ctr"/>
          <a:lstStyle/>
          <a:p>
            <a:pPr marL="0" indent="0" algn="ctr">
              <a:buNone/>
            </a:pPr>
            <a:r>
              <a:rPr lang="en-US" sz="950" i="1" dirty="0">
                <a:solidFill>
                  <a:srgbClr val="5A7080"/>
                </a:solidFill>
              </a:rPr>
              <a:t>User input</a:t>
            </a:r>
            <a:endParaRPr lang="en-US" sz="950" dirty="0"/>
          </a:p>
        </p:txBody>
      </p:sp>
      <p:sp>
        <p:nvSpPr>
          <p:cNvPr id="9" name="Shape 6"/>
          <p:cNvSpPr/>
          <p:nvPr/>
        </p:nvSpPr>
        <p:spPr>
          <a:xfrm>
            <a:off x="1901952" y="2176272"/>
            <a:ext cx="164592" cy="320040"/>
          </a:xfrm>
          <a:prstGeom prst="rightArrow">
            <a:avLst/>
          </a:prstGeom>
          <a:solidFill>
            <a:srgbClr val="E8842A"/>
          </a:solidFill>
          <a:ln w="12700">
            <a:solidFill>
              <a:srgbClr val="E8842A"/>
            </a:solidFill>
            <a:prstDash val="solid"/>
          </a:ln>
        </p:spPr>
        <p:txBody>
          <a:bodyPr/>
          <a:lstStyle/>
          <a:p>
            <a:endParaRPr lang="en-US"/>
          </a:p>
        </p:txBody>
      </p:sp>
      <p:sp>
        <p:nvSpPr>
          <p:cNvPr id="10" name="Shape 7"/>
          <p:cNvSpPr/>
          <p:nvPr/>
        </p:nvSpPr>
        <p:spPr>
          <a:xfrm>
            <a:off x="2084832" y="1417320"/>
            <a:ext cx="1508760" cy="2011680"/>
          </a:xfrm>
          <a:prstGeom prst="rect">
            <a:avLst/>
          </a:prstGeom>
          <a:solidFill>
            <a:srgbClr val="EEF3F8"/>
          </a:solidFill>
          <a:ln w="9525">
            <a:solidFill>
              <a:srgbClr val="D0DCE8"/>
            </a:solidFill>
            <a:prstDash val="solid"/>
          </a:ln>
        </p:spPr>
        <p:txBody>
          <a:bodyPr/>
          <a:lstStyle/>
          <a:p>
            <a:endParaRPr lang="en-US"/>
          </a:p>
        </p:txBody>
      </p:sp>
      <p:pic>
        <p:nvPicPr>
          <p:cNvPr id="11" name="Image 1" descr="preencoded.png"/>
          <p:cNvPicPr>
            <a:picLocks noChangeAspect="1"/>
          </p:cNvPicPr>
          <p:nvPr/>
        </p:nvPicPr>
        <p:blipFill>
          <a:blip r:embed="rId4"/>
          <a:stretch>
            <a:fillRect/>
          </a:stretch>
        </p:blipFill>
        <p:spPr>
          <a:xfrm>
            <a:off x="2587752" y="1554480"/>
            <a:ext cx="502920" cy="502920"/>
          </a:xfrm>
          <a:prstGeom prst="rect">
            <a:avLst/>
          </a:prstGeom>
        </p:spPr>
      </p:pic>
      <p:sp>
        <p:nvSpPr>
          <p:cNvPr id="12" name="Text 8"/>
          <p:cNvSpPr/>
          <p:nvPr/>
        </p:nvSpPr>
        <p:spPr>
          <a:xfrm>
            <a:off x="2084832" y="2176272"/>
            <a:ext cx="1508760" cy="320040"/>
          </a:xfrm>
          <a:prstGeom prst="rect">
            <a:avLst/>
          </a:prstGeom>
          <a:noFill/>
          <a:ln/>
        </p:spPr>
        <p:txBody>
          <a:bodyPr wrap="square" rtlCol="0" anchor="ctr"/>
          <a:lstStyle/>
          <a:p>
            <a:pPr marL="0" indent="0" algn="ctr">
              <a:buNone/>
            </a:pPr>
            <a:r>
              <a:rPr lang="en-US" sz="1100" b="1" dirty="0">
                <a:solidFill>
                  <a:srgbClr val="0D2B5E"/>
                </a:solidFill>
              </a:rPr>
              <a:t>Retriever</a:t>
            </a:r>
            <a:endParaRPr lang="en-US" sz="1100" dirty="0"/>
          </a:p>
        </p:txBody>
      </p:sp>
      <p:sp>
        <p:nvSpPr>
          <p:cNvPr id="13" name="Text 9"/>
          <p:cNvSpPr/>
          <p:nvPr/>
        </p:nvSpPr>
        <p:spPr>
          <a:xfrm>
            <a:off x="2084832" y="2487168"/>
            <a:ext cx="1508760" cy="274320"/>
          </a:xfrm>
          <a:prstGeom prst="rect">
            <a:avLst/>
          </a:prstGeom>
          <a:noFill/>
          <a:ln/>
        </p:spPr>
        <p:txBody>
          <a:bodyPr wrap="square" rtlCol="0" anchor="ctr"/>
          <a:lstStyle/>
          <a:p>
            <a:pPr marL="0" indent="0" algn="ctr">
              <a:buNone/>
            </a:pPr>
            <a:r>
              <a:rPr lang="en-US" sz="950" i="1" dirty="0">
                <a:solidFill>
                  <a:srgbClr val="5A7080"/>
                </a:solidFill>
              </a:rPr>
              <a:t>DPR + FAISS</a:t>
            </a:r>
            <a:endParaRPr lang="en-US" sz="950" dirty="0"/>
          </a:p>
        </p:txBody>
      </p:sp>
      <p:sp>
        <p:nvSpPr>
          <p:cNvPr id="14" name="Shape 10"/>
          <p:cNvSpPr/>
          <p:nvPr/>
        </p:nvSpPr>
        <p:spPr>
          <a:xfrm>
            <a:off x="3621024" y="2176272"/>
            <a:ext cx="164592" cy="320040"/>
          </a:xfrm>
          <a:prstGeom prst="rightArrow">
            <a:avLst/>
          </a:prstGeom>
          <a:solidFill>
            <a:srgbClr val="E8842A"/>
          </a:solidFill>
          <a:ln w="12700">
            <a:solidFill>
              <a:srgbClr val="E8842A"/>
            </a:solidFill>
            <a:prstDash val="solid"/>
          </a:ln>
        </p:spPr>
        <p:txBody>
          <a:bodyPr/>
          <a:lstStyle/>
          <a:p>
            <a:endParaRPr lang="en-US"/>
          </a:p>
        </p:txBody>
      </p:sp>
      <p:sp>
        <p:nvSpPr>
          <p:cNvPr id="15" name="Shape 11"/>
          <p:cNvSpPr/>
          <p:nvPr/>
        </p:nvSpPr>
        <p:spPr>
          <a:xfrm>
            <a:off x="3803904" y="1417320"/>
            <a:ext cx="1508760" cy="2011680"/>
          </a:xfrm>
          <a:prstGeom prst="rect">
            <a:avLst/>
          </a:prstGeom>
          <a:solidFill>
            <a:srgbClr val="EEF3F8"/>
          </a:solidFill>
          <a:ln w="9525">
            <a:solidFill>
              <a:srgbClr val="D0DCE8"/>
            </a:solidFill>
            <a:prstDash val="solid"/>
          </a:ln>
        </p:spPr>
        <p:txBody>
          <a:bodyPr/>
          <a:lstStyle/>
          <a:p>
            <a:endParaRPr lang="en-US"/>
          </a:p>
        </p:txBody>
      </p:sp>
      <p:pic>
        <p:nvPicPr>
          <p:cNvPr id="16" name="Image 2" descr="preencoded.png"/>
          <p:cNvPicPr>
            <a:picLocks noChangeAspect="1"/>
          </p:cNvPicPr>
          <p:nvPr/>
        </p:nvPicPr>
        <p:blipFill>
          <a:blip r:embed="rId5"/>
          <a:stretch>
            <a:fillRect/>
          </a:stretch>
        </p:blipFill>
        <p:spPr>
          <a:xfrm>
            <a:off x="4306824" y="1554480"/>
            <a:ext cx="502920" cy="502920"/>
          </a:xfrm>
          <a:prstGeom prst="rect">
            <a:avLst/>
          </a:prstGeom>
        </p:spPr>
      </p:pic>
      <p:sp>
        <p:nvSpPr>
          <p:cNvPr id="17" name="Text 12"/>
          <p:cNvSpPr/>
          <p:nvPr/>
        </p:nvSpPr>
        <p:spPr>
          <a:xfrm>
            <a:off x="3803904" y="2176272"/>
            <a:ext cx="1508760" cy="320040"/>
          </a:xfrm>
          <a:prstGeom prst="rect">
            <a:avLst/>
          </a:prstGeom>
          <a:noFill/>
          <a:ln/>
        </p:spPr>
        <p:txBody>
          <a:bodyPr wrap="square" rtlCol="0" anchor="ctr"/>
          <a:lstStyle/>
          <a:p>
            <a:pPr marL="0" indent="0" algn="ctr">
              <a:buNone/>
            </a:pPr>
            <a:r>
              <a:rPr lang="en-US" sz="1100" b="1" dirty="0">
                <a:solidFill>
                  <a:srgbClr val="0D2B5E"/>
                </a:solidFill>
              </a:rPr>
              <a:t>Top-k Passages</a:t>
            </a:r>
            <a:endParaRPr lang="en-US" sz="1100" dirty="0"/>
          </a:p>
        </p:txBody>
      </p:sp>
      <p:sp>
        <p:nvSpPr>
          <p:cNvPr id="18" name="Text 13"/>
          <p:cNvSpPr/>
          <p:nvPr/>
        </p:nvSpPr>
        <p:spPr>
          <a:xfrm>
            <a:off x="3803904" y="2487168"/>
            <a:ext cx="1508760" cy="274320"/>
          </a:xfrm>
          <a:prstGeom prst="rect">
            <a:avLst/>
          </a:prstGeom>
          <a:noFill/>
          <a:ln/>
        </p:spPr>
        <p:txBody>
          <a:bodyPr wrap="square" rtlCol="0" anchor="ctr"/>
          <a:lstStyle/>
          <a:p>
            <a:pPr marL="0" indent="0" algn="ctr">
              <a:buNone/>
            </a:pPr>
            <a:r>
              <a:rPr lang="en-US" sz="950" i="1" dirty="0">
                <a:solidFill>
                  <a:srgbClr val="5A7080"/>
                </a:solidFill>
              </a:rPr>
              <a:t>Wikipedia</a:t>
            </a:r>
            <a:endParaRPr lang="en-US" sz="950" dirty="0"/>
          </a:p>
        </p:txBody>
      </p:sp>
      <p:sp>
        <p:nvSpPr>
          <p:cNvPr id="19" name="Shape 14"/>
          <p:cNvSpPr/>
          <p:nvPr/>
        </p:nvSpPr>
        <p:spPr>
          <a:xfrm>
            <a:off x="5340096" y="2176272"/>
            <a:ext cx="164592" cy="320040"/>
          </a:xfrm>
          <a:prstGeom prst="rightArrow">
            <a:avLst/>
          </a:prstGeom>
          <a:solidFill>
            <a:srgbClr val="E8842A"/>
          </a:solidFill>
          <a:ln w="12700">
            <a:solidFill>
              <a:srgbClr val="E8842A"/>
            </a:solidFill>
            <a:prstDash val="solid"/>
          </a:ln>
        </p:spPr>
        <p:txBody>
          <a:bodyPr/>
          <a:lstStyle/>
          <a:p>
            <a:endParaRPr lang="en-US"/>
          </a:p>
        </p:txBody>
      </p:sp>
      <p:sp>
        <p:nvSpPr>
          <p:cNvPr id="20" name="Shape 15"/>
          <p:cNvSpPr/>
          <p:nvPr/>
        </p:nvSpPr>
        <p:spPr>
          <a:xfrm>
            <a:off x="5522976" y="1417320"/>
            <a:ext cx="1508760" cy="2011680"/>
          </a:xfrm>
          <a:prstGeom prst="rect">
            <a:avLst/>
          </a:prstGeom>
          <a:solidFill>
            <a:srgbClr val="EEF3F8"/>
          </a:solidFill>
          <a:ln w="9525">
            <a:solidFill>
              <a:srgbClr val="D0DCE8"/>
            </a:solidFill>
            <a:prstDash val="solid"/>
          </a:ln>
        </p:spPr>
        <p:txBody>
          <a:bodyPr/>
          <a:lstStyle/>
          <a:p>
            <a:endParaRPr lang="en-US"/>
          </a:p>
        </p:txBody>
      </p:sp>
      <p:pic>
        <p:nvPicPr>
          <p:cNvPr id="21" name="Image 3" descr="preencoded.png"/>
          <p:cNvPicPr>
            <a:picLocks noChangeAspect="1"/>
          </p:cNvPicPr>
          <p:nvPr/>
        </p:nvPicPr>
        <p:blipFill>
          <a:blip r:embed="rId6"/>
          <a:stretch>
            <a:fillRect/>
          </a:stretch>
        </p:blipFill>
        <p:spPr>
          <a:xfrm>
            <a:off x="6025896" y="1554480"/>
            <a:ext cx="502920" cy="502920"/>
          </a:xfrm>
          <a:prstGeom prst="rect">
            <a:avLst/>
          </a:prstGeom>
        </p:spPr>
      </p:pic>
      <p:sp>
        <p:nvSpPr>
          <p:cNvPr id="22" name="Text 16"/>
          <p:cNvSpPr/>
          <p:nvPr/>
        </p:nvSpPr>
        <p:spPr>
          <a:xfrm>
            <a:off x="5522976" y="2176272"/>
            <a:ext cx="1508760" cy="320040"/>
          </a:xfrm>
          <a:prstGeom prst="rect">
            <a:avLst/>
          </a:prstGeom>
          <a:noFill/>
          <a:ln/>
        </p:spPr>
        <p:txBody>
          <a:bodyPr wrap="square" rtlCol="0" anchor="ctr"/>
          <a:lstStyle/>
          <a:p>
            <a:pPr marL="0" indent="0" algn="ctr">
              <a:buNone/>
            </a:pPr>
            <a:r>
              <a:rPr lang="en-US" sz="1100" b="1" dirty="0">
                <a:solidFill>
                  <a:srgbClr val="0D2B5E"/>
                </a:solidFill>
              </a:rPr>
              <a:t>Generator</a:t>
            </a:r>
            <a:endParaRPr lang="en-US" sz="1100" dirty="0"/>
          </a:p>
        </p:txBody>
      </p:sp>
      <p:sp>
        <p:nvSpPr>
          <p:cNvPr id="23" name="Text 17"/>
          <p:cNvSpPr/>
          <p:nvPr/>
        </p:nvSpPr>
        <p:spPr>
          <a:xfrm>
            <a:off x="5522976" y="2487168"/>
            <a:ext cx="1508760" cy="274320"/>
          </a:xfrm>
          <a:prstGeom prst="rect">
            <a:avLst/>
          </a:prstGeom>
          <a:noFill/>
          <a:ln/>
        </p:spPr>
        <p:txBody>
          <a:bodyPr wrap="square" rtlCol="0" anchor="ctr"/>
          <a:lstStyle/>
          <a:p>
            <a:pPr marL="0" indent="0" algn="ctr">
              <a:buNone/>
            </a:pPr>
            <a:r>
              <a:rPr lang="en-US" sz="950" i="1" dirty="0">
                <a:solidFill>
                  <a:srgbClr val="5A7080"/>
                </a:solidFill>
              </a:rPr>
              <a:t>Mistral-7B</a:t>
            </a:r>
            <a:endParaRPr lang="en-US" sz="950" dirty="0"/>
          </a:p>
        </p:txBody>
      </p:sp>
      <p:sp>
        <p:nvSpPr>
          <p:cNvPr id="24" name="Shape 18"/>
          <p:cNvSpPr/>
          <p:nvPr/>
        </p:nvSpPr>
        <p:spPr>
          <a:xfrm>
            <a:off x="7059168" y="2176272"/>
            <a:ext cx="164592" cy="320040"/>
          </a:xfrm>
          <a:prstGeom prst="rightArrow">
            <a:avLst/>
          </a:prstGeom>
          <a:solidFill>
            <a:srgbClr val="E8842A"/>
          </a:solidFill>
          <a:ln w="12700">
            <a:solidFill>
              <a:srgbClr val="E8842A"/>
            </a:solidFill>
            <a:prstDash val="solid"/>
          </a:ln>
        </p:spPr>
        <p:txBody>
          <a:bodyPr/>
          <a:lstStyle/>
          <a:p>
            <a:endParaRPr lang="en-US"/>
          </a:p>
        </p:txBody>
      </p:sp>
      <p:sp>
        <p:nvSpPr>
          <p:cNvPr id="25" name="Shape 19"/>
          <p:cNvSpPr/>
          <p:nvPr/>
        </p:nvSpPr>
        <p:spPr>
          <a:xfrm>
            <a:off x="7242048" y="1417320"/>
            <a:ext cx="1508760" cy="2011680"/>
          </a:xfrm>
          <a:prstGeom prst="rect">
            <a:avLst/>
          </a:prstGeom>
          <a:solidFill>
            <a:srgbClr val="EEF3F8"/>
          </a:solidFill>
          <a:ln w="9525">
            <a:solidFill>
              <a:srgbClr val="D0DCE8"/>
            </a:solidFill>
            <a:prstDash val="solid"/>
          </a:ln>
        </p:spPr>
        <p:txBody>
          <a:bodyPr/>
          <a:lstStyle/>
          <a:p>
            <a:endParaRPr lang="en-US"/>
          </a:p>
        </p:txBody>
      </p:sp>
      <p:pic>
        <p:nvPicPr>
          <p:cNvPr id="26" name="Image 4" descr="preencoded.png"/>
          <p:cNvPicPr>
            <a:picLocks noChangeAspect="1"/>
          </p:cNvPicPr>
          <p:nvPr/>
        </p:nvPicPr>
        <p:blipFill>
          <a:blip r:embed="rId7"/>
          <a:stretch>
            <a:fillRect/>
          </a:stretch>
        </p:blipFill>
        <p:spPr>
          <a:xfrm>
            <a:off x="7744968" y="1554480"/>
            <a:ext cx="502920" cy="502920"/>
          </a:xfrm>
          <a:prstGeom prst="rect">
            <a:avLst/>
          </a:prstGeom>
        </p:spPr>
      </p:pic>
      <p:sp>
        <p:nvSpPr>
          <p:cNvPr id="27" name="Text 20"/>
          <p:cNvSpPr/>
          <p:nvPr/>
        </p:nvSpPr>
        <p:spPr>
          <a:xfrm>
            <a:off x="7242048" y="2176272"/>
            <a:ext cx="1508760" cy="320040"/>
          </a:xfrm>
          <a:prstGeom prst="rect">
            <a:avLst/>
          </a:prstGeom>
          <a:noFill/>
          <a:ln/>
        </p:spPr>
        <p:txBody>
          <a:bodyPr wrap="square" rtlCol="0" anchor="ctr"/>
          <a:lstStyle/>
          <a:p>
            <a:pPr marL="0" indent="0" algn="ctr">
              <a:buNone/>
            </a:pPr>
            <a:r>
              <a:rPr lang="en-US" sz="1100" b="1" dirty="0">
                <a:solidFill>
                  <a:srgbClr val="0D2B5E"/>
                </a:solidFill>
              </a:rPr>
              <a:t>Answer</a:t>
            </a:r>
            <a:endParaRPr lang="en-US" sz="1100" dirty="0"/>
          </a:p>
        </p:txBody>
      </p:sp>
      <p:sp>
        <p:nvSpPr>
          <p:cNvPr id="28" name="Text 21"/>
          <p:cNvSpPr/>
          <p:nvPr/>
        </p:nvSpPr>
        <p:spPr>
          <a:xfrm>
            <a:off x="7242048" y="2487168"/>
            <a:ext cx="1508760" cy="274320"/>
          </a:xfrm>
          <a:prstGeom prst="rect">
            <a:avLst/>
          </a:prstGeom>
          <a:noFill/>
          <a:ln/>
        </p:spPr>
        <p:txBody>
          <a:bodyPr wrap="square" rtlCol="0" anchor="ctr"/>
          <a:lstStyle/>
          <a:p>
            <a:pPr marL="0" indent="0" algn="ctr">
              <a:buNone/>
            </a:pPr>
            <a:r>
              <a:rPr lang="en-US" sz="950" i="1" dirty="0">
                <a:solidFill>
                  <a:srgbClr val="5A7080"/>
                </a:solidFill>
              </a:rPr>
              <a:t>Grounded</a:t>
            </a:r>
            <a:endParaRPr lang="en-US" sz="950" dirty="0"/>
          </a:p>
        </p:txBody>
      </p:sp>
      <p:sp>
        <p:nvSpPr>
          <p:cNvPr id="29" name="Shape 22"/>
          <p:cNvSpPr/>
          <p:nvPr/>
        </p:nvSpPr>
        <p:spPr>
          <a:xfrm>
            <a:off x="365760" y="3611880"/>
            <a:ext cx="8412480" cy="1188720"/>
          </a:xfrm>
          <a:prstGeom prst="rect">
            <a:avLst/>
          </a:prstGeom>
          <a:solidFill>
            <a:srgbClr val="0D1B3E"/>
          </a:solidFill>
          <a:ln/>
        </p:spPr>
        <p:txBody>
          <a:bodyPr/>
          <a:lstStyle/>
          <a:p>
            <a:endParaRPr lang="en-US"/>
          </a:p>
        </p:txBody>
      </p:sp>
      <p:sp>
        <p:nvSpPr>
          <p:cNvPr id="30" name="Text 23"/>
          <p:cNvSpPr/>
          <p:nvPr/>
        </p:nvSpPr>
        <p:spPr>
          <a:xfrm>
            <a:off x="594360" y="3675888"/>
            <a:ext cx="3657600" cy="256032"/>
          </a:xfrm>
          <a:prstGeom prst="rect">
            <a:avLst/>
          </a:prstGeom>
          <a:noFill/>
          <a:ln/>
        </p:spPr>
        <p:txBody>
          <a:bodyPr wrap="square" rtlCol="0" anchor="ctr"/>
          <a:lstStyle/>
          <a:p>
            <a:pPr marL="0" indent="0">
              <a:buNone/>
            </a:pPr>
            <a:r>
              <a:rPr lang="en-US" sz="900" b="1" kern="0" spc="200" dirty="0">
                <a:solidFill>
                  <a:srgbClr val="E8842A"/>
                </a:solidFill>
              </a:rPr>
              <a:t>K E Y  I D E A</a:t>
            </a:r>
            <a:endParaRPr lang="en-US" sz="900" dirty="0"/>
          </a:p>
        </p:txBody>
      </p:sp>
      <p:sp>
        <p:nvSpPr>
          <p:cNvPr id="31" name="Text 24"/>
          <p:cNvSpPr/>
          <p:nvPr/>
        </p:nvSpPr>
        <p:spPr>
          <a:xfrm>
            <a:off x="594360" y="3950208"/>
            <a:ext cx="7955280" cy="713232"/>
          </a:xfrm>
          <a:prstGeom prst="rect">
            <a:avLst/>
          </a:prstGeom>
          <a:noFill/>
          <a:ln/>
        </p:spPr>
        <p:txBody>
          <a:bodyPr wrap="square" rtlCol="0" anchor="ctr"/>
          <a:lstStyle/>
          <a:p>
            <a:pPr marL="0" indent="0" algn="l">
              <a:buNone/>
            </a:pPr>
            <a:r>
              <a:rPr lang="en-US" sz="1150" dirty="0">
                <a:solidFill>
                  <a:srgbClr val="FFFFFF"/>
                </a:solidFill>
              </a:rPr>
              <a:t>Instead of relying on the LLM's parametric memory (which hallucinates), the generator answers based on text the retriever pulls from a verifiable source.</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164592"/>
            <a:ext cx="8229600" cy="256032"/>
          </a:xfrm>
          <a:prstGeom prst="rect">
            <a:avLst/>
          </a:prstGeom>
          <a:noFill/>
          <a:ln/>
        </p:spPr>
        <p:txBody>
          <a:bodyPr wrap="square" rtlCol="0" anchor="ctr"/>
          <a:lstStyle/>
          <a:p>
            <a:pPr marL="0" indent="0" algn="l">
              <a:buNone/>
            </a:pPr>
            <a:r>
              <a:rPr lang="en-US" sz="900" b="1" kern="0" spc="300" dirty="0">
                <a:solidFill>
                  <a:srgbClr val="2E8BAE"/>
                </a:solidFill>
              </a:rPr>
              <a:t>B A C K G R O U N D</a:t>
            </a:r>
            <a:endParaRPr lang="en-US" sz="900" dirty="0"/>
          </a:p>
        </p:txBody>
      </p:sp>
      <p:sp>
        <p:nvSpPr>
          <p:cNvPr id="3" name="Text 1"/>
          <p:cNvSpPr/>
          <p:nvPr/>
        </p:nvSpPr>
        <p:spPr>
          <a:xfrm>
            <a:off x="7863840" y="164592"/>
            <a:ext cx="1097280" cy="256032"/>
          </a:xfrm>
          <a:prstGeom prst="rect">
            <a:avLst/>
          </a:prstGeom>
          <a:noFill/>
          <a:ln/>
        </p:spPr>
        <p:txBody>
          <a:bodyPr wrap="square" rtlCol="0" anchor="ctr"/>
          <a:lstStyle/>
          <a:p>
            <a:pPr marL="0" indent="0" algn="r">
              <a:buNone/>
            </a:pPr>
            <a:r>
              <a:rPr lang="en-US" sz="900" dirty="0">
                <a:solidFill>
                  <a:srgbClr val="5A7080"/>
                </a:solidFill>
              </a:rPr>
              <a:t>5 / 17</a:t>
            </a:r>
            <a:endParaRPr lang="en-US" sz="900" dirty="0"/>
          </a:p>
        </p:txBody>
      </p:sp>
      <p:sp>
        <p:nvSpPr>
          <p:cNvPr id="4" name="Text 2"/>
          <p:cNvSpPr/>
          <p:nvPr/>
        </p:nvSpPr>
        <p:spPr>
          <a:xfrm>
            <a:off x="457200" y="502920"/>
            <a:ext cx="8229600" cy="777240"/>
          </a:xfrm>
          <a:prstGeom prst="rect">
            <a:avLst/>
          </a:prstGeom>
          <a:noFill/>
          <a:ln/>
        </p:spPr>
        <p:txBody>
          <a:bodyPr wrap="square" rtlCol="0" anchor="ctr"/>
          <a:lstStyle/>
          <a:p>
            <a:pPr marL="0" indent="0" algn="l">
              <a:buNone/>
            </a:pPr>
            <a:r>
              <a:rPr lang="en-US" sz="3000" b="1" dirty="0">
                <a:solidFill>
                  <a:srgbClr val="0D2B5E"/>
                </a:solidFill>
                <a:latin typeface="Calibri" pitchFamily="34" charset="0"/>
                <a:ea typeface="Calibri" pitchFamily="34" charset="-122"/>
                <a:cs typeface="Calibri" pitchFamily="34" charset="-120"/>
              </a:rPr>
              <a:t>LoRA: fine-tuning without retraining 7 billion parameters</a:t>
            </a:r>
            <a:endParaRPr lang="en-US" sz="3000" dirty="0"/>
          </a:p>
        </p:txBody>
      </p:sp>
      <p:sp>
        <p:nvSpPr>
          <p:cNvPr id="5" name="Shape 3"/>
          <p:cNvSpPr/>
          <p:nvPr/>
        </p:nvSpPr>
        <p:spPr>
          <a:xfrm>
            <a:off x="457200" y="1417320"/>
            <a:ext cx="3840480" cy="3200400"/>
          </a:xfrm>
          <a:prstGeom prst="rect">
            <a:avLst/>
          </a:prstGeom>
          <a:solidFill>
            <a:srgbClr val="EEF3F8"/>
          </a:solidFill>
          <a:ln w="9525">
            <a:solidFill>
              <a:srgbClr val="D0DCE8"/>
            </a:solidFill>
            <a:prstDash val="solid"/>
          </a:ln>
        </p:spPr>
        <p:txBody>
          <a:bodyPr/>
          <a:lstStyle/>
          <a:p>
            <a:endParaRPr lang="en-US"/>
          </a:p>
        </p:txBody>
      </p:sp>
      <p:sp>
        <p:nvSpPr>
          <p:cNvPr id="6" name="Text 4"/>
          <p:cNvSpPr/>
          <p:nvPr/>
        </p:nvSpPr>
        <p:spPr>
          <a:xfrm>
            <a:off x="640080" y="1554480"/>
            <a:ext cx="3474720" cy="274320"/>
          </a:xfrm>
          <a:prstGeom prst="rect">
            <a:avLst/>
          </a:prstGeom>
          <a:noFill/>
          <a:ln/>
        </p:spPr>
        <p:txBody>
          <a:bodyPr wrap="square" rtlCol="0" anchor="ctr"/>
          <a:lstStyle/>
          <a:p>
            <a:pPr marL="0" indent="0">
              <a:buNone/>
            </a:pPr>
            <a:r>
              <a:rPr lang="en-US" sz="1000" b="1" kern="0" spc="100" dirty="0">
                <a:solidFill>
                  <a:srgbClr val="5A7080"/>
                </a:solidFill>
              </a:rPr>
              <a:t>T h e  c h a l l e n g e</a:t>
            </a:r>
            <a:endParaRPr lang="en-US" sz="1000" dirty="0"/>
          </a:p>
        </p:txBody>
      </p:sp>
      <p:sp>
        <p:nvSpPr>
          <p:cNvPr id="7" name="Text 5"/>
          <p:cNvSpPr/>
          <p:nvPr/>
        </p:nvSpPr>
        <p:spPr>
          <a:xfrm>
            <a:off x="640080" y="1920240"/>
            <a:ext cx="3474720" cy="274320"/>
          </a:xfrm>
          <a:prstGeom prst="rect">
            <a:avLst/>
          </a:prstGeom>
          <a:noFill/>
          <a:ln/>
        </p:spPr>
        <p:txBody>
          <a:bodyPr wrap="square" rtlCol="0" anchor="ctr"/>
          <a:lstStyle/>
          <a:p>
            <a:pPr marL="0" indent="0">
              <a:buNone/>
            </a:pPr>
            <a:r>
              <a:rPr lang="en-US" sz="1300" dirty="0">
                <a:solidFill>
                  <a:srgbClr val="2C3E50"/>
                </a:solidFill>
              </a:rPr>
              <a:t>Mistral-7B has</a:t>
            </a:r>
            <a:endParaRPr lang="en-US" sz="1300" dirty="0"/>
          </a:p>
        </p:txBody>
      </p:sp>
      <p:sp>
        <p:nvSpPr>
          <p:cNvPr id="8" name="Text 6"/>
          <p:cNvSpPr/>
          <p:nvPr/>
        </p:nvSpPr>
        <p:spPr>
          <a:xfrm>
            <a:off x="640080" y="2212848"/>
            <a:ext cx="3474720" cy="685800"/>
          </a:xfrm>
          <a:prstGeom prst="rect">
            <a:avLst/>
          </a:prstGeom>
          <a:noFill/>
          <a:ln/>
        </p:spPr>
        <p:txBody>
          <a:bodyPr wrap="square" rtlCol="0" anchor="ctr"/>
          <a:lstStyle/>
          <a:p>
            <a:pPr marL="0" indent="0" algn="ctr">
              <a:buNone/>
            </a:pPr>
            <a:r>
              <a:rPr lang="en-US" sz="3600" b="1" dirty="0">
                <a:solidFill>
                  <a:srgbClr val="0D2B5E"/>
                </a:solidFill>
              </a:rPr>
              <a:t>7,000,000,000</a:t>
            </a:r>
            <a:endParaRPr lang="en-US" sz="3600" dirty="0"/>
          </a:p>
        </p:txBody>
      </p:sp>
      <p:sp>
        <p:nvSpPr>
          <p:cNvPr id="9" name="Text 7"/>
          <p:cNvSpPr/>
          <p:nvPr/>
        </p:nvSpPr>
        <p:spPr>
          <a:xfrm>
            <a:off x="640080" y="2944368"/>
            <a:ext cx="3474720" cy="640080"/>
          </a:xfrm>
          <a:prstGeom prst="rect">
            <a:avLst/>
          </a:prstGeom>
          <a:noFill/>
          <a:ln/>
        </p:spPr>
        <p:txBody>
          <a:bodyPr wrap="square" rtlCol="0" anchor="ctr"/>
          <a:lstStyle/>
          <a:p>
            <a:pPr marL="0" indent="0">
              <a:buNone/>
            </a:pPr>
            <a:r>
              <a:rPr lang="en-US" sz="1200" dirty="0">
                <a:solidFill>
                  <a:srgbClr val="2C3E50"/>
                </a:solidFill>
              </a:rPr>
              <a:t>parameters. Full fine-tuning is infeasible on consumer hardware.</a:t>
            </a:r>
            <a:endParaRPr lang="en-US" sz="1200" dirty="0"/>
          </a:p>
        </p:txBody>
      </p:sp>
      <p:sp>
        <p:nvSpPr>
          <p:cNvPr id="10" name="Shape 8"/>
          <p:cNvSpPr/>
          <p:nvPr/>
        </p:nvSpPr>
        <p:spPr>
          <a:xfrm>
            <a:off x="4663440" y="1417320"/>
            <a:ext cx="4023360" cy="3200400"/>
          </a:xfrm>
          <a:prstGeom prst="rect">
            <a:avLst/>
          </a:prstGeom>
          <a:solidFill>
            <a:srgbClr val="EEF3F8"/>
          </a:solidFill>
          <a:ln w="9525">
            <a:solidFill>
              <a:srgbClr val="D0DCE8"/>
            </a:solidFill>
            <a:prstDash val="solid"/>
          </a:ln>
        </p:spPr>
        <p:txBody>
          <a:bodyPr/>
          <a:lstStyle/>
          <a:p>
            <a:endParaRPr lang="en-US"/>
          </a:p>
        </p:txBody>
      </p:sp>
      <p:sp>
        <p:nvSpPr>
          <p:cNvPr id="11" name="Text 9"/>
          <p:cNvSpPr/>
          <p:nvPr/>
        </p:nvSpPr>
        <p:spPr>
          <a:xfrm>
            <a:off x="4846320" y="1554480"/>
            <a:ext cx="3657600" cy="274320"/>
          </a:xfrm>
          <a:prstGeom prst="rect">
            <a:avLst/>
          </a:prstGeom>
          <a:noFill/>
          <a:ln/>
        </p:spPr>
        <p:txBody>
          <a:bodyPr wrap="square" rtlCol="0" anchor="ctr"/>
          <a:lstStyle/>
          <a:p>
            <a:pPr marL="0" indent="0">
              <a:buNone/>
            </a:pPr>
            <a:r>
              <a:rPr lang="en-US" sz="1000" b="1" kern="0" spc="100" dirty="0">
                <a:solidFill>
                  <a:srgbClr val="5A7080"/>
                </a:solidFill>
              </a:rPr>
              <a:t>T h e  L o R A  f i x  ( H u  e t  a l . ,  2 0 2 1 )</a:t>
            </a:r>
            <a:endParaRPr lang="en-US" sz="1000" dirty="0"/>
          </a:p>
        </p:txBody>
      </p:sp>
      <p:sp>
        <p:nvSpPr>
          <p:cNvPr id="12" name="Text 10"/>
          <p:cNvSpPr/>
          <p:nvPr/>
        </p:nvSpPr>
        <p:spPr>
          <a:xfrm>
            <a:off x="4846320" y="1920240"/>
            <a:ext cx="3657600" cy="274320"/>
          </a:xfrm>
          <a:prstGeom prst="rect">
            <a:avLst/>
          </a:prstGeom>
          <a:noFill/>
          <a:ln/>
        </p:spPr>
        <p:txBody>
          <a:bodyPr wrap="square" rtlCol="0" anchor="ctr"/>
          <a:lstStyle/>
          <a:p>
            <a:pPr marL="0" indent="0">
              <a:buNone/>
            </a:pPr>
            <a:r>
              <a:rPr lang="en-US" sz="1300" dirty="0">
                <a:solidFill>
                  <a:srgbClr val="2C3E50"/>
                </a:solidFill>
              </a:rPr>
              <a:t>Train just</a:t>
            </a:r>
            <a:endParaRPr lang="en-US" sz="1300" dirty="0"/>
          </a:p>
        </p:txBody>
      </p:sp>
      <p:sp>
        <p:nvSpPr>
          <p:cNvPr id="13" name="Text 11"/>
          <p:cNvSpPr/>
          <p:nvPr/>
        </p:nvSpPr>
        <p:spPr>
          <a:xfrm>
            <a:off x="4846320" y="2212848"/>
            <a:ext cx="3657600" cy="685800"/>
          </a:xfrm>
          <a:prstGeom prst="rect">
            <a:avLst/>
          </a:prstGeom>
          <a:noFill/>
          <a:ln/>
        </p:spPr>
        <p:txBody>
          <a:bodyPr wrap="square" rtlCol="0" anchor="ctr"/>
          <a:lstStyle/>
          <a:p>
            <a:pPr marL="0" indent="0" algn="ctr">
              <a:buNone/>
            </a:pPr>
            <a:r>
              <a:rPr lang="en-US" sz="3600" b="1" dirty="0">
                <a:solidFill>
                  <a:srgbClr val="1A6B8A"/>
                </a:solidFill>
              </a:rPr>
              <a:t>3,407,872</a:t>
            </a:r>
            <a:endParaRPr lang="en-US" sz="3600" dirty="0"/>
          </a:p>
        </p:txBody>
      </p:sp>
      <p:sp>
        <p:nvSpPr>
          <p:cNvPr id="14" name="Text 12"/>
          <p:cNvSpPr/>
          <p:nvPr/>
        </p:nvSpPr>
        <p:spPr>
          <a:xfrm>
            <a:off x="4846320" y="2944368"/>
            <a:ext cx="3657600" cy="411480"/>
          </a:xfrm>
          <a:prstGeom prst="rect">
            <a:avLst/>
          </a:prstGeom>
          <a:noFill/>
          <a:ln/>
        </p:spPr>
        <p:txBody>
          <a:bodyPr wrap="square" rtlCol="0" anchor="ctr"/>
          <a:lstStyle/>
          <a:p>
            <a:pPr marL="0" indent="0">
              <a:buNone/>
            </a:pPr>
            <a:r>
              <a:rPr lang="en-US" sz="1200" dirty="0">
                <a:solidFill>
                  <a:srgbClr val="2C3E50"/>
                </a:solidFill>
              </a:rPr>
              <a:t>low-rank adapter parameters — 0.09% of the model.</a:t>
            </a:r>
            <a:endParaRPr lang="en-US" sz="1200" dirty="0"/>
          </a:p>
        </p:txBody>
      </p:sp>
      <p:sp>
        <p:nvSpPr>
          <p:cNvPr id="15" name="Text 13"/>
          <p:cNvSpPr/>
          <p:nvPr/>
        </p:nvSpPr>
        <p:spPr>
          <a:xfrm>
            <a:off x="4846320" y="3401568"/>
            <a:ext cx="3657600" cy="548640"/>
          </a:xfrm>
          <a:prstGeom prst="rect">
            <a:avLst/>
          </a:prstGeom>
          <a:noFill/>
          <a:ln/>
        </p:spPr>
        <p:txBody>
          <a:bodyPr wrap="square" rtlCol="0" anchor="ctr"/>
          <a:lstStyle/>
          <a:p>
            <a:pPr marL="0" indent="0">
              <a:buNone/>
            </a:pPr>
            <a:r>
              <a:rPr lang="en-US" sz="1100" i="1" dirty="0">
                <a:solidFill>
                  <a:srgbClr val="1A6B8A"/>
                </a:solidFill>
              </a:rPr>
              <a:t>How? Inject small trainable rank-8 matrices into the attention layers; freeze the rest.</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164592"/>
            <a:ext cx="8229600" cy="256032"/>
          </a:xfrm>
          <a:prstGeom prst="rect">
            <a:avLst/>
          </a:prstGeom>
          <a:noFill/>
          <a:ln/>
        </p:spPr>
        <p:txBody>
          <a:bodyPr wrap="square" rtlCol="0" anchor="ctr"/>
          <a:lstStyle/>
          <a:p>
            <a:pPr marL="0" indent="0" algn="l">
              <a:buNone/>
            </a:pPr>
            <a:r>
              <a:rPr lang="en-US" sz="900" b="1" kern="0" spc="300" dirty="0">
                <a:solidFill>
                  <a:srgbClr val="2E8BAE"/>
                </a:solidFill>
              </a:rPr>
              <a:t>I M P L E M E N T A T I O N</a:t>
            </a:r>
            <a:endParaRPr lang="en-US" sz="900" dirty="0"/>
          </a:p>
        </p:txBody>
      </p:sp>
      <p:sp>
        <p:nvSpPr>
          <p:cNvPr id="3" name="Text 1"/>
          <p:cNvSpPr/>
          <p:nvPr/>
        </p:nvSpPr>
        <p:spPr>
          <a:xfrm>
            <a:off x="7863840" y="164592"/>
            <a:ext cx="1097280" cy="256032"/>
          </a:xfrm>
          <a:prstGeom prst="rect">
            <a:avLst/>
          </a:prstGeom>
          <a:noFill/>
          <a:ln/>
        </p:spPr>
        <p:txBody>
          <a:bodyPr wrap="square" rtlCol="0" anchor="ctr"/>
          <a:lstStyle/>
          <a:p>
            <a:pPr marL="0" indent="0" algn="r">
              <a:buNone/>
            </a:pPr>
            <a:r>
              <a:rPr lang="en-US" sz="900" dirty="0">
                <a:solidFill>
                  <a:srgbClr val="5A7080"/>
                </a:solidFill>
              </a:rPr>
              <a:t>6 / 17</a:t>
            </a:r>
            <a:endParaRPr lang="en-US" sz="900" dirty="0"/>
          </a:p>
        </p:txBody>
      </p:sp>
      <p:sp>
        <p:nvSpPr>
          <p:cNvPr id="4" name="Text 2"/>
          <p:cNvSpPr/>
          <p:nvPr/>
        </p:nvSpPr>
        <p:spPr>
          <a:xfrm>
            <a:off x="457200" y="502920"/>
            <a:ext cx="8229600" cy="777240"/>
          </a:xfrm>
          <a:prstGeom prst="rect">
            <a:avLst/>
          </a:prstGeom>
          <a:noFill/>
          <a:ln/>
        </p:spPr>
        <p:txBody>
          <a:bodyPr wrap="square" rtlCol="0" anchor="ctr"/>
          <a:lstStyle/>
          <a:p>
            <a:pPr marL="0" indent="0" algn="l">
              <a:buNone/>
            </a:pPr>
            <a:r>
              <a:rPr lang="en-US" sz="3000" b="1" dirty="0">
                <a:solidFill>
                  <a:srgbClr val="0D2B5E"/>
                </a:solidFill>
                <a:latin typeface="Calibri" pitchFamily="34" charset="0"/>
                <a:ea typeface="Calibri" pitchFamily="34" charset="-122"/>
                <a:cs typeface="Calibri" pitchFamily="34" charset="-120"/>
              </a:rPr>
              <a:t>What we built</a:t>
            </a:r>
            <a:endParaRPr lang="en-US" sz="3000" dirty="0"/>
          </a:p>
        </p:txBody>
      </p:sp>
      <p:sp>
        <p:nvSpPr>
          <p:cNvPr id="5" name="Shape 3"/>
          <p:cNvSpPr/>
          <p:nvPr/>
        </p:nvSpPr>
        <p:spPr>
          <a:xfrm>
            <a:off x="365760" y="1389888"/>
            <a:ext cx="2743200" cy="3337560"/>
          </a:xfrm>
          <a:prstGeom prst="rect">
            <a:avLst/>
          </a:prstGeom>
          <a:solidFill>
            <a:srgbClr val="EEF3F8"/>
          </a:solidFill>
          <a:ln w="9525">
            <a:solidFill>
              <a:srgbClr val="D0DCE8"/>
            </a:solidFill>
            <a:prstDash val="solid"/>
          </a:ln>
        </p:spPr>
        <p:txBody>
          <a:bodyPr/>
          <a:lstStyle/>
          <a:p>
            <a:endParaRPr lang="en-US"/>
          </a:p>
        </p:txBody>
      </p:sp>
      <p:sp>
        <p:nvSpPr>
          <p:cNvPr id="6" name="Shape 4"/>
          <p:cNvSpPr/>
          <p:nvPr/>
        </p:nvSpPr>
        <p:spPr>
          <a:xfrm>
            <a:off x="365760" y="1389888"/>
            <a:ext cx="2743200" cy="109728"/>
          </a:xfrm>
          <a:prstGeom prst="rect">
            <a:avLst/>
          </a:prstGeom>
          <a:solidFill>
            <a:srgbClr val="1A6B8A"/>
          </a:solidFill>
          <a:ln w="12700">
            <a:solidFill>
              <a:srgbClr val="1A6B8A"/>
            </a:solidFill>
            <a:prstDash val="solid"/>
          </a:ln>
        </p:spPr>
        <p:txBody>
          <a:bodyPr/>
          <a:lstStyle/>
          <a:p>
            <a:endParaRPr lang="en-US"/>
          </a:p>
        </p:txBody>
      </p:sp>
      <p:pic>
        <p:nvPicPr>
          <p:cNvPr id="7" name="Image 0" descr="preencoded.png"/>
          <p:cNvPicPr>
            <a:picLocks noChangeAspect="1"/>
          </p:cNvPicPr>
          <p:nvPr/>
        </p:nvPicPr>
        <p:blipFill>
          <a:blip r:embed="rId3"/>
          <a:stretch>
            <a:fillRect/>
          </a:stretch>
        </p:blipFill>
        <p:spPr>
          <a:xfrm>
            <a:off x="475488" y="1554480"/>
            <a:ext cx="457200" cy="457200"/>
          </a:xfrm>
          <a:prstGeom prst="rect">
            <a:avLst/>
          </a:prstGeom>
        </p:spPr>
      </p:pic>
      <p:sp>
        <p:nvSpPr>
          <p:cNvPr id="8" name="Text 5"/>
          <p:cNvSpPr/>
          <p:nvPr/>
        </p:nvSpPr>
        <p:spPr>
          <a:xfrm>
            <a:off x="1005840" y="1572768"/>
            <a:ext cx="2011680" cy="438912"/>
          </a:xfrm>
          <a:prstGeom prst="rect">
            <a:avLst/>
          </a:prstGeom>
          <a:noFill/>
          <a:ln/>
        </p:spPr>
        <p:txBody>
          <a:bodyPr wrap="square" rtlCol="0" anchor="ctr"/>
          <a:lstStyle/>
          <a:p>
            <a:pPr marL="0" indent="0">
              <a:buNone/>
            </a:pPr>
            <a:r>
              <a:rPr lang="en-US" sz="1400" b="1" dirty="0">
                <a:solidFill>
                  <a:srgbClr val="0D2B5E"/>
                </a:solidFill>
              </a:rPr>
              <a:t>Retriever</a:t>
            </a:r>
            <a:endParaRPr lang="en-US" sz="1400" dirty="0"/>
          </a:p>
        </p:txBody>
      </p:sp>
      <p:sp>
        <p:nvSpPr>
          <p:cNvPr id="9" name="Text 6"/>
          <p:cNvSpPr/>
          <p:nvPr/>
        </p:nvSpPr>
        <p:spPr>
          <a:xfrm>
            <a:off x="475488" y="2103120"/>
            <a:ext cx="2514600" cy="2423160"/>
          </a:xfrm>
          <a:prstGeom prst="rect">
            <a:avLst/>
          </a:prstGeom>
          <a:noFill/>
          <a:ln/>
        </p:spPr>
        <p:txBody>
          <a:bodyPr wrap="square" rtlCol="0" anchor="ctr"/>
          <a:lstStyle/>
          <a:p>
            <a:pPr marL="342900" indent="-342900">
              <a:buSzPct val="100000"/>
              <a:buChar char="•"/>
            </a:pPr>
            <a:r>
              <a:rPr lang="en-US" sz="1000" dirty="0">
                <a:solidFill>
                  <a:srgbClr val="2C3E50"/>
                </a:solidFill>
              </a:rPr>
              <a:t>sentence-transformers/all-MiniLM-L6-v2</a:t>
            </a:r>
            <a:endParaRPr lang="en-US" sz="1000" dirty="0"/>
          </a:p>
          <a:p>
            <a:pPr marL="342900" indent="-342900">
              <a:buSzPct val="100000"/>
              <a:buChar char="•"/>
            </a:pPr>
            <a:r>
              <a:rPr lang="en-US" sz="1000" dirty="0">
                <a:solidFill>
                  <a:srgbClr val="2C3E50"/>
                </a:solidFill>
              </a:rPr>
              <a:t>384-dim dense embeddings</a:t>
            </a:r>
            <a:endParaRPr lang="en-US" sz="1000" dirty="0"/>
          </a:p>
          <a:p>
            <a:pPr marL="342900" indent="-342900">
              <a:buSzPct val="100000"/>
              <a:buChar char="•"/>
            </a:pPr>
            <a:r>
              <a:rPr lang="en-US" sz="1000" dirty="0">
                <a:solidFill>
                  <a:srgbClr val="2C3E50"/>
                </a:solidFill>
              </a:rPr>
              <a:t>FAISS IndexFlatIP (cosine similarity)</a:t>
            </a:r>
            <a:endParaRPr lang="en-US" sz="1000" dirty="0"/>
          </a:p>
          <a:p>
            <a:pPr marL="342900" indent="-342900">
              <a:buSzPct val="100000"/>
              <a:buChar char="•"/>
            </a:pPr>
            <a:r>
              <a:rPr lang="en-US" sz="1000" dirty="0">
                <a:solidFill>
                  <a:srgbClr val="2C3E50"/>
                </a:solidFill>
              </a:rPr>
              <a:t>525,731 Wikipedia passages</a:t>
            </a:r>
            <a:endParaRPr lang="en-US" sz="1000" dirty="0"/>
          </a:p>
          <a:p>
            <a:pPr marL="342900" indent="-342900">
              <a:buSzPct val="100000"/>
              <a:buChar char="•"/>
            </a:pPr>
            <a:r>
              <a:rPr lang="en-US" sz="1000" dirty="0">
                <a:solidFill>
                  <a:srgbClr val="2C3E50"/>
                </a:solidFill>
              </a:rPr>
              <a:t>~20 ms per query latency</a:t>
            </a:r>
            <a:endParaRPr lang="en-US" sz="1000" dirty="0"/>
          </a:p>
        </p:txBody>
      </p:sp>
      <p:sp>
        <p:nvSpPr>
          <p:cNvPr id="10" name="Shape 7"/>
          <p:cNvSpPr/>
          <p:nvPr/>
        </p:nvSpPr>
        <p:spPr>
          <a:xfrm>
            <a:off x="3273552" y="1389888"/>
            <a:ext cx="2743200" cy="3337560"/>
          </a:xfrm>
          <a:prstGeom prst="rect">
            <a:avLst/>
          </a:prstGeom>
          <a:solidFill>
            <a:srgbClr val="EEF3F8"/>
          </a:solidFill>
          <a:ln w="9525">
            <a:solidFill>
              <a:srgbClr val="D0DCE8"/>
            </a:solidFill>
            <a:prstDash val="solid"/>
          </a:ln>
        </p:spPr>
        <p:txBody>
          <a:bodyPr/>
          <a:lstStyle/>
          <a:p>
            <a:endParaRPr lang="en-US"/>
          </a:p>
        </p:txBody>
      </p:sp>
      <p:sp>
        <p:nvSpPr>
          <p:cNvPr id="11" name="Shape 8"/>
          <p:cNvSpPr/>
          <p:nvPr/>
        </p:nvSpPr>
        <p:spPr>
          <a:xfrm>
            <a:off x="3273552" y="1389888"/>
            <a:ext cx="2743200" cy="109728"/>
          </a:xfrm>
          <a:prstGeom prst="rect">
            <a:avLst/>
          </a:prstGeom>
          <a:solidFill>
            <a:srgbClr val="1A6B8A"/>
          </a:solidFill>
          <a:ln w="12700">
            <a:solidFill>
              <a:srgbClr val="1A6B8A"/>
            </a:solidFill>
            <a:prstDash val="solid"/>
          </a:ln>
        </p:spPr>
        <p:txBody>
          <a:bodyPr/>
          <a:lstStyle/>
          <a:p>
            <a:endParaRPr lang="en-US"/>
          </a:p>
        </p:txBody>
      </p:sp>
      <p:pic>
        <p:nvPicPr>
          <p:cNvPr id="12" name="Image 1" descr="preencoded.png"/>
          <p:cNvPicPr>
            <a:picLocks noChangeAspect="1"/>
          </p:cNvPicPr>
          <p:nvPr/>
        </p:nvPicPr>
        <p:blipFill>
          <a:blip r:embed="rId4"/>
          <a:stretch>
            <a:fillRect/>
          </a:stretch>
        </p:blipFill>
        <p:spPr>
          <a:xfrm>
            <a:off x="3383280" y="1554480"/>
            <a:ext cx="457200" cy="457200"/>
          </a:xfrm>
          <a:prstGeom prst="rect">
            <a:avLst/>
          </a:prstGeom>
        </p:spPr>
      </p:pic>
      <p:sp>
        <p:nvSpPr>
          <p:cNvPr id="13" name="Text 9"/>
          <p:cNvSpPr/>
          <p:nvPr/>
        </p:nvSpPr>
        <p:spPr>
          <a:xfrm>
            <a:off x="3913632" y="1572768"/>
            <a:ext cx="2011680" cy="438912"/>
          </a:xfrm>
          <a:prstGeom prst="rect">
            <a:avLst/>
          </a:prstGeom>
          <a:noFill/>
          <a:ln/>
        </p:spPr>
        <p:txBody>
          <a:bodyPr wrap="square" rtlCol="0" anchor="ctr"/>
          <a:lstStyle/>
          <a:p>
            <a:pPr marL="0" indent="0">
              <a:buNone/>
            </a:pPr>
            <a:r>
              <a:rPr lang="en-US" sz="1400" b="1" dirty="0">
                <a:solidFill>
                  <a:srgbClr val="0D2B5E"/>
                </a:solidFill>
              </a:rPr>
              <a:t>Generator</a:t>
            </a:r>
            <a:endParaRPr lang="en-US" sz="1400" dirty="0"/>
          </a:p>
        </p:txBody>
      </p:sp>
      <p:sp>
        <p:nvSpPr>
          <p:cNvPr id="14" name="Text 10"/>
          <p:cNvSpPr/>
          <p:nvPr/>
        </p:nvSpPr>
        <p:spPr>
          <a:xfrm>
            <a:off x="3383280" y="2103120"/>
            <a:ext cx="2514600" cy="2423160"/>
          </a:xfrm>
          <a:prstGeom prst="rect">
            <a:avLst/>
          </a:prstGeom>
          <a:noFill/>
          <a:ln/>
        </p:spPr>
        <p:txBody>
          <a:bodyPr wrap="square" rtlCol="0" anchor="ctr"/>
          <a:lstStyle/>
          <a:p>
            <a:pPr marL="342900" indent="-342900">
              <a:buSzPct val="100000"/>
              <a:buChar char="•"/>
            </a:pPr>
            <a:r>
              <a:rPr lang="en-US" sz="1000" dirty="0">
                <a:solidFill>
                  <a:srgbClr val="2C3E50"/>
                </a:solidFill>
              </a:rPr>
              <a:t>Mistral-7B-Instruct-v0.2</a:t>
            </a:r>
            <a:endParaRPr lang="en-US" sz="1000" dirty="0"/>
          </a:p>
          <a:p>
            <a:pPr marL="342900" indent="-342900">
              <a:buSzPct val="100000"/>
              <a:buChar char="•"/>
            </a:pPr>
            <a:r>
              <a:rPr lang="en-US" sz="1000" dirty="0">
                <a:solidFill>
                  <a:srgbClr val="2C3E50"/>
                </a:solidFill>
              </a:rPr>
              <a:t>4-bit NF4 quantization (bitsandbytes)</a:t>
            </a:r>
            <a:endParaRPr lang="en-US" sz="1000" dirty="0"/>
          </a:p>
          <a:p>
            <a:pPr marL="342900" indent="-342900">
              <a:buSzPct val="100000"/>
              <a:buChar char="•"/>
            </a:pPr>
            <a:r>
              <a:rPr lang="en-US" sz="1000" dirty="0">
                <a:solidFill>
                  <a:srgbClr val="2C3E50"/>
                </a:solidFill>
              </a:rPr>
              <a:t>~5 GB GPU memory after quant</a:t>
            </a:r>
            <a:endParaRPr lang="en-US" sz="1000" dirty="0"/>
          </a:p>
          <a:p>
            <a:pPr marL="342900" indent="-342900">
              <a:buSzPct val="100000"/>
              <a:buChar char="•"/>
            </a:pPr>
            <a:r>
              <a:rPr lang="en-US" sz="1000" dirty="0">
                <a:solidFill>
                  <a:srgbClr val="2C3E50"/>
                </a:solidFill>
              </a:rPr>
              <a:t>Greedy decoding for reproducibility</a:t>
            </a:r>
            <a:endParaRPr lang="en-US" sz="1000" dirty="0"/>
          </a:p>
          <a:p>
            <a:pPr marL="342900" indent="-342900">
              <a:buSzPct val="100000"/>
              <a:buChar char="•"/>
            </a:pPr>
            <a:r>
              <a:rPr lang="en-US" sz="1000" dirty="0">
                <a:solidFill>
                  <a:srgbClr val="2C3E50"/>
                </a:solidFill>
              </a:rPr>
              <a:t>max_new_tokens = 60 for RAG</a:t>
            </a:r>
            <a:endParaRPr lang="en-US" sz="1000" dirty="0"/>
          </a:p>
        </p:txBody>
      </p:sp>
      <p:sp>
        <p:nvSpPr>
          <p:cNvPr id="15" name="Shape 11"/>
          <p:cNvSpPr/>
          <p:nvPr/>
        </p:nvSpPr>
        <p:spPr>
          <a:xfrm>
            <a:off x="6181344" y="1389888"/>
            <a:ext cx="2743200" cy="3337560"/>
          </a:xfrm>
          <a:prstGeom prst="rect">
            <a:avLst/>
          </a:prstGeom>
          <a:solidFill>
            <a:srgbClr val="EEF3F8"/>
          </a:solidFill>
          <a:ln w="9525">
            <a:solidFill>
              <a:srgbClr val="D0DCE8"/>
            </a:solidFill>
            <a:prstDash val="solid"/>
          </a:ln>
        </p:spPr>
        <p:txBody>
          <a:bodyPr/>
          <a:lstStyle/>
          <a:p>
            <a:endParaRPr lang="en-US"/>
          </a:p>
        </p:txBody>
      </p:sp>
      <p:sp>
        <p:nvSpPr>
          <p:cNvPr id="16" name="Shape 12"/>
          <p:cNvSpPr/>
          <p:nvPr/>
        </p:nvSpPr>
        <p:spPr>
          <a:xfrm>
            <a:off x="6181344" y="1389888"/>
            <a:ext cx="2743200" cy="109728"/>
          </a:xfrm>
          <a:prstGeom prst="rect">
            <a:avLst/>
          </a:prstGeom>
          <a:solidFill>
            <a:srgbClr val="E8842A"/>
          </a:solidFill>
          <a:ln w="12700">
            <a:solidFill>
              <a:srgbClr val="E8842A"/>
            </a:solidFill>
            <a:prstDash val="solid"/>
          </a:ln>
        </p:spPr>
        <p:txBody>
          <a:bodyPr/>
          <a:lstStyle/>
          <a:p>
            <a:endParaRPr lang="en-US"/>
          </a:p>
        </p:txBody>
      </p:sp>
      <p:pic>
        <p:nvPicPr>
          <p:cNvPr id="17" name="Image 2" descr="preencoded.png"/>
          <p:cNvPicPr>
            <a:picLocks noChangeAspect="1"/>
          </p:cNvPicPr>
          <p:nvPr/>
        </p:nvPicPr>
        <p:blipFill>
          <a:blip r:embed="rId5"/>
          <a:stretch>
            <a:fillRect/>
          </a:stretch>
        </p:blipFill>
        <p:spPr>
          <a:xfrm>
            <a:off x="6291072" y="1554480"/>
            <a:ext cx="457200" cy="457200"/>
          </a:xfrm>
          <a:prstGeom prst="rect">
            <a:avLst/>
          </a:prstGeom>
        </p:spPr>
      </p:pic>
      <p:sp>
        <p:nvSpPr>
          <p:cNvPr id="18" name="Text 13"/>
          <p:cNvSpPr/>
          <p:nvPr/>
        </p:nvSpPr>
        <p:spPr>
          <a:xfrm>
            <a:off x="6821424" y="1572768"/>
            <a:ext cx="2011680" cy="438912"/>
          </a:xfrm>
          <a:prstGeom prst="rect">
            <a:avLst/>
          </a:prstGeom>
          <a:noFill/>
          <a:ln/>
        </p:spPr>
        <p:txBody>
          <a:bodyPr wrap="square" rtlCol="0" anchor="ctr"/>
          <a:lstStyle/>
          <a:p>
            <a:pPr marL="0" indent="0">
              <a:buNone/>
            </a:pPr>
            <a:r>
              <a:rPr lang="en-US" sz="1400" b="1" dirty="0">
                <a:solidFill>
                  <a:srgbClr val="0D2B5E"/>
                </a:solidFill>
              </a:rPr>
              <a:t>LoRA Fine-Tuning</a:t>
            </a:r>
            <a:endParaRPr lang="en-US" sz="1400" dirty="0"/>
          </a:p>
        </p:txBody>
      </p:sp>
      <p:sp>
        <p:nvSpPr>
          <p:cNvPr id="19" name="Text 14"/>
          <p:cNvSpPr/>
          <p:nvPr/>
        </p:nvSpPr>
        <p:spPr>
          <a:xfrm>
            <a:off x="6291072" y="2103120"/>
            <a:ext cx="2514600" cy="2423160"/>
          </a:xfrm>
          <a:prstGeom prst="rect">
            <a:avLst/>
          </a:prstGeom>
          <a:noFill/>
          <a:ln/>
        </p:spPr>
        <p:txBody>
          <a:bodyPr wrap="square" rtlCol="0" anchor="ctr"/>
          <a:lstStyle/>
          <a:p>
            <a:pPr marL="342900" indent="-342900">
              <a:buSzPct val="100000"/>
              <a:buChar char="•"/>
            </a:pPr>
            <a:r>
              <a:rPr lang="en-US" sz="1000" dirty="0">
                <a:solidFill>
                  <a:srgbClr val="2C3E50"/>
                </a:solidFill>
              </a:rPr>
              <a:t>PEFT library + TRL SFT trainer</a:t>
            </a:r>
            <a:endParaRPr lang="en-US" sz="1000" dirty="0"/>
          </a:p>
          <a:p>
            <a:pPr marL="342900" indent="-342900">
              <a:buSzPct val="100000"/>
              <a:buChar char="•"/>
            </a:pPr>
            <a:r>
              <a:rPr lang="en-US" sz="1000" dirty="0">
                <a:solidFill>
                  <a:srgbClr val="2C3E50"/>
                </a:solidFill>
              </a:rPr>
              <a:t>Rank 8, alpha 16, dropout 0.05</a:t>
            </a:r>
            <a:endParaRPr lang="en-US" sz="1000" dirty="0"/>
          </a:p>
          <a:p>
            <a:pPr marL="342900" indent="-342900">
              <a:buSzPct val="100000"/>
              <a:buChar char="•"/>
            </a:pPr>
            <a:r>
              <a:rPr lang="en-US" sz="1000" dirty="0">
                <a:solidFill>
                  <a:srgbClr val="2C3E50"/>
                </a:solidFill>
              </a:rPr>
              <a:t>Targets: q_proj, v_proj</a:t>
            </a:r>
            <a:endParaRPr lang="en-US" sz="1000" dirty="0"/>
          </a:p>
          <a:p>
            <a:pPr marL="342900" indent="-342900">
              <a:buSzPct val="100000"/>
              <a:buChar char="•"/>
            </a:pPr>
            <a:r>
              <a:rPr lang="en-US" sz="1000" dirty="0">
                <a:solidFill>
                  <a:srgbClr val="2C3E50"/>
                </a:solidFill>
              </a:rPr>
              <a:t>10,000 TriviaQA training examples</a:t>
            </a:r>
            <a:endParaRPr lang="en-US" sz="1000" dirty="0"/>
          </a:p>
          <a:p>
            <a:pPr marL="342900" indent="-342900">
              <a:buSzPct val="100000"/>
              <a:buChar char="•"/>
            </a:pPr>
            <a:r>
              <a:rPr lang="en-US" sz="1000" dirty="0">
                <a:solidFill>
                  <a:srgbClr val="2C3E50"/>
                </a:solidFill>
              </a:rPr>
              <a:t>Paged 8-bit AdamW optimizer</a:t>
            </a:r>
            <a:endParaRPr lang="en-US" sz="1000" dirty="0"/>
          </a:p>
        </p:txBody>
      </p:sp>
      <p:sp>
        <p:nvSpPr>
          <p:cNvPr id="20" name="Text 15"/>
          <p:cNvSpPr/>
          <p:nvPr/>
        </p:nvSpPr>
        <p:spPr>
          <a:xfrm>
            <a:off x="365760" y="4754880"/>
            <a:ext cx="8412480" cy="320040"/>
          </a:xfrm>
          <a:prstGeom prst="rect">
            <a:avLst/>
          </a:prstGeom>
          <a:noFill/>
          <a:ln/>
        </p:spPr>
        <p:txBody>
          <a:bodyPr wrap="square" rtlCol="0" anchor="ctr"/>
          <a:lstStyle/>
          <a:p>
            <a:pPr marL="0" indent="0">
              <a:buNone/>
            </a:pPr>
            <a:r>
              <a:rPr lang="en-US" sz="850" i="1" dirty="0">
                <a:solidFill>
                  <a:srgbClr val="5A7080"/>
                </a:solidFill>
              </a:rPr>
              <a:t>Dataset: TriviaQA (Joshi et al., 2017) — fixed 500-question sample from validation, seed=42.   Metrics: SQuAD-style Exact Match, Substring Match, F1 with multi-alias matching.</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164592"/>
            <a:ext cx="8229600" cy="256032"/>
          </a:xfrm>
          <a:prstGeom prst="rect">
            <a:avLst/>
          </a:prstGeom>
          <a:noFill/>
          <a:ln/>
        </p:spPr>
        <p:txBody>
          <a:bodyPr wrap="square" rtlCol="0" anchor="ctr"/>
          <a:lstStyle/>
          <a:p>
            <a:pPr marL="0" indent="0" algn="l">
              <a:buNone/>
            </a:pPr>
            <a:r>
              <a:rPr lang="en-US" sz="900" b="1" kern="0" spc="300" dirty="0">
                <a:solidFill>
                  <a:srgbClr val="2E8BAE"/>
                </a:solidFill>
              </a:rPr>
              <a:t>I M P L E M E N T A T I O N</a:t>
            </a:r>
            <a:endParaRPr lang="en-US" sz="900" dirty="0"/>
          </a:p>
        </p:txBody>
      </p:sp>
      <p:sp>
        <p:nvSpPr>
          <p:cNvPr id="3" name="Text 1"/>
          <p:cNvSpPr/>
          <p:nvPr/>
        </p:nvSpPr>
        <p:spPr>
          <a:xfrm>
            <a:off x="7863840" y="164592"/>
            <a:ext cx="1097280" cy="256032"/>
          </a:xfrm>
          <a:prstGeom prst="rect">
            <a:avLst/>
          </a:prstGeom>
          <a:noFill/>
          <a:ln/>
        </p:spPr>
        <p:txBody>
          <a:bodyPr wrap="square" rtlCol="0" anchor="ctr"/>
          <a:lstStyle/>
          <a:p>
            <a:pPr marL="0" indent="0" algn="r">
              <a:buNone/>
            </a:pPr>
            <a:r>
              <a:rPr lang="en-US" sz="900" dirty="0">
                <a:solidFill>
                  <a:srgbClr val="5A7080"/>
                </a:solidFill>
              </a:rPr>
              <a:t>7 / 17</a:t>
            </a:r>
            <a:endParaRPr lang="en-US" sz="900" dirty="0"/>
          </a:p>
        </p:txBody>
      </p:sp>
      <p:sp>
        <p:nvSpPr>
          <p:cNvPr id="4" name="Text 2"/>
          <p:cNvSpPr/>
          <p:nvPr/>
        </p:nvSpPr>
        <p:spPr>
          <a:xfrm>
            <a:off x="457200" y="502920"/>
            <a:ext cx="8229600" cy="777240"/>
          </a:xfrm>
          <a:prstGeom prst="rect">
            <a:avLst/>
          </a:prstGeom>
          <a:noFill/>
          <a:ln/>
        </p:spPr>
        <p:txBody>
          <a:bodyPr wrap="square" rtlCol="0" anchor="ctr"/>
          <a:lstStyle/>
          <a:p>
            <a:pPr marL="0" indent="0" algn="l">
              <a:buNone/>
            </a:pPr>
            <a:r>
              <a:rPr lang="en-US" sz="3000" b="1" dirty="0">
                <a:solidFill>
                  <a:srgbClr val="0D2B5E"/>
                </a:solidFill>
                <a:latin typeface="Calibri" pitchFamily="34" charset="0"/>
                <a:ea typeface="Calibri" pitchFamily="34" charset="-122"/>
                <a:cs typeface="Calibri" pitchFamily="34" charset="-120"/>
              </a:rPr>
              <a:t>Prompt Templates: How we instruct the model</a:t>
            </a:r>
            <a:endParaRPr lang="en-US" sz="3000" dirty="0"/>
          </a:p>
        </p:txBody>
      </p:sp>
      <p:sp>
        <p:nvSpPr>
          <p:cNvPr id="5" name="Text 3"/>
          <p:cNvSpPr/>
          <p:nvPr/>
        </p:nvSpPr>
        <p:spPr>
          <a:xfrm>
            <a:off x="457200" y="1325880"/>
            <a:ext cx="8229600" cy="292608"/>
          </a:xfrm>
          <a:prstGeom prst="rect">
            <a:avLst/>
          </a:prstGeom>
          <a:noFill/>
          <a:ln/>
        </p:spPr>
        <p:txBody>
          <a:bodyPr wrap="square" rtlCol="0" anchor="ctr"/>
          <a:lstStyle/>
          <a:p>
            <a:pPr marL="0" indent="0">
              <a:buNone/>
            </a:pPr>
            <a:r>
              <a:rPr lang="en-US" sz="1100" i="1" dirty="0">
                <a:solidFill>
                  <a:srgbClr val="5A7080"/>
                </a:solidFill>
              </a:rPr>
              <a:t>Three distinct prompt formats — one per configuration — drive significantly different output behavior.</a:t>
            </a:r>
            <a:endParaRPr lang="en-US" sz="1100" dirty="0"/>
          </a:p>
        </p:txBody>
      </p:sp>
      <p:sp>
        <p:nvSpPr>
          <p:cNvPr id="6" name="Shape 4"/>
          <p:cNvSpPr/>
          <p:nvPr/>
        </p:nvSpPr>
        <p:spPr>
          <a:xfrm>
            <a:off x="347472" y="1719072"/>
            <a:ext cx="2743200" cy="347472"/>
          </a:xfrm>
          <a:prstGeom prst="rect">
            <a:avLst/>
          </a:prstGeom>
          <a:solidFill>
            <a:srgbClr val="1A6B8A"/>
          </a:solidFill>
          <a:ln w="12700">
            <a:solidFill>
              <a:srgbClr val="1A6B8A"/>
            </a:solidFill>
            <a:prstDash val="solid"/>
          </a:ln>
        </p:spPr>
        <p:txBody>
          <a:bodyPr/>
          <a:lstStyle/>
          <a:p>
            <a:endParaRPr lang="en-US"/>
          </a:p>
        </p:txBody>
      </p:sp>
      <p:sp>
        <p:nvSpPr>
          <p:cNvPr id="7" name="Text 5"/>
          <p:cNvSpPr/>
          <p:nvPr/>
        </p:nvSpPr>
        <p:spPr>
          <a:xfrm>
            <a:off x="438912" y="1719072"/>
            <a:ext cx="2560320" cy="347472"/>
          </a:xfrm>
          <a:prstGeom prst="rect">
            <a:avLst/>
          </a:prstGeom>
          <a:noFill/>
          <a:ln/>
        </p:spPr>
        <p:txBody>
          <a:bodyPr wrap="square" rtlCol="0" anchor="ctr"/>
          <a:lstStyle/>
          <a:p>
            <a:pPr marL="0" indent="0">
              <a:buNone/>
            </a:pPr>
            <a:r>
              <a:rPr lang="en-US" sz="1050" b="1" dirty="0">
                <a:solidFill>
                  <a:srgbClr val="FFFFFF"/>
                </a:solidFill>
              </a:rPr>
              <a:t>Baseline 1 — Zero-shot</a:t>
            </a:r>
            <a:endParaRPr lang="en-US" sz="1050" dirty="0"/>
          </a:p>
        </p:txBody>
      </p:sp>
      <p:sp>
        <p:nvSpPr>
          <p:cNvPr id="8" name="Shape 6"/>
          <p:cNvSpPr/>
          <p:nvPr/>
        </p:nvSpPr>
        <p:spPr>
          <a:xfrm>
            <a:off x="347472" y="2066544"/>
            <a:ext cx="2743200" cy="2103120"/>
          </a:xfrm>
          <a:prstGeom prst="rect">
            <a:avLst/>
          </a:prstGeom>
          <a:solidFill>
            <a:srgbClr val="1E2B3C"/>
          </a:solidFill>
          <a:ln w="9525">
            <a:solidFill>
              <a:srgbClr val="334466"/>
            </a:solidFill>
            <a:prstDash val="solid"/>
          </a:ln>
        </p:spPr>
        <p:txBody>
          <a:bodyPr/>
          <a:lstStyle/>
          <a:p>
            <a:endParaRPr lang="en-US"/>
          </a:p>
        </p:txBody>
      </p:sp>
      <p:sp>
        <p:nvSpPr>
          <p:cNvPr id="9" name="Text 7"/>
          <p:cNvSpPr/>
          <p:nvPr/>
        </p:nvSpPr>
        <p:spPr>
          <a:xfrm>
            <a:off x="457200" y="2121408"/>
            <a:ext cx="2523744" cy="1993392"/>
          </a:xfrm>
          <a:prstGeom prst="rect">
            <a:avLst/>
          </a:prstGeom>
          <a:noFill/>
          <a:ln/>
        </p:spPr>
        <p:txBody>
          <a:bodyPr wrap="square" rtlCol="0" anchor="t"/>
          <a:lstStyle/>
          <a:p>
            <a:pPr marL="0" indent="0" algn="l">
              <a:buNone/>
            </a:pPr>
            <a:r>
              <a:rPr lang="en-US" sz="850" dirty="0">
                <a:solidFill>
                  <a:srgbClr val="A8D8F0"/>
                </a:solidFill>
                <a:latin typeface="Courier New" pitchFamily="34" charset="0"/>
                <a:ea typeface="Courier New" pitchFamily="34" charset="-122"/>
                <a:cs typeface="Courier New" pitchFamily="34" charset="-120"/>
              </a:rPr>
              <a:t>[INST] Answer the following</a:t>
            </a:r>
            <a:endParaRPr lang="en-US" sz="850" dirty="0"/>
          </a:p>
          <a:p>
            <a:pPr marL="0" indent="0" algn="l">
              <a:buNone/>
            </a:pPr>
            <a:r>
              <a:rPr lang="en-US" sz="850" dirty="0">
                <a:solidFill>
                  <a:srgbClr val="A8D8F0"/>
                </a:solidFill>
                <a:latin typeface="Courier New" pitchFamily="34" charset="0"/>
                <a:ea typeface="Courier New" pitchFamily="34" charset="-122"/>
                <a:cs typeface="Courier New" pitchFamily="34" charset="-120"/>
              </a:rPr>
              <a:t>question with a short,</a:t>
            </a:r>
            <a:endParaRPr lang="en-US" sz="850" dirty="0"/>
          </a:p>
          <a:p>
            <a:pPr marL="0" indent="0" algn="l">
              <a:buNone/>
            </a:pPr>
            <a:r>
              <a:rPr lang="en-US" sz="850" dirty="0">
                <a:solidFill>
                  <a:srgbClr val="A8D8F0"/>
                </a:solidFill>
                <a:latin typeface="Courier New" pitchFamily="34" charset="0"/>
                <a:ea typeface="Courier New" pitchFamily="34" charset="-122"/>
                <a:cs typeface="Courier New" pitchFamily="34" charset="-120"/>
              </a:rPr>
              <a:t>factual answer.</a:t>
            </a:r>
            <a:endParaRPr lang="en-US" sz="850" dirty="0"/>
          </a:p>
          <a:p>
            <a:pPr marL="0" indent="0" algn="l">
              <a:buNone/>
            </a:pPr>
            <a:endParaRPr lang="en-US" sz="850" dirty="0"/>
          </a:p>
          <a:p>
            <a:pPr marL="0" indent="0" algn="l">
              <a:buNone/>
            </a:pPr>
            <a:r>
              <a:rPr lang="en-US" sz="850" dirty="0">
                <a:solidFill>
                  <a:srgbClr val="A8D8F0"/>
                </a:solidFill>
                <a:latin typeface="Courier New" pitchFamily="34" charset="0"/>
                <a:ea typeface="Courier New" pitchFamily="34" charset="-122"/>
                <a:cs typeface="Courier New" pitchFamily="34" charset="-120"/>
              </a:rPr>
              <a:t>Question: {question}</a:t>
            </a:r>
            <a:endParaRPr lang="en-US" sz="850" dirty="0"/>
          </a:p>
          <a:p>
            <a:pPr marL="0" indent="0" algn="l">
              <a:buNone/>
            </a:pPr>
            <a:r>
              <a:rPr lang="en-US" sz="850" dirty="0">
                <a:solidFill>
                  <a:srgbClr val="A8D8F0"/>
                </a:solidFill>
                <a:latin typeface="Courier New" pitchFamily="34" charset="0"/>
                <a:ea typeface="Courier New" pitchFamily="34" charset="-122"/>
                <a:cs typeface="Courier New" pitchFamily="34" charset="-120"/>
              </a:rPr>
              <a:t>[/INST]</a:t>
            </a:r>
            <a:endParaRPr lang="en-US" sz="850" dirty="0"/>
          </a:p>
        </p:txBody>
      </p:sp>
      <p:sp>
        <p:nvSpPr>
          <p:cNvPr id="10" name="Text 8"/>
          <p:cNvSpPr/>
          <p:nvPr/>
        </p:nvSpPr>
        <p:spPr>
          <a:xfrm>
            <a:off x="393192" y="4224528"/>
            <a:ext cx="2651760" cy="502920"/>
          </a:xfrm>
          <a:prstGeom prst="rect">
            <a:avLst/>
          </a:prstGeom>
          <a:noFill/>
          <a:ln/>
        </p:spPr>
        <p:txBody>
          <a:bodyPr wrap="square" rtlCol="0" anchor="ctr"/>
          <a:lstStyle/>
          <a:p>
            <a:pPr marL="0" indent="0" algn="l">
              <a:buNone/>
            </a:pPr>
            <a:r>
              <a:rPr lang="en-US" sz="900" i="1" dirty="0">
                <a:solidFill>
                  <a:srgbClr val="5A7080"/>
                </a:solidFill>
              </a:rPr>
              <a:t>No examples, no passages. Tests raw parametric knowledge.</a:t>
            </a:r>
            <a:endParaRPr lang="en-US" sz="900" dirty="0"/>
          </a:p>
        </p:txBody>
      </p:sp>
      <p:sp>
        <p:nvSpPr>
          <p:cNvPr id="11" name="Shape 9"/>
          <p:cNvSpPr/>
          <p:nvPr/>
        </p:nvSpPr>
        <p:spPr>
          <a:xfrm>
            <a:off x="3200400" y="1719072"/>
            <a:ext cx="2743200" cy="347472"/>
          </a:xfrm>
          <a:prstGeom prst="rect">
            <a:avLst/>
          </a:prstGeom>
          <a:solidFill>
            <a:srgbClr val="6B5EA8"/>
          </a:solidFill>
          <a:ln w="12700">
            <a:solidFill>
              <a:srgbClr val="6B5EA8"/>
            </a:solidFill>
            <a:prstDash val="solid"/>
          </a:ln>
        </p:spPr>
        <p:txBody>
          <a:bodyPr/>
          <a:lstStyle/>
          <a:p>
            <a:endParaRPr lang="en-US"/>
          </a:p>
        </p:txBody>
      </p:sp>
      <p:sp>
        <p:nvSpPr>
          <p:cNvPr id="12" name="Text 10"/>
          <p:cNvSpPr/>
          <p:nvPr/>
        </p:nvSpPr>
        <p:spPr>
          <a:xfrm>
            <a:off x="3291840" y="1719072"/>
            <a:ext cx="2560320" cy="347472"/>
          </a:xfrm>
          <a:prstGeom prst="rect">
            <a:avLst/>
          </a:prstGeom>
          <a:noFill/>
          <a:ln/>
        </p:spPr>
        <p:txBody>
          <a:bodyPr wrap="square" rtlCol="0" anchor="ctr"/>
          <a:lstStyle/>
          <a:p>
            <a:pPr marL="0" indent="0">
              <a:buNone/>
            </a:pPr>
            <a:r>
              <a:rPr lang="en-US" sz="1050" b="1" dirty="0">
                <a:solidFill>
                  <a:srgbClr val="FFFFFF"/>
                </a:solidFill>
              </a:rPr>
              <a:t>Baseline 2 — Few-shot</a:t>
            </a:r>
            <a:endParaRPr lang="en-US" sz="1050" dirty="0"/>
          </a:p>
        </p:txBody>
      </p:sp>
      <p:sp>
        <p:nvSpPr>
          <p:cNvPr id="13" name="Shape 11"/>
          <p:cNvSpPr/>
          <p:nvPr/>
        </p:nvSpPr>
        <p:spPr>
          <a:xfrm>
            <a:off x="3200400" y="2066544"/>
            <a:ext cx="2743200" cy="2103120"/>
          </a:xfrm>
          <a:prstGeom prst="rect">
            <a:avLst/>
          </a:prstGeom>
          <a:solidFill>
            <a:srgbClr val="1E2B3C"/>
          </a:solidFill>
          <a:ln w="9525">
            <a:solidFill>
              <a:srgbClr val="334466"/>
            </a:solidFill>
            <a:prstDash val="solid"/>
          </a:ln>
        </p:spPr>
        <p:txBody>
          <a:bodyPr/>
          <a:lstStyle/>
          <a:p>
            <a:endParaRPr lang="en-US"/>
          </a:p>
        </p:txBody>
      </p:sp>
      <p:sp>
        <p:nvSpPr>
          <p:cNvPr id="14" name="Text 12"/>
          <p:cNvSpPr/>
          <p:nvPr/>
        </p:nvSpPr>
        <p:spPr>
          <a:xfrm>
            <a:off x="3310128" y="2121408"/>
            <a:ext cx="2523744" cy="1993392"/>
          </a:xfrm>
          <a:prstGeom prst="rect">
            <a:avLst/>
          </a:prstGeom>
          <a:noFill/>
          <a:ln/>
        </p:spPr>
        <p:txBody>
          <a:bodyPr wrap="square" rtlCol="0" anchor="t"/>
          <a:lstStyle/>
          <a:p>
            <a:pPr marL="0" indent="0" algn="l">
              <a:buNone/>
            </a:pPr>
            <a:r>
              <a:rPr lang="en-US" sz="850" dirty="0">
                <a:solidFill>
                  <a:srgbClr val="A8D8F0"/>
                </a:solidFill>
                <a:latin typeface="Courier New" pitchFamily="34" charset="0"/>
                <a:ea typeface="Courier New" pitchFamily="34" charset="-122"/>
                <a:cs typeface="Courier New" pitchFamily="34" charset="-120"/>
              </a:rPr>
              <a:t>[INST] Answer questions</a:t>
            </a:r>
            <a:endParaRPr lang="en-US" sz="850" dirty="0"/>
          </a:p>
          <a:p>
            <a:pPr marL="0" indent="0" algn="l">
              <a:buNone/>
            </a:pPr>
            <a:r>
              <a:rPr lang="en-US" sz="850" dirty="0">
                <a:solidFill>
                  <a:srgbClr val="A8D8F0"/>
                </a:solidFill>
                <a:latin typeface="Courier New" pitchFamily="34" charset="0"/>
                <a:ea typeface="Courier New" pitchFamily="34" charset="-122"/>
                <a:cs typeface="Courier New" pitchFamily="34" charset="-120"/>
              </a:rPr>
              <a:t>concisely.</a:t>
            </a:r>
            <a:endParaRPr lang="en-US" sz="850" dirty="0"/>
          </a:p>
          <a:p>
            <a:pPr marL="0" indent="0" algn="l">
              <a:buNone/>
            </a:pPr>
            <a:endParaRPr lang="en-US" sz="850" dirty="0"/>
          </a:p>
          <a:p>
            <a:pPr marL="0" indent="0" algn="l">
              <a:buNone/>
            </a:pPr>
            <a:r>
              <a:rPr lang="en-US" sz="850" dirty="0">
                <a:solidFill>
                  <a:srgbClr val="A8D8F0"/>
                </a:solidFill>
                <a:latin typeface="Courier New" pitchFamily="34" charset="0"/>
                <a:ea typeface="Courier New" pitchFamily="34" charset="-122"/>
                <a:cs typeface="Courier New" pitchFamily="34" charset="-120"/>
              </a:rPr>
              <a:t>Q: Who wrote Hamlet?</a:t>
            </a:r>
            <a:endParaRPr lang="en-US" sz="850" dirty="0"/>
          </a:p>
          <a:p>
            <a:pPr marL="0" indent="0" algn="l">
              <a:buNone/>
            </a:pPr>
            <a:r>
              <a:rPr lang="en-US" sz="850" dirty="0">
                <a:solidFill>
                  <a:srgbClr val="A8D8F0"/>
                </a:solidFill>
                <a:latin typeface="Courier New" pitchFamily="34" charset="0"/>
                <a:ea typeface="Courier New" pitchFamily="34" charset="-122"/>
                <a:cs typeface="Courier New" pitchFamily="34" charset="-120"/>
              </a:rPr>
              <a:t>A: William Shakespeare</a:t>
            </a:r>
            <a:endParaRPr lang="en-US" sz="850" dirty="0"/>
          </a:p>
          <a:p>
            <a:pPr marL="0" indent="0" algn="l">
              <a:buNone/>
            </a:pPr>
            <a:r>
              <a:rPr lang="en-US" sz="850" dirty="0">
                <a:solidFill>
                  <a:srgbClr val="A8D8F0"/>
                </a:solidFill>
                <a:latin typeface="Courier New" pitchFamily="34" charset="0"/>
                <a:ea typeface="Courier New" pitchFamily="34" charset="-122"/>
                <a:cs typeface="Courier New" pitchFamily="34" charset="-120"/>
              </a:rPr>
              <a:t>... (5 examples) ...</a:t>
            </a:r>
            <a:endParaRPr lang="en-US" sz="850" dirty="0"/>
          </a:p>
          <a:p>
            <a:pPr marL="0" indent="0" algn="l">
              <a:buNone/>
            </a:pPr>
            <a:endParaRPr lang="en-US" sz="850" dirty="0"/>
          </a:p>
          <a:p>
            <a:pPr marL="0" indent="0" algn="l">
              <a:buNone/>
            </a:pPr>
            <a:r>
              <a:rPr lang="en-US" sz="850" dirty="0">
                <a:solidFill>
                  <a:srgbClr val="A8D8F0"/>
                </a:solidFill>
                <a:latin typeface="Courier New" pitchFamily="34" charset="0"/>
                <a:ea typeface="Courier New" pitchFamily="34" charset="-122"/>
                <a:cs typeface="Courier New" pitchFamily="34" charset="-120"/>
              </a:rPr>
              <a:t>Q: {question} [/INST]</a:t>
            </a:r>
            <a:endParaRPr lang="en-US" sz="850" dirty="0"/>
          </a:p>
        </p:txBody>
      </p:sp>
      <p:sp>
        <p:nvSpPr>
          <p:cNvPr id="15" name="Text 13"/>
          <p:cNvSpPr/>
          <p:nvPr/>
        </p:nvSpPr>
        <p:spPr>
          <a:xfrm>
            <a:off x="3246120" y="4224528"/>
            <a:ext cx="2651760" cy="502920"/>
          </a:xfrm>
          <a:prstGeom prst="rect">
            <a:avLst/>
          </a:prstGeom>
          <a:noFill/>
          <a:ln/>
        </p:spPr>
        <p:txBody>
          <a:bodyPr wrap="square" rtlCol="0" anchor="ctr"/>
          <a:lstStyle/>
          <a:p>
            <a:pPr marL="0" indent="0" algn="l">
              <a:buNone/>
            </a:pPr>
            <a:r>
              <a:rPr lang="en-US" sz="900" i="1" dirty="0">
                <a:solidFill>
                  <a:srgbClr val="5A7080"/>
                </a:solidFill>
              </a:rPr>
              <a:t>5 Q→A examples prime output format before the real question.</a:t>
            </a:r>
            <a:endParaRPr lang="en-US" sz="900" dirty="0"/>
          </a:p>
        </p:txBody>
      </p:sp>
      <p:sp>
        <p:nvSpPr>
          <p:cNvPr id="16" name="Shape 14"/>
          <p:cNvSpPr/>
          <p:nvPr/>
        </p:nvSpPr>
        <p:spPr>
          <a:xfrm>
            <a:off x="6053328" y="1719072"/>
            <a:ext cx="2743200" cy="347472"/>
          </a:xfrm>
          <a:prstGeom prst="rect">
            <a:avLst/>
          </a:prstGeom>
          <a:solidFill>
            <a:srgbClr val="E8842A"/>
          </a:solidFill>
          <a:ln w="12700">
            <a:solidFill>
              <a:srgbClr val="E8842A"/>
            </a:solidFill>
            <a:prstDash val="solid"/>
          </a:ln>
        </p:spPr>
        <p:txBody>
          <a:bodyPr/>
          <a:lstStyle/>
          <a:p>
            <a:endParaRPr lang="en-US"/>
          </a:p>
        </p:txBody>
      </p:sp>
      <p:sp>
        <p:nvSpPr>
          <p:cNvPr id="17" name="Text 15"/>
          <p:cNvSpPr/>
          <p:nvPr/>
        </p:nvSpPr>
        <p:spPr>
          <a:xfrm>
            <a:off x="6144768" y="1719072"/>
            <a:ext cx="2560320" cy="347472"/>
          </a:xfrm>
          <a:prstGeom prst="rect">
            <a:avLst/>
          </a:prstGeom>
          <a:noFill/>
          <a:ln/>
        </p:spPr>
        <p:txBody>
          <a:bodyPr wrap="square" rtlCol="0" anchor="ctr"/>
          <a:lstStyle/>
          <a:p>
            <a:pPr marL="0" indent="0">
              <a:buNone/>
            </a:pPr>
            <a:r>
              <a:rPr lang="en-US" sz="1050" b="1" dirty="0">
                <a:solidFill>
                  <a:srgbClr val="FFFFFF"/>
                </a:solidFill>
              </a:rPr>
              <a:t>RAG / RAG+LoRA</a:t>
            </a:r>
            <a:endParaRPr lang="en-US" sz="1050" dirty="0"/>
          </a:p>
        </p:txBody>
      </p:sp>
      <p:sp>
        <p:nvSpPr>
          <p:cNvPr id="18" name="Shape 16"/>
          <p:cNvSpPr/>
          <p:nvPr/>
        </p:nvSpPr>
        <p:spPr>
          <a:xfrm>
            <a:off x="6053328" y="2066544"/>
            <a:ext cx="2743200" cy="2103120"/>
          </a:xfrm>
          <a:prstGeom prst="rect">
            <a:avLst/>
          </a:prstGeom>
          <a:solidFill>
            <a:srgbClr val="1E2B3C"/>
          </a:solidFill>
          <a:ln w="9525">
            <a:solidFill>
              <a:srgbClr val="334466"/>
            </a:solidFill>
            <a:prstDash val="solid"/>
          </a:ln>
        </p:spPr>
        <p:txBody>
          <a:bodyPr/>
          <a:lstStyle/>
          <a:p>
            <a:endParaRPr lang="en-US"/>
          </a:p>
        </p:txBody>
      </p:sp>
      <p:sp>
        <p:nvSpPr>
          <p:cNvPr id="19" name="Text 17"/>
          <p:cNvSpPr/>
          <p:nvPr/>
        </p:nvSpPr>
        <p:spPr>
          <a:xfrm>
            <a:off x="6163056" y="2121408"/>
            <a:ext cx="2523744" cy="1993392"/>
          </a:xfrm>
          <a:prstGeom prst="rect">
            <a:avLst/>
          </a:prstGeom>
          <a:noFill/>
          <a:ln/>
        </p:spPr>
        <p:txBody>
          <a:bodyPr wrap="square" rtlCol="0" anchor="t"/>
          <a:lstStyle/>
          <a:p>
            <a:pPr marL="0" indent="0" algn="l">
              <a:buNone/>
            </a:pPr>
            <a:r>
              <a:rPr lang="en-US" sz="850" dirty="0">
                <a:solidFill>
                  <a:srgbClr val="A8D8F0"/>
                </a:solidFill>
                <a:latin typeface="Courier New" pitchFamily="34" charset="0"/>
                <a:ea typeface="Courier New" pitchFamily="34" charset="-122"/>
                <a:cs typeface="Courier New" pitchFamily="34" charset="-120"/>
              </a:rPr>
              <a:t>[INST] You are given passages</a:t>
            </a:r>
            <a:endParaRPr lang="en-US" sz="850" dirty="0"/>
          </a:p>
          <a:p>
            <a:pPr marL="0" indent="0" algn="l">
              <a:buNone/>
            </a:pPr>
            <a:r>
              <a:rPr lang="en-US" sz="850" dirty="0">
                <a:solidFill>
                  <a:srgbClr val="A8D8F0"/>
                </a:solidFill>
                <a:latin typeface="Courier New" pitchFamily="34" charset="0"/>
                <a:ea typeface="Courier New" pitchFamily="34" charset="-122"/>
                <a:cs typeface="Courier New" pitchFamily="34" charset="-120"/>
              </a:rPr>
              <a:t>from Wikipedia that may</a:t>
            </a:r>
            <a:endParaRPr lang="en-US" sz="850" dirty="0"/>
          </a:p>
          <a:p>
            <a:pPr marL="0" indent="0" algn="l">
              <a:buNone/>
            </a:pPr>
            <a:r>
              <a:rPr lang="en-US" sz="850" dirty="0">
                <a:solidFill>
                  <a:srgbClr val="A8D8F0"/>
                </a:solidFill>
                <a:latin typeface="Courier New" pitchFamily="34" charset="0"/>
                <a:ea typeface="Courier New" pitchFamily="34" charset="-122"/>
                <a:cs typeface="Courier New" pitchFamily="34" charset="-120"/>
              </a:rPr>
              <a:t>contain the answer.</a:t>
            </a:r>
            <a:endParaRPr lang="en-US" sz="850" dirty="0"/>
          </a:p>
          <a:p>
            <a:pPr marL="0" indent="0" algn="l">
              <a:buNone/>
            </a:pPr>
            <a:r>
              <a:rPr lang="en-US" sz="850" dirty="0">
                <a:solidFill>
                  <a:srgbClr val="A8D8F0"/>
                </a:solidFill>
                <a:latin typeface="Courier New" pitchFamily="34" charset="0"/>
                <a:ea typeface="Courier New" pitchFamily="34" charset="-122"/>
                <a:cs typeface="Courier New" pitchFamily="34" charset="-120"/>
              </a:rPr>
              <a:t>Use the passages to answer</a:t>
            </a:r>
            <a:endParaRPr lang="en-US" sz="850" dirty="0"/>
          </a:p>
          <a:p>
            <a:pPr marL="0" indent="0" algn="l">
              <a:buNone/>
            </a:pPr>
            <a:r>
              <a:rPr lang="en-US" sz="850" dirty="0">
                <a:solidFill>
                  <a:srgbClr val="A8D8F0"/>
                </a:solidFill>
                <a:latin typeface="Courier New" pitchFamily="34" charset="0"/>
                <a:ea typeface="Courier New" pitchFamily="34" charset="-122"/>
                <a:cs typeface="Courier New" pitchFamily="34" charset="-120"/>
              </a:rPr>
              <a:t>concisely.</a:t>
            </a:r>
            <a:endParaRPr lang="en-US" sz="850" dirty="0"/>
          </a:p>
          <a:p>
            <a:pPr marL="0" indent="0" algn="l">
              <a:buNone/>
            </a:pPr>
            <a:endParaRPr lang="en-US" sz="850" dirty="0"/>
          </a:p>
          <a:p>
            <a:pPr marL="0" indent="0" algn="l">
              <a:buNone/>
            </a:pPr>
            <a:r>
              <a:rPr lang="en-US" sz="850" dirty="0">
                <a:solidFill>
                  <a:srgbClr val="A8D8F0"/>
                </a:solidFill>
                <a:latin typeface="Courier New" pitchFamily="34" charset="0"/>
                <a:ea typeface="Courier New" pitchFamily="34" charset="-122"/>
                <a:cs typeface="Courier New" pitchFamily="34" charset="-120"/>
              </a:rPr>
              <a:t>Passages:</a:t>
            </a:r>
            <a:endParaRPr lang="en-US" sz="850" dirty="0"/>
          </a:p>
          <a:p>
            <a:pPr marL="0" indent="0" algn="l">
              <a:buNone/>
            </a:pPr>
            <a:r>
              <a:rPr lang="en-US" sz="850" dirty="0">
                <a:solidFill>
                  <a:srgbClr val="A8D8F0"/>
                </a:solidFill>
                <a:latin typeface="Courier New" pitchFamily="34" charset="0"/>
                <a:ea typeface="Courier New" pitchFamily="34" charset="-122"/>
                <a:cs typeface="Courier New" pitchFamily="34" charset="-120"/>
              </a:rPr>
              <a:t>[Passage 1] {text}...</a:t>
            </a:r>
            <a:endParaRPr lang="en-US" sz="850" dirty="0"/>
          </a:p>
          <a:p>
            <a:pPr marL="0" indent="0" algn="l">
              <a:buNone/>
            </a:pPr>
            <a:r>
              <a:rPr lang="en-US" sz="850" dirty="0">
                <a:solidFill>
                  <a:srgbClr val="A8D8F0"/>
                </a:solidFill>
                <a:latin typeface="Courier New" pitchFamily="34" charset="0"/>
                <a:ea typeface="Courier New" pitchFamily="34" charset="-122"/>
                <a:cs typeface="Courier New" pitchFamily="34" charset="-120"/>
              </a:rPr>
              <a:t>...</a:t>
            </a:r>
            <a:endParaRPr lang="en-US" sz="850" dirty="0"/>
          </a:p>
          <a:p>
            <a:pPr marL="0" indent="0" algn="l">
              <a:buNone/>
            </a:pPr>
            <a:r>
              <a:rPr lang="en-US" sz="850" dirty="0">
                <a:solidFill>
                  <a:srgbClr val="A8D8F0"/>
                </a:solidFill>
                <a:latin typeface="Courier New" pitchFamily="34" charset="0"/>
                <a:ea typeface="Courier New" pitchFamily="34" charset="-122"/>
                <a:cs typeface="Courier New" pitchFamily="34" charset="-120"/>
              </a:rPr>
              <a:t>Q: {question} [/INST]</a:t>
            </a:r>
            <a:endParaRPr lang="en-US" sz="850" dirty="0"/>
          </a:p>
        </p:txBody>
      </p:sp>
      <p:sp>
        <p:nvSpPr>
          <p:cNvPr id="20" name="Text 18"/>
          <p:cNvSpPr/>
          <p:nvPr/>
        </p:nvSpPr>
        <p:spPr>
          <a:xfrm>
            <a:off x="6099048" y="4224528"/>
            <a:ext cx="2651760" cy="502920"/>
          </a:xfrm>
          <a:prstGeom prst="rect">
            <a:avLst/>
          </a:prstGeom>
          <a:noFill/>
          <a:ln/>
        </p:spPr>
        <p:txBody>
          <a:bodyPr wrap="square" rtlCol="0" anchor="ctr"/>
          <a:lstStyle/>
          <a:p>
            <a:pPr marL="0" indent="0" algn="l">
              <a:buNone/>
            </a:pPr>
            <a:r>
              <a:rPr lang="en-US" sz="900" i="1" dirty="0">
                <a:solidFill>
                  <a:srgbClr val="5A7080"/>
                </a:solidFill>
              </a:rPr>
              <a:t>5 retrieved Wikipedia passages prepended before the question.</a:t>
            </a:r>
            <a:endParaRPr lang="en-US" sz="900" dirty="0"/>
          </a:p>
        </p:txBody>
      </p:sp>
      <p:sp>
        <p:nvSpPr>
          <p:cNvPr id="21" name="Shape 19"/>
          <p:cNvSpPr/>
          <p:nvPr/>
        </p:nvSpPr>
        <p:spPr>
          <a:xfrm>
            <a:off x="347472" y="4773168"/>
            <a:ext cx="8449056" cy="0"/>
          </a:xfrm>
          <a:prstGeom prst="rect">
            <a:avLst/>
          </a:prstGeom>
          <a:noFill/>
          <a:ln/>
        </p:spPr>
        <p:txBody>
          <a:bodyPr/>
          <a:lstStyle/>
          <a:p>
            <a:endParaRPr lang="en-US"/>
          </a:p>
        </p:txBody>
      </p:sp>
      <p:sp>
        <p:nvSpPr>
          <p:cNvPr id="22" name="Text 20"/>
          <p:cNvSpPr/>
          <p:nvPr/>
        </p:nvSpPr>
        <p:spPr>
          <a:xfrm>
            <a:off x="347472" y="4754880"/>
            <a:ext cx="8449056" cy="274320"/>
          </a:xfrm>
          <a:prstGeom prst="rect">
            <a:avLst/>
          </a:prstGeom>
          <a:noFill/>
          <a:ln/>
        </p:spPr>
        <p:txBody>
          <a:bodyPr wrap="square" rtlCol="0" anchor="ctr"/>
          <a:lstStyle/>
          <a:p>
            <a:pPr marL="0" indent="0">
              <a:buNone/>
            </a:pPr>
            <a:r>
              <a:rPr lang="en-US" sz="850" i="1" dirty="0">
                <a:solidFill>
                  <a:srgbClr val="1A6B8A"/>
                </a:solidFill>
              </a:rPr>
              <a:t>Key insight: RAG without fine-tuning uses the same prompt as RAG+LoRA — the only difference is whether the generator was trained on this format.</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164592"/>
            <a:ext cx="8229600" cy="256032"/>
          </a:xfrm>
          <a:prstGeom prst="rect">
            <a:avLst/>
          </a:prstGeom>
          <a:noFill/>
          <a:ln/>
        </p:spPr>
        <p:txBody>
          <a:bodyPr wrap="square" rtlCol="0" anchor="ctr"/>
          <a:lstStyle/>
          <a:p>
            <a:pPr marL="0" indent="0" algn="l">
              <a:buNone/>
            </a:pPr>
            <a:r>
              <a:rPr lang="en-US" sz="900" b="1" kern="0" spc="300" dirty="0">
                <a:solidFill>
                  <a:srgbClr val="2E8BAE"/>
                </a:solidFill>
              </a:rPr>
              <a:t>H O W  I T  W O R K S</a:t>
            </a:r>
            <a:endParaRPr lang="en-US" sz="900" dirty="0"/>
          </a:p>
        </p:txBody>
      </p:sp>
      <p:sp>
        <p:nvSpPr>
          <p:cNvPr id="3" name="Text 1"/>
          <p:cNvSpPr/>
          <p:nvPr/>
        </p:nvSpPr>
        <p:spPr>
          <a:xfrm>
            <a:off x="7863840" y="164592"/>
            <a:ext cx="1097280" cy="256032"/>
          </a:xfrm>
          <a:prstGeom prst="rect">
            <a:avLst/>
          </a:prstGeom>
          <a:noFill/>
          <a:ln/>
        </p:spPr>
        <p:txBody>
          <a:bodyPr wrap="square" rtlCol="0" anchor="ctr"/>
          <a:lstStyle/>
          <a:p>
            <a:pPr marL="0" indent="0" algn="r">
              <a:buNone/>
            </a:pPr>
            <a:r>
              <a:rPr lang="en-US" sz="900" dirty="0">
                <a:solidFill>
                  <a:srgbClr val="5A7080"/>
                </a:solidFill>
              </a:rPr>
              <a:t>8 / 17</a:t>
            </a:r>
            <a:endParaRPr lang="en-US" sz="900" dirty="0"/>
          </a:p>
        </p:txBody>
      </p:sp>
      <p:sp>
        <p:nvSpPr>
          <p:cNvPr id="4" name="Text 2"/>
          <p:cNvSpPr/>
          <p:nvPr/>
        </p:nvSpPr>
        <p:spPr>
          <a:xfrm>
            <a:off x="457200" y="502920"/>
            <a:ext cx="8229600" cy="777240"/>
          </a:xfrm>
          <a:prstGeom prst="rect">
            <a:avLst/>
          </a:prstGeom>
          <a:noFill/>
          <a:ln/>
        </p:spPr>
        <p:txBody>
          <a:bodyPr wrap="square" rtlCol="0" anchor="ctr"/>
          <a:lstStyle/>
          <a:p>
            <a:pPr marL="0" indent="0" algn="l">
              <a:buNone/>
            </a:pPr>
            <a:r>
              <a:rPr lang="en-US" sz="3000" b="1" dirty="0">
                <a:solidFill>
                  <a:srgbClr val="0D2B5E"/>
                </a:solidFill>
                <a:latin typeface="Calibri" pitchFamily="34" charset="0"/>
                <a:ea typeface="Calibri" pitchFamily="34" charset="-122"/>
                <a:cs typeface="Calibri" pitchFamily="34" charset="-120"/>
              </a:rPr>
              <a:t>End-to-end example: "Who wrote the play Hamlet?"</a:t>
            </a:r>
            <a:endParaRPr lang="en-US" sz="3000" dirty="0"/>
          </a:p>
        </p:txBody>
      </p:sp>
      <p:sp>
        <p:nvSpPr>
          <p:cNvPr id="5" name="Shape 3"/>
          <p:cNvSpPr/>
          <p:nvPr/>
        </p:nvSpPr>
        <p:spPr>
          <a:xfrm>
            <a:off x="365760" y="1389888"/>
            <a:ext cx="2011680" cy="1371600"/>
          </a:xfrm>
          <a:prstGeom prst="rect">
            <a:avLst/>
          </a:prstGeom>
          <a:solidFill>
            <a:srgbClr val="EEF3F8"/>
          </a:solidFill>
          <a:ln w="9525">
            <a:solidFill>
              <a:srgbClr val="D0DCE8"/>
            </a:solidFill>
            <a:prstDash val="solid"/>
          </a:ln>
        </p:spPr>
        <p:txBody>
          <a:bodyPr/>
          <a:lstStyle/>
          <a:p>
            <a:endParaRPr lang="en-US"/>
          </a:p>
        </p:txBody>
      </p:sp>
      <p:sp>
        <p:nvSpPr>
          <p:cNvPr id="6" name="Shape 4"/>
          <p:cNvSpPr/>
          <p:nvPr/>
        </p:nvSpPr>
        <p:spPr>
          <a:xfrm>
            <a:off x="457200" y="1481328"/>
            <a:ext cx="457200" cy="457200"/>
          </a:xfrm>
          <a:prstGeom prst="ellipse">
            <a:avLst/>
          </a:prstGeom>
          <a:solidFill>
            <a:srgbClr val="1A6B8A"/>
          </a:solidFill>
          <a:ln/>
        </p:spPr>
        <p:txBody>
          <a:bodyPr/>
          <a:lstStyle/>
          <a:p>
            <a:endParaRPr lang="en-US"/>
          </a:p>
        </p:txBody>
      </p:sp>
      <p:sp>
        <p:nvSpPr>
          <p:cNvPr id="7" name="Text 5"/>
          <p:cNvSpPr/>
          <p:nvPr/>
        </p:nvSpPr>
        <p:spPr>
          <a:xfrm>
            <a:off x="457200" y="1481328"/>
            <a:ext cx="457200" cy="457200"/>
          </a:xfrm>
          <a:prstGeom prst="rect">
            <a:avLst/>
          </a:prstGeom>
          <a:noFill/>
          <a:ln/>
        </p:spPr>
        <p:txBody>
          <a:bodyPr wrap="square" rtlCol="0" anchor="ctr"/>
          <a:lstStyle/>
          <a:p>
            <a:pPr marL="0" indent="0" algn="ctr">
              <a:buNone/>
            </a:pPr>
            <a:r>
              <a:rPr lang="en-US" sz="1400" b="1" dirty="0">
                <a:solidFill>
                  <a:srgbClr val="FFFFFF"/>
                </a:solidFill>
              </a:rPr>
              <a:t>1</a:t>
            </a:r>
            <a:endParaRPr lang="en-US" sz="1400" dirty="0"/>
          </a:p>
        </p:txBody>
      </p:sp>
      <p:sp>
        <p:nvSpPr>
          <p:cNvPr id="8" name="Text 6"/>
          <p:cNvSpPr/>
          <p:nvPr/>
        </p:nvSpPr>
        <p:spPr>
          <a:xfrm>
            <a:off x="987552" y="1499616"/>
            <a:ext cx="1325880" cy="438912"/>
          </a:xfrm>
          <a:prstGeom prst="rect">
            <a:avLst/>
          </a:prstGeom>
          <a:noFill/>
          <a:ln/>
        </p:spPr>
        <p:txBody>
          <a:bodyPr wrap="square" rtlCol="0" anchor="ctr"/>
          <a:lstStyle/>
          <a:p>
            <a:pPr marL="0" indent="0">
              <a:buNone/>
            </a:pPr>
            <a:r>
              <a:rPr lang="en-US" sz="1100" b="1" dirty="0">
                <a:solidFill>
                  <a:srgbClr val="0D2B5E"/>
                </a:solidFill>
              </a:rPr>
              <a:t>Embed question</a:t>
            </a:r>
            <a:endParaRPr lang="en-US" sz="1100" dirty="0"/>
          </a:p>
        </p:txBody>
      </p:sp>
      <p:sp>
        <p:nvSpPr>
          <p:cNvPr id="9" name="Text 7"/>
          <p:cNvSpPr/>
          <p:nvPr/>
        </p:nvSpPr>
        <p:spPr>
          <a:xfrm>
            <a:off x="475488" y="1993392"/>
            <a:ext cx="1828800" cy="640080"/>
          </a:xfrm>
          <a:prstGeom prst="rect">
            <a:avLst/>
          </a:prstGeom>
          <a:noFill/>
          <a:ln/>
        </p:spPr>
        <p:txBody>
          <a:bodyPr wrap="square" rtlCol="0" anchor="ctr"/>
          <a:lstStyle/>
          <a:p>
            <a:pPr marL="0" indent="0">
              <a:buNone/>
            </a:pPr>
            <a:r>
              <a:rPr lang="en-US" sz="1000" i="1" dirty="0">
                <a:solidFill>
                  <a:srgbClr val="2C3E50"/>
                </a:solidFill>
              </a:rPr>
              <a:t>Question → 384-d vector via MiniLM</a:t>
            </a:r>
            <a:endParaRPr lang="en-US" sz="1000" dirty="0"/>
          </a:p>
        </p:txBody>
      </p:sp>
      <p:sp>
        <p:nvSpPr>
          <p:cNvPr id="10" name="Shape 8"/>
          <p:cNvSpPr/>
          <p:nvPr/>
        </p:nvSpPr>
        <p:spPr>
          <a:xfrm>
            <a:off x="2395728" y="1874520"/>
            <a:ext cx="128016" cy="365760"/>
          </a:xfrm>
          <a:prstGeom prst="rightArrow">
            <a:avLst/>
          </a:prstGeom>
          <a:solidFill>
            <a:srgbClr val="E8842A"/>
          </a:solidFill>
          <a:ln w="12700">
            <a:solidFill>
              <a:srgbClr val="E8842A"/>
            </a:solidFill>
            <a:prstDash val="solid"/>
          </a:ln>
        </p:spPr>
        <p:txBody>
          <a:bodyPr/>
          <a:lstStyle/>
          <a:p>
            <a:endParaRPr lang="en-US"/>
          </a:p>
        </p:txBody>
      </p:sp>
      <p:sp>
        <p:nvSpPr>
          <p:cNvPr id="11" name="Shape 9"/>
          <p:cNvSpPr/>
          <p:nvPr/>
        </p:nvSpPr>
        <p:spPr>
          <a:xfrm>
            <a:off x="2542032" y="1389888"/>
            <a:ext cx="2011680" cy="1371600"/>
          </a:xfrm>
          <a:prstGeom prst="rect">
            <a:avLst/>
          </a:prstGeom>
          <a:solidFill>
            <a:srgbClr val="EEF3F8"/>
          </a:solidFill>
          <a:ln w="9525">
            <a:solidFill>
              <a:srgbClr val="D0DCE8"/>
            </a:solidFill>
            <a:prstDash val="solid"/>
          </a:ln>
        </p:spPr>
        <p:txBody>
          <a:bodyPr/>
          <a:lstStyle/>
          <a:p>
            <a:endParaRPr lang="en-US"/>
          </a:p>
        </p:txBody>
      </p:sp>
      <p:sp>
        <p:nvSpPr>
          <p:cNvPr id="12" name="Shape 10"/>
          <p:cNvSpPr/>
          <p:nvPr/>
        </p:nvSpPr>
        <p:spPr>
          <a:xfrm>
            <a:off x="2633472" y="1481328"/>
            <a:ext cx="457200" cy="457200"/>
          </a:xfrm>
          <a:prstGeom prst="ellipse">
            <a:avLst/>
          </a:prstGeom>
          <a:solidFill>
            <a:srgbClr val="1A6B8A"/>
          </a:solidFill>
          <a:ln/>
        </p:spPr>
        <p:txBody>
          <a:bodyPr/>
          <a:lstStyle/>
          <a:p>
            <a:endParaRPr lang="en-US"/>
          </a:p>
        </p:txBody>
      </p:sp>
      <p:sp>
        <p:nvSpPr>
          <p:cNvPr id="13" name="Text 11"/>
          <p:cNvSpPr/>
          <p:nvPr/>
        </p:nvSpPr>
        <p:spPr>
          <a:xfrm>
            <a:off x="2633472" y="1481328"/>
            <a:ext cx="457200" cy="457200"/>
          </a:xfrm>
          <a:prstGeom prst="rect">
            <a:avLst/>
          </a:prstGeom>
          <a:noFill/>
          <a:ln/>
        </p:spPr>
        <p:txBody>
          <a:bodyPr wrap="square" rtlCol="0" anchor="ctr"/>
          <a:lstStyle/>
          <a:p>
            <a:pPr marL="0" indent="0" algn="ctr">
              <a:buNone/>
            </a:pPr>
            <a:r>
              <a:rPr lang="en-US" sz="1400" b="1" dirty="0">
                <a:solidFill>
                  <a:srgbClr val="FFFFFF"/>
                </a:solidFill>
              </a:rPr>
              <a:t>2</a:t>
            </a:r>
            <a:endParaRPr lang="en-US" sz="1400" dirty="0"/>
          </a:p>
        </p:txBody>
      </p:sp>
      <p:sp>
        <p:nvSpPr>
          <p:cNvPr id="14" name="Text 12"/>
          <p:cNvSpPr/>
          <p:nvPr/>
        </p:nvSpPr>
        <p:spPr>
          <a:xfrm>
            <a:off x="3163824" y="1499616"/>
            <a:ext cx="1325880" cy="438912"/>
          </a:xfrm>
          <a:prstGeom prst="rect">
            <a:avLst/>
          </a:prstGeom>
          <a:noFill/>
          <a:ln/>
        </p:spPr>
        <p:txBody>
          <a:bodyPr wrap="square" rtlCol="0" anchor="ctr"/>
          <a:lstStyle/>
          <a:p>
            <a:pPr marL="0" indent="0">
              <a:buNone/>
            </a:pPr>
            <a:r>
              <a:rPr lang="en-US" sz="1100" b="1" dirty="0">
                <a:solidFill>
                  <a:srgbClr val="0D2B5E"/>
                </a:solidFill>
              </a:rPr>
              <a:t>Retrieve top-5 passages</a:t>
            </a:r>
            <a:endParaRPr lang="en-US" sz="1100" dirty="0"/>
          </a:p>
        </p:txBody>
      </p:sp>
      <p:sp>
        <p:nvSpPr>
          <p:cNvPr id="15" name="Text 13"/>
          <p:cNvSpPr/>
          <p:nvPr/>
        </p:nvSpPr>
        <p:spPr>
          <a:xfrm>
            <a:off x="2651760" y="1993392"/>
            <a:ext cx="1828800" cy="640080"/>
          </a:xfrm>
          <a:prstGeom prst="rect">
            <a:avLst/>
          </a:prstGeom>
          <a:noFill/>
          <a:ln/>
        </p:spPr>
        <p:txBody>
          <a:bodyPr wrap="square" rtlCol="0" anchor="ctr"/>
          <a:lstStyle/>
          <a:p>
            <a:pPr marL="0" indent="0">
              <a:buNone/>
            </a:pPr>
            <a:r>
              <a:rPr lang="en-US" sz="1000" i="1" dirty="0">
                <a:solidFill>
                  <a:srgbClr val="2C3E50"/>
                </a:solidFill>
              </a:rPr>
              <a:t>FAISS finds nearest passage vectors</a:t>
            </a:r>
            <a:endParaRPr lang="en-US" sz="1000" dirty="0"/>
          </a:p>
        </p:txBody>
      </p:sp>
      <p:sp>
        <p:nvSpPr>
          <p:cNvPr id="16" name="Shape 14"/>
          <p:cNvSpPr/>
          <p:nvPr/>
        </p:nvSpPr>
        <p:spPr>
          <a:xfrm>
            <a:off x="4572000" y="1874520"/>
            <a:ext cx="128016" cy="365760"/>
          </a:xfrm>
          <a:prstGeom prst="rightArrow">
            <a:avLst/>
          </a:prstGeom>
          <a:solidFill>
            <a:srgbClr val="E8842A"/>
          </a:solidFill>
          <a:ln w="12700">
            <a:solidFill>
              <a:srgbClr val="E8842A"/>
            </a:solidFill>
            <a:prstDash val="solid"/>
          </a:ln>
        </p:spPr>
        <p:txBody>
          <a:bodyPr/>
          <a:lstStyle/>
          <a:p>
            <a:endParaRPr lang="en-US"/>
          </a:p>
        </p:txBody>
      </p:sp>
      <p:sp>
        <p:nvSpPr>
          <p:cNvPr id="17" name="Shape 15"/>
          <p:cNvSpPr/>
          <p:nvPr/>
        </p:nvSpPr>
        <p:spPr>
          <a:xfrm>
            <a:off x="4718304" y="1389888"/>
            <a:ext cx="2011680" cy="1371600"/>
          </a:xfrm>
          <a:prstGeom prst="rect">
            <a:avLst/>
          </a:prstGeom>
          <a:solidFill>
            <a:srgbClr val="EEF3F8"/>
          </a:solidFill>
          <a:ln w="9525">
            <a:solidFill>
              <a:srgbClr val="D0DCE8"/>
            </a:solidFill>
            <a:prstDash val="solid"/>
          </a:ln>
        </p:spPr>
        <p:txBody>
          <a:bodyPr/>
          <a:lstStyle/>
          <a:p>
            <a:endParaRPr lang="en-US"/>
          </a:p>
        </p:txBody>
      </p:sp>
      <p:sp>
        <p:nvSpPr>
          <p:cNvPr id="18" name="Shape 16"/>
          <p:cNvSpPr/>
          <p:nvPr/>
        </p:nvSpPr>
        <p:spPr>
          <a:xfrm>
            <a:off x="4809744" y="1481328"/>
            <a:ext cx="457200" cy="457200"/>
          </a:xfrm>
          <a:prstGeom prst="ellipse">
            <a:avLst/>
          </a:prstGeom>
          <a:solidFill>
            <a:srgbClr val="1A6B8A"/>
          </a:solidFill>
          <a:ln/>
        </p:spPr>
        <p:txBody>
          <a:bodyPr/>
          <a:lstStyle/>
          <a:p>
            <a:endParaRPr lang="en-US"/>
          </a:p>
        </p:txBody>
      </p:sp>
      <p:sp>
        <p:nvSpPr>
          <p:cNvPr id="19" name="Text 17"/>
          <p:cNvSpPr/>
          <p:nvPr/>
        </p:nvSpPr>
        <p:spPr>
          <a:xfrm>
            <a:off x="4809744" y="1481328"/>
            <a:ext cx="457200" cy="457200"/>
          </a:xfrm>
          <a:prstGeom prst="rect">
            <a:avLst/>
          </a:prstGeom>
          <a:noFill/>
          <a:ln/>
        </p:spPr>
        <p:txBody>
          <a:bodyPr wrap="square" rtlCol="0" anchor="ctr"/>
          <a:lstStyle/>
          <a:p>
            <a:pPr marL="0" indent="0" algn="ctr">
              <a:buNone/>
            </a:pPr>
            <a:r>
              <a:rPr lang="en-US" sz="1400" b="1" dirty="0">
                <a:solidFill>
                  <a:srgbClr val="FFFFFF"/>
                </a:solidFill>
              </a:rPr>
              <a:t>3</a:t>
            </a:r>
            <a:endParaRPr lang="en-US" sz="1400" dirty="0"/>
          </a:p>
        </p:txBody>
      </p:sp>
      <p:sp>
        <p:nvSpPr>
          <p:cNvPr id="20" name="Text 18"/>
          <p:cNvSpPr/>
          <p:nvPr/>
        </p:nvSpPr>
        <p:spPr>
          <a:xfrm>
            <a:off x="5340096" y="1499616"/>
            <a:ext cx="1325880" cy="438912"/>
          </a:xfrm>
          <a:prstGeom prst="rect">
            <a:avLst/>
          </a:prstGeom>
          <a:noFill/>
          <a:ln/>
        </p:spPr>
        <p:txBody>
          <a:bodyPr wrap="square" rtlCol="0" anchor="ctr"/>
          <a:lstStyle/>
          <a:p>
            <a:pPr marL="0" indent="0">
              <a:buNone/>
            </a:pPr>
            <a:r>
              <a:rPr lang="en-US" sz="1100" b="1" dirty="0">
                <a:solidFill>
                  <a:srgbClr val="0D2B5E"/>
                </a:solidFill>
              </a:rPr>
              <a:t>Build RAG prompt</a:t>
            </a:r>
            <a:endParaRPr lang="en-US" sz="1100" dirty="0"/>
          </a:p>
        </p:txBody>
      </p:sp>
      <p:sp>
        <p:nvSpPr>
          <p:cNvPr id="21" name="Text 19"/>
          <p:cNvSpPr/>
          <p:nvPr/>
        </p:nvSpPr>
        <p:spPr>
          <a:xfrm>
            <a:off x="4828032" y="1993392"/>
            <a:ext cx="1828800" cy="640080"/>
          </a:xfrm>
          <a:prstGeom prst="rect">
            <a:avLst/>
          </a:prstGeom>
          <a:noFill/>
          <a:ln/>
        </p:spPr>
        <p:txBody>
          <a:bodyPr wrap="square" rtlCol="0" anchor="ctr"/>
          <a:lstStyle/>
          <a:p>
            <a:pPr marL="0" indent="0">
              <a:buNone/>
            </a:pPr>
            <a:r>
              <a:rPr lang="en-US" sz="1000" i="1" dirty="0">
                <a:solidFill>
                  <a:srgbClr val="2C3E50"/>
                </a:solidFill>
              </a:rPr>
              <a:t>Question + 5 numbered passages</a:t>
            </a:r>
            <a:endParaRPr lang="en-US" sz="1000" dirty="0"/>
          </a:p>
        </p:txBody>
      </p:sp>
      <p:sp>
        <p:nvSpPr>
          <p:cNvPr id="22" name="Shape 20"/>
          <p:cNvSpPr/>
          <p:nvPr/>
        </p:nvSpPr>
        <p:spPr>
          <a:xfrm>
            <a:off x="6748272" y="1874520"/>
            <a:ext cx="128016" cy="365760"/>
          </a:xfrm>
          <a:prstGeom prst="rightArrow">
            <a:avLst/>
          </a:prstGeom>
          <a:solidFill>
            <a:srgbClr val="E8842A"/>
          </a:solidFill>
          <a:ln w="12700">
            <a:solidFill>
              <a:srgbClr val="E8842A"/>
            </a:solidFill>
            <a:prstDash val="solid"/>
          </a:ln>
        </p:spPr>
        <p:txBody>
          <a:bodyPr/>
          <a:lstStyle/>
          <a:p>
            <a:endParaRPr lang="en-US"/>
          </a:p>
        </p:txBody>
      </p:sp>
      <p:sp>
        <p:nvSpPr>
          <p:cNvPr id="23" name="Shape 21"/>
          <p:cNvSpPr/>
          <p:nvPr/>
        </p:nvSpPr>
        <p:spPr>
          <a:xfrm>
            <a:off x="6894576" y="1389888"/>
            <a:ext cx="2011680" cy="1371600"/>
          </a:xfrm>
          <a:prstGeom prst="rect">
            <a:avLst/>
          </a:prstGeom>
          <a:solidFill>
            <a:srgbClr val="EEF3F8"/>
          </a:solidFill>
          <a:ln w="9525">
            <a:solidFill>
              <a:srgbClr val="D0DCE8"/>
            </a:solidFill>
            <a:prstDash val="solid"/>
          </a:ln>
        </p:spPr>
        <p:txBody>
          <a:bodyPr/>
          <a:lstStyle/>
          <a:p>
            <a:endParaRPr lang="en-US"/>
          </a:p>
        </p:txBody>
      </p:sp>
      <p:sp>
        <p:nvSpPr>
          <p:cNvPr id="24" name="Shape 22"/>
          <p:cNvSpPr/>
          <p:nvPr/>
        </p:nvSpPr>
        <p:spPr>
          <a:xfrm>
            <a:off x="6986016" y="1481328"/>
            <a:ext cx="457200" cy="457200"/>
          </a:xfrm>
          <a:prstGeom prst="ellipse">
            <a:avLst/>
          </a:prstGeom>
          <a:solidFill>
            <a:srgbClr val="1A6B8A"/>
          </a:solidFill>
          <a:ln/>
        </p:spPr>
        <p:txBody>
          <a:bodyPr/>
          <a:lstStyle/>
          <a:p>
            <a:endParaRPr lang="en-US"/>
          </a:p>
        </p:txBody>
      </p:sp>
      <p:sp>
        <p:nvSpPr>
          <p:cNvPr id="25" name="Text 23"/>
          <p:cNvSpPr/>
          <p:nvPr/>
        </p:nvSpPr>
        <p:spPr>
          <a:xfrm>
            <a:off x="6986016" y="1481328"/>
            <a:ext cx="457200" cy="457200"/>
          </a:xfrm>
          <a:prstGeom prst="rect">
            <a:avLst/>
          </a:prstGeom>
          <a:noFill/>
          <a:ln/>
        </p:spPr>
        <p:txBody>
          <a:bodyPr wrap="square" rtlCol="0" anchor="ctr"/>
          <a:lstStyle/>
          <a:p>
            <a:pPr marL="0" indent="0" algn="ctr">
              <a:buNone/>
            </a:pPr>
            <a:r>
              <a:rPr lang="en-US" sz="1400" b="1" dirty="0">
                <a:solidFill>
                  <a:srgbClr val="FFFFFF"/>
                </a:solidFill>
              </a:rPr>
              <a:t>4</a:t>
            </a:r>
            <a:endParaRPr lang="en-US" sz="1400" dirty="0"/>
          </a:p>
        </p:txBody>
      </p:sp>
      <p:sp>
        <p:nvSpPr>
          <p:cNvPr id="26" name="Text 24"/>
          <p:cNvSpPr/>
          <p:nvPr/>
        </p:nvSpPr>
        <p:spPr>
          <a:xfrm>
            <a:off x="7516368" y="1499616"/>
            <a:ext cx="1325880" cy="438912"/>
          </a:xfrm>
          <a:prstGeom prst="rect">
            <a:avLst/>
          </a:prstGeom>
          <a:noFill/>
          <a:ln/>
        </p:spPr>
        <p:txBody>
          <a:bodyPr wrap="square" rtlCol="0" anchor="ctr"/>
          <a:lstStyle/>
          <a:p>
            <a:pPr marL="0" indent="0">
              <a:buNone/>
            </a:pPr>
            <a:r>
              <a:rPr lang="en-US" sz="1100" b="1" dirty="0">
                <a:solidFill>
                  <a:srgbClr val="0D2B5E"/>
                </a:solidFill>
              </a:rPr>
              <a:t>Generate answer</a:t>
            </a:r>
            <a:endParaRPr lang="en-US" sz="1100" dirty="0"/>
          </a:p>
        </p:txBody>
      </p:sp>
      <p:sp>
        <p:nvSpPr>
          <p:cNvPr id="27" name="Text 25"/>
          <p:cNvSpPr/>
          <p:nvPr/>
        </p:nvSpPr>
        <p:spPr>
          <a:xfrm>
            <a:off x="7004304" y="1993392"/>
            <a:ext cx="1828800" cy="640080"/>
          </a:xfrm>
          <a:prstGeom prst="rect">
            <a:avLst/>
          </a:prstGeom>
          <a:noFill/>
          <a:ln/>
        </p:spPr>
        <p:txBody>
          <a:bodyPr wrap="square" rtlCol="0" anchor="ctr"/>
          <a:lstStyle/>
          <a:p>
            <a:pPr marL="0" indent="0">
              <a:buNone/>
            </a:pPr>
            <a:r>
              <a:rPr lang="en-US" sz="1000" i="1" dirty="0">
                <a:solidFill>
                  <a:srgbClr val="2C3E50"/>
                </a:solidFill>
              </a:rPr>
              <a:t>LoRA-Mistral outputs: "William Shakespeare"</a:t>
            </a:r>
            <a:endParaRPr lang="en-US" sz="1000" dirty="0"/>
          </a:p>
        </p:txBody>
      </p:sp>
      <p:sp>
        <p:nvSpPr>
          <p:cNvPr id="28" name="Shape 26"/>
          <p:cNvSpPr/>
          <p:nvPr/>
        </p:nvSpPr>
        <p:spPr>
          <a:xfrm>
            <a:off x="365760" y="2926080"/>
            <a:ext cx="4114800" cy="1874520"/>
          </a:xfrm>
          <a:prstGeom prst="rect">
            <a:avLst/>
          </a:prstGeom>
          <a:solidFill>
            <a:srgbClr val="EEF3F8"/>
          </a:solidFill>
          <a:ln w="9525">
            <a:solidFill>
              <a:srgbClr val="D0DCE8"/>
            </a:solidFill>
            <a:prstDash val="solid"/>
          </a:ln>
        </p:spPr>
        <p:txBody>
          <a:bodyPr/>
          <a:lstStyle/>
          <a:p>
            <a:endParaRPr lang="en-US"/>
          </a:p>
        </p:txBody>
      </p:sp>
      <p:sp>
        <p:nvSpPr>
          <p:cNvPr id="29" name="Text 27"/>
          <p:cNvSpPr/>
          <p:nvPr/>
        </p:nvSpPr>
        <p:spPr>
          <a:xfrm>
            <a:off x="502920" y="3017520"/>
            <a:ext cx="3840480" cy="256032"/>
          </a:xfrm>
          <a:prstGeom prst="rect">
            <a:avLst/>
          </a:prstGeom>
          <a:noFill/>
          <a:ln/>
        </p:spPr>
        <p:txBody>
          <a:bodyPr wrap="square" rtlCol="0" anchor="ctr"/>
          <a:lstStyle/>
          <a:p>
            <a:pPr marL="0" indent="0">
              <a:buNone/>
            </a:pPr>
            <a:r>
              <a:rPr lang="en-US" sz="900" b="1" kern="0" spc="100" dirty="0">
                <a:solidFill>
                  <a:srgbClr val="1A6B8A"/>
                </a:solidFill>
              </a:rPr>
              <a:t>A C T U A L  T O P - 5  R E T R I E V E D  T I T L E S</a:t>
            </a:r>
            <a:endParaRPr lang="en-US" sz="900" dirty="0"/>
          </a:p>
        </p:txBody>
      </p:sp>
      <p:sp>
        <p:nvSpPr>
          <p:cNvPr id="30" name="Text 28"/>
          <p:cNvSpPr/>
          <p:nvPr/>
        </p:nvSpPr>
        <p:spPr>
          <a:xfrm>
            <a:off x="502920" y="3337560"/>
            <a:ext cx="3840480" cy="1234440"/>
          </a:xfrm>
          <a:prstGeom prst="rect">
            <a:avLst/>
          </a:prstGeom>
          <a:noFill/>
          <a:ln/>
        </p:spPr>
        <p:txBody>
          <a:bodyPr wrap="square" rtlCol="0" anchor="ctr"/>
          <a:lstStyle/>
          <a:p>
            <a:pPr marL="0" indent="0">
              <a:buNone/>
            </a:pPr>
            <a:r>
              <a:rPr lang="en-US" sz="1100" dirty="0">
                <a:solidFill>
                  <a:srgbClr val="2C3E50"/>
                </a:solidFill>
              </a:rPr>
              <a:t>1. Words, Words, Words</a:t>
            </a:r>
            <a:endParaRPr lang="en-US" sz="1100" dirty="0"/>
          </a:p>
          <a:p>
            <a:pPr marL="0" indent="0">
              <a:buNone/>
            </a:pPr>
            <a:r>
              <a:rPr lang="en-US" sz="1100" dirty="0">
                <a:solidFill>
                  <a:srgbClr val="2C3E50"/>
                </a:solidFill>
              </a:rPr>
              <a:t>2. Hamlet</a:t>
            </a:r>
            <a:endParaRPr lang="en-US" sz="1100" dirty="0"/>
          </a:p>
          <a:p>
            <a:pPr marL="0" indent="0">
              <a:buNone/>
            </a:pPr>
            <a:r>
              <a:rPr lang="en-US" sz="1100" dirty="0">
                <a:solidFill>
                  <a:srgbClr val="2C3E50"/>
                </a:solidFill>
              </a:rPr>
              <a:t>3. William Shakespeare</a:t>
            </a:r>
            <a:endParaRPr lang="en-US" sz="1100" dirty="0"/>
          </a:p>
          <a:p>
            <a:pPr marL="0" indent="0">
              <a:buNone/>
            </a:pPr>
            <a:r>
              <a:rPr lang="en-US" sz="1100" dirty="0">
                <a:solidFill>
                  <a:srgbClr val="2C3E50"/>
                </a:solidFill>
              </a:rPr>
              <a:t>4. Hamlet (1990 film)</a:t>
            </a:r>
            <a:endParaRPr lang="en-US" sz="1100" dirty="0"/>
          </a:p>
          <a:p>
            <a:pPr marL="0" indent="0">
              <a:buNone/>
            </a:pPr>
            <a:r>
              <a:rPr lang="en-US" sz="1100" dirty="0">
                <a:solidFill>
                  <a:srgbClr val="2C3E50"/>
                </a:solidFill>
              </a:rPr>
              <a:t>5. Prince Hamlet</a:t>
            </a:r>
            <a:endParaRPr lang="en-US" sz="1100" dirty="0"/>
          </a:p>
        </p:txBody>
      </p:sp>
      <p:sp>
        <p:nvSpPr>
          <p:cNvPr id="31" name="Shape 29"/>
          <p:cNvSpPr/>
          <p:nvPr/>
        </p:nvSpPr>
        <p:spPr>
          <a:xfrm>
            <a:off x="4754880" y="2926080"/>
            <a:ext cx="4023360" cy="1874520"/>
          </a:xfrm>
          <a:prstGeom prst="rect">
            <a:avLst/>
          </a:prstGeom>
          <a:solidFill>
            <a:srgbClr val="EEF3F8"/>
          </a:solidFill>
          <a:ln w="9525">
            <a:solidFill>
              <a:srgbClr val="D0DCE8"/>
            </a:solidFill>
            <a:prstDash val="solid"/>
          </a:ln>
        </p:spPr>
        <p:txBody>
          <a:bodyPr/>
          <a:lstStyle/>
          <a:p>
            <a:endParaRPr lang="en-US"/>
          </a:p>
        </p:txBody>
      </p:sp>
      <p:sp>
        <p:nvSpPr>
          <p:cNvPr id="32" name="Text 30"/>
          <p:cNvSpPr/>
          <p:nvPr/>
        </p:nvSpPr>
        <p:spPr>
          <a:xfrm>
            <a:off x="4937760" y="3017520"/>
            <a:ext cx="3657600" cy="256032"/>
          </a:xfrm>
          <a:prstGeom prst="rect">
            <a:avLst/>
          </a:prstGeom>
          <a:noFill/>
          <a:ln/>
        </p:spPr>
        <p:txBody>
          <a:bodyPr wrap="square" rtlCol="0" anchor="ctr"/>
          <a:lstStyle/>
          <a:p>
            <a:pPr marL="0" indent="0">
              <a:buNone/>
            </a:pPr>
            <a:r>
              <a:rPr lang="en-US" sz="900" b="1" kern="0" spc="100" dirty="0">
                <a:solidFill>
                  <a:srgbClr val="1A6B8A"/>
                </a:solidFill>
              </a:rPr>
              <a:t>M O D E L  O U T P U T</a:t>
            </a:r>
            <a:endParaRPr lang="en-US" sz="900" dirty="0"/>
          </a:p>
        </p:txBody>
      </p:sp>
      <p:sp>
        <p:nvSpPr>
          <p:cNvPr id="33" name="Text 31"/>
          <p:cNvSpPr/>
          <p:nvPr/>
        </p:nvSpPr>
        <p:spPr>
          <a:xfrm>
            <a:off x="4937760" y="3364992"/>
            <a:ext cx="3657600" cy="594360"/>
          </a:xfrm>
          <a:prstGeom prst="rect">
            <a:avLst/>
          </a:prstGeom>
          <a:noFill/>
          <a:ln/>
        </p:spPr>
        <p:txBody>
          <a:bodyPr wrap="square" rtlCol="0" anchor="ctr"/>
          <a:lstStyle/>
          <a:p>
            <a:pPr marL="0" indent="0">
              <a:buNone/>
            </a:pPr>
            <a:r>
              <a:rPr lang="en-US" sz="2000" b="1" dirty="0">
                <a:solidFill>
                  <a:srgbClr val="0D2B5E"/>
                </a:solidFill>
              </a:rPr>
              <a:t>"William Shakespeare"</a:t>
            </a:r>
            <a:endParaRPr lang="en-US" sz="2000" dirty="0"/>
          </a:p>
        </p:txBody>
      </p:sp>
      <p:sp>
        <p:nvSpPr>
          <p:cNvPr id="34" name="Text 32"/>
          <p:cNvSpPr/>
          <p:nvPr/>
        </p:nvSpPr>
        <p:spPr>
          <a:xfrm>
            <a:off x="4937760" y="4005072"/>
            <a:ext cx="3657600" cy="502920"/>
          </a:xfrm>
          <a:prstGeom prst="rect">
            <a:avLst/>
          </a:prstGeom>
          <a:noFill/>
          <a:ln/>
        </p:spPr>
        <p:txBody>
          <a:bodyPr wrap="square" rtlCol="0" anchor="ctr"/>
          <a:lstStyle/>
          <a:p>
            <a:pPr marL="0" indent="0">
              <a:buNone/>
            </a:pPr>
            <a:r>
              <a:rPr lang="en-US" sz="1300" b="1" dirty="0">
                <a:solidFill>
                  <a:srgbClr val="2E9E6B"/>
                </a:solidFill>
              </a:rPr>
              <a:t>✓  Concise, correct, grounded</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164592"/>
            <a:ext cx="8229600" cy="256032"/>
          </a:xfrm>
          <a:prstGeom prst="rect">
            <a:avLst/>
          </a:prstGeom>
          <a:noFill/>
          <a:ln/>
        </p:spPr>
        <p:txBody>
          <a:bodyPr wrap="square" rtlCol="0" anchor="ctr"/>
          <a:lstStyle/>
          <a:p>
            <a:pPr marL="0" indent="0" algn="l">
              <a:buNone/>
            </a:pPr>
            <a:r>
              <a:rPr lang="en-US" sz="900" b="1" kern="0" spc="300" dirty="0">
                <a:solidFill>
                  <a:srgbClr val="2E8BAE"/>
                </a:solidFill>
              </a:rPr>
              <a:t>I M P L E M E N T A T I O N</a:t>
            </a:r>
            <a:endParaRPr lang="en-US" sz="900" dirty="0"/>
          </a:p>
        </p:txBody>
      </p:sp>
      <p:sp>
        <p:nvSpPr>
          <p:cNvPr id="3" name="Text 1"/>
          <p:cNvSpPr/>
          <p:nvPr/>
        </p:nvSpPr>
        <p:spPr>
          <a:xfrm>
            <a:off x="7863840" y="164592"/>
            <a:ext cx="1097280" cy="256032"/>
          </a:xfrm>
          <a:prstGeom prst="rect">
            <a:avLst/>
          </a:prstGeom>
          <a:noFill/>
          <a:ln/>
        </p:spPr>
        <p:txBody>
          <a:bodyPr wrap="square" rtlCol="0" anchor="ctr"/>
          <a:lstStyle/>
          <a:p>
            <a:pPr marL="0" indent="0" algn="r">
              <a:buNone/>
            </a:pPr>
            <a:r>
              <a:rPr lang="en-US" sz="900" dirty="0">
                <a:solidFill>
                  <a:srgbClr val="5A7080"/>
                </a:solidFill>
              </a:rPr>
              <a:t>9 / 17</a:t>
            </a:r>
            <a:endParaRPr lang="en-US" sz="900" dirty="0"/>
          </a:p>
        </p:txBody>
      </p:sp>
      <p:sp>
        <p:nvSpPr>
          <p:cNvPr id="4" name="Text 2"/>
          <p:cNvSpPr/>
          <p:nvPr/>
        </p:nvSpPr>
        <p:spPr>
          <a:xfrm>
            <a:off x="457200" y="502920"/>
            <a:ext cx="8229600" cy="777240"/>
          </a:xfrm>
          <a:prstGeom prst="rect">
            <a:avLst/>
          </a:prstGeom>
          <a:noFill/>
          <a:ln/>
        </p:spPr>
        <p:txBody>
          <a:bodyPr wrap="square" rtlCol="0" anchor="ctr"/>
          <a:lstStyle/>
          <a:p>
            <a:pPr marL="0" indent="0" algn="l">
              <a:buNone/>
            </a:pPr>
            <a:r>
              <a:rPr lang="en-US" sz="3000" b="1" dirty="0">
                <a:solidFill>
                  <a:srgbClr val="0D2B5E"/>
                </a:solidFill>
                <a:latin typeface="Calibri" pitchFamily="34" charset="0"/>
                <a:ea typeface="Calibri" pitchFamily="34" charset="-122"/>
                <a:cs typeface="Calibri" pitchFamily="34" charset="-120"/>
              </a:rPr>
              <a:t>What we did</a:t>
            </a:r>
            <a:endParaRPr lang="en-US" sz="3000" dirty="0"/>
          </a:p>
        </p:txBody>
      </p:sp>
      <p:sp>
        <p:nvSpPr>
          <p:cNvPr id="5" name="Shape 3"/>
          <p:cNvSpPr/>
          <p:nvPr/>
        </p:nvSpPr>
        <p:spPr>
          <a:xfrm>
            <a:off x="411480" y="1389888"/>
            <a:ext cx="1828800" cy="438912"/>
          </a:xfrm>
          <a:prstGeom prst="rect">
            <a:avLst/>
          </a:prstGeom>
          <a:solidFill>
            <a:srgbClr val="1A6B8A"/>
          </a:solidFill>
          <a:ln/>
        </p:spPr>
        <p:txBody>
          <a:bodyPr/>
          <a:lstStyle/>
          <a:p>
            <a:endParaRPr lang="en-US"/>
          </a:p>
        </p:txBody>
      </p:sp>
      <p:sp>
        <p:nvSpPr>
          <p:cNvPr id="6" name="Text 4"/>
          <p:cNvSpPr/>
          <p:nvPr/>
        </p:nvSpPr>
        <p:spPr>
          <a:xfrm>
            <a:off x="411480" y="1389888"/>
            <a:ext cx="1828800" cy="438912"/>
          </a:xfrm>
          <a:prstGeom prst="rect">
            <a:avLst/>
          </a:prstGeom>
          <a:noFill/>
          <a:ln/>
        </p:spPr>
        <p:txBody>
          <a:bodyPr wrap="square" rtlCol="0" anchor="ctr"/>
          <a:lstStyle/>
          <a:p>
            <a:pPr marL="0" indent="0" algn="ctr">
              <a:buNone/>
            </a:pPr>
            <a:r>
              <a:rPr lang="en-US" sz="1150" b="1" dirty="0">
                <a:solidFill>
                  <a:srgbClr val="FFFFFF"/>
                </a:solidFill>
              </a:rPr>
              <a:t>Setup</a:t>
            </a:r>
            <a:endParaRPr lang="en-US" sz="1150" dirty="0"/>
          </a:p>
        </p:txBody>
      </p:sp>
      <p:sp>
        <p:nvSpPr>
          <p:cNvPr id="7" name="Shape 5"/>
          <p:cNvSpPr/>
          <p:nvPr/>
        </p:nvSpPr>
        <p:spPr>
          <a:xfrm>
            <a:off x="2240280" y="1389888"/>
            <a:ext cx="6492240" cy="438912"/>
          </a:xfrm>
          <a:prstGeom prst="rect">
            <a:avLst/>
          </a:prstGeom>
          <a:solidFill>
            <a:srgbClr val="F4F7FA"/>
          </a:solidFill>
          <a:ln w="6350">
            <a:solidFill>
              <a:srgbClr val="D0DCE8"/>
            </a:solidFill>
            <a:prstDash val="solid"/>
          </a:ln>
        </p:spPr>
        <p:txBody>
          <a:bodyPr/>
          <a:lstStyle/>
          <a:p>
            <a:endParaRPr lang="en-US"/>
          </a:p>
        </p:txBody>
      </p:sp>
      <p:sp>
        <p:nvSpPr>
          <p:cNvPr id="8" name="Text 6"/>
          <p:cNvSpPr/>
          <p:nvPr/>
        </p:nvSpPr>
        <p:spPr>
          <a:xfrm>
            <a:off x="2377440" y="1389888"/>
            <a:ext cx="6217920" cy="438912"/>
          </a:xfrm>
          <a:prstGeom prst="rect">
            <a:avLst/>
          </a:prstGeom>
          <a:noFill/>
          <a:ln/>
        </p:spPr>
        <p:txBody>
          <a:bodyPr wrap="square" rtlCol="0" anchor="ctr"/>
          <a:lstStyle/>
          <a:p>
            <a:pPr marL="0" indent="0">
              <a:buNone/>
            </a:pPr>
            <a:r>
              <a:rPr lang="en-US" sz="1150" dirty="0">
                <a:solidFill>
                  <a:srgbClr val="2C3E50"/>
                </a:solidFill>
              </a:rPr>
              <a:t>Colab Pro environment, Mistral 4-bit loading, dependency stack</a:t>
            </a:r>
            <a:endParaRPr lang="en-US" sz="1150" dirty="0"/>
          </a:p>
        </p:txBody>
      </p:sp>
      <p:sp>
        <p:nvSpPr>
          <p:cNvPr id="9" name="Shape 7"/>
          <p:cNvSpPr/>
          <p:nvPr/>
        </p:nvSpPr>
        <p:spPr>
          <a:xfrm>
            <a:off x="411480" y="1888236"/>
            <a:ext cx="1828800" cy="438912"/>
          </a:xfrm>
          <a:prstGeom prst="rect">
            <a:avLst/>
          </a:prstGeom>
          <a:solidFill>
            <a:srgbClr val="1A6B8A"/>
          </a:solidFill>
          <a:ln/>
        </p:spPr>
        <p:txBody>
          <a:bodyPr/>
          <a:lstStyle/>
          <a:p>
            <a:endParaRPr lang="en-US"/>
          </a:p>
        </p:txBody>
      </p:sp>
      <p:sp>
        <p:nvSpPr>
          <p:cNvPr id="10" name="Text 8"/>
          <p:cNvSpPr/>
          <p:nvPr/>
        </p:nvSpPr>
        <p:spPr>
          <a:xfrm>
            <a:off x="411480" y="1888236"/>
            <a:ext cx="1828800" cy="438912"/>
          </a:xfrm>
          <a:prstGeom prst="rect">
            <a:avLst/>
          </a:prstGeom>
          <a:noFill/>
          <a:ln/>
        </p:spPr>
        <p:txBody>
          <a:bodyPr wrap="square" rtlCol="0" anchor="ctr"/>
          <a:lstStyle/>
          <a:p>
            <a:pPr marL="0" indent="0" algn="ctr">
              <a:buNone/>
            </a:pPr>
            <a:r>
              <a:rPr lang="en-US" sz="1150" b="1" dirty="0">
                <a:solidFill>
                  <a:srgbClr val="FFFFFF"/>
                </a:solidFill>
              </a:rPr>
              <a:t>Retriever</a:t>
            </a:r>
            <a:endParaRPr lang="en-US" sz="1150" dirty="0"/>
          </a:p>
        </p:txBody>
      </p:sp>
      <p:sp>
        <p:nvSpPr>
          <p:cNvPr id="11" name="Shape 9"/>
          <p:cNvSpPr/>
          <p:nvPr/>
        </p:nvSpPr>
        <p:spPr>
          <a:xfrm>
            <a:off x="2240280" y="1888236"/>
            <a:ext cx="6492240" cy="438912"/>
          </a:xfrm>
          <a:prstGeom prst="rect">
            <a:avLst/>
          </a:prstGeom>
          <a:solidFill>
            <a:srgbClr val="EEF3F8"/>
          </a:solidFill>
          <a:ln w="6350">
            <a:solidFill>
              <a:srgbClr val="D0DCE8"/>
            </a:solidFill>
            <a:prstDash val="solid"/>
          </a:ln>
        </p:spPr>
        <p:txBody>
          <a:bodyPr/>
          <a:lstStyle/>
          <a:p>
            <a:endParaRPr lang="en-US"/>
          </a:p>
        </p:txBody>
      </p:sp>
      <p:sp>
        <p:nvSpPr>
          <p:cNvPr id="12" name="Text 10"/>
          <p:cNvSpPr/>
          <p:nvPr/>
        </p:nvSpPr>
        <p:spPr>
          <a:xfrm>
            <a:off x="2377440" y="1888236"/>
            <a:ext cx="6217920" cy="438912"/>
          </a:xfrm>
          <a:prstGeom prst="rect">
            <a:avLst/>
          </a:prstGeom>
          <a:noFill/>
          <a:ln/>
        </p:spPr>
        <p:txBody>
          <a:bodyPr wrap="square" rtlCol="0" anchor="ctr"/>
          <a:lstStyle/>
          <a:p>
            <a:pPr marL="0" indent="0">
              <a:buNone/>
            </a:pPr>
            <a:r>
              <a:rPr lang="en-US" sz="1150" dirty="0">
                <a:solidFill>
                  <a:srgbClr val="2C3E50"/>
                </a:solidFill>
              </a:rPr>
              <a:t>Built dense retriever with sentence-transformers + FAISS</a:t>
            </a:r>
            <a:endParaRPr lang="en-US" sz="1150" dirty="0"/>
          </a:p>
        </p:txBody>
      </p:sp>
      <p:sp>
        <p:nvSpPr>
          <p:cNvPr id="13" name="Shape 11"/>
          <p:cNvSpPr/>
          <p:nvPr/>
        </p:nvSpPr>
        <p:spPr>
          <a:xfrm>
            <a:off x="411480" y="2386584"/>
            <a:ext cx="1828800" cy="438912"/>
          </a:xfrm>
          <a:prstGeom prst="rect">
            <a:avLst/>
          </a:prstGeom>
          <a:solidFill>
            <a:srgbClr val="1A6B8A"/>
          </a:solidFill>
          <a:ln/>
        </p:spPr>
        <p:txBody>
          <a:bodyPr/>
          <a:lstStyle/>
          <a:p>
            <a:endParaRPr lang="en-US"/>
          </a:p>
        </p:txBody>
      </p:sp>
      <p:sp>
        <p:nvSpPr>
          <p:cNvPr id="14" name="Text 12"/>
          <p:cNvSpPr/>
          <p:nvPr/>
        </p:nvSpPr>
        <p:spPr>
          <a:xfrm>
            <a:off x="411480" y="2386584"/>
            <a:ext cx="1828800" cy="438912"/>
          </a:xfrm>
          <a:prstGeom prst="rect">
            <a:avLst/>
          </a:prstGeom>
          <a:noFill/>
          <a:ln/>
        </p:spPr>
        <p:txBody>
          <a:bodyPr wrap="square" rtlCol="0" anchor="ctr"/>
          <a:lstStyle/>
          <a:p>
            <a:pPr marL="0" indent="0" algn="ctr">
              <a:buNone/>
            </a:pPr>
            <a:r>
              <a:rPr lang="en-US" sz="1150" b="1" dirty="0">
                <a:solidFill>
                  <a:srgbClr val="FFFFFF"/>
                </a:solidFill>
              </a:rPr>
              <a:t>Baselines</a:t>
            </a:r>
            <a:endParaRPr lang="en-US" sz="1150" dirty="0"/>
          </a:p>
        </p:txBody>
      </p:sp>
      <p:sp>
        <p:nvSpPr>
          <p:cNvPr id="15" name="Shape 13"/>
          <p:cNvSpPr/>
          <p:nvPr/>
        </p:nvSpPr>
        <p:spPr>
          <a:xfrm>
            <a:off x="2240280" y="2386584"/>
            <a:ext cx="6492240" cy="438912"/>
          </a:xfrm>
          <a:prstGeom prst="rect">
            <a:avLst/>
          </a:prstGeom>
          <a:solidFill>
            <a:srgbClr val="F4F7FA"/>
          </a:solidFill>
          <a:ln w="6350">
            <a:solidFill>
              <a:srgbClr val="D0DCE8"/>
            </a:solidFill>
            <a:prstDash val="solid"/>
          </a:ln>
        </p:spPr>
        <p:txBody>
          <a:bodyPr/>
          <a:lstStyle/>
          <a:p>
            <a:endParaRPr lang="en-US"/>
          </a:p>
        </p:txBody>
      </p:sp>
      <p:sp>
        <p:nvSpPr>
          <p:cNvPr id="16" name="Text 14"/>
          <p:cNvSpPr/>
          <p:nvPr/>
        </p:nvSpPr>
        <p:spPr>
          <a:xfrm>
            <a:off x="2377440" y="2386584"/>
            <a:ext cx="6217920" cy="438912"/>
          </a:xfrm>
          <a:prstGeom prst="rect">
            <a:avLst/>
          </a:prstGeom>
          <a:noFill/>
          <a:ln/>
        </p:spPr>
        <p:txBody>
          <a:bodyPr wrap="square" rtlCol="0" anchor="ctr"/>
          <a:lstStyle/>
          <a:p>
            <a:pPr marL="0" indent="0">
              <a:buNone/>
            </a:pPr>
            <a:r>
              <a:rPr lang="en-US" sz="1150" dirty="0">
                <a:solidFill>
                  <a:srgbClr val="2C3E50"/>
                </a:solidFill>
              </a:rPr>
              <a:t>Zero-shot and few-shot configurations on 500 questions</a:t>
            </a:r>
            <a:endParaRPr lang="en-US" sz="1150" dirty="0"/>
          </a:p>
        </p:txBody>
      </p:sp>
      <p:sp>
        <p:nvSpPr>
          <p:cNvPr id="17" name="Shape 15"/>
          <p:cNvSpPr/>
          <p:nvPr/>
        </p:nvSpPr>
        <p:spPr>
          <a:xfrm>
            <a:off x="411480" y="2884932"/>
            <a:ext cx="1828800" cy="438912"/>
          </a:xfrm>
          <a:prstGeom prst="rect">
            <a:avLst/>
          </a:prstGeom>
          <a:solidFill>
            <a:srgbClr val="1A6B8A"/>
          </a:solidFill>
          <a:ln/>
        </p:spPr>
        <p:txBody>
          <a:bodyPr/>
          <a:lstStyle/>
          <a:p>
            <a:endParaRPr lang="en-US"/>
          </a:p>
        </p:txBody>
      </p:sp>
      <p:sp>
        <p:nvSpPr>
          <p:cNvPr id="18" name="Text 16"/>
          <p:cNvSpPr/>
          <p:nvPr/>
        </p:nvSpPr>
        <p:spPr>
          <a:xfrm>
            <a:off x="411480" y="2884932"/>
            <a:ext cx="1828800" cy="438912"/>
          </a:xfrm>
          <a:prstGeom prst="rect">
            <a:avLst/>
          </a:prstGeom>
          <a:noFill/>
          <a:ln/>
        </p:spPr>
        <p:txBody>
          <a:bodyPr wrap="square" rtlCol="0" anchor="ctr"/>
          <a:lstStyle/>
          <a:p>
            <a:pPr marL="0" indent="0" algn="ctr">
              <a:buNone/>
            </a:pPr>
            <a:r>
              <a:rPr lang="en-US" sz="1150" b="1" dirty="0">
                <a:solidFill>
                  <a:srgbClr val="FFFFFF"/>
                </a:solidFill>
              </a:rPr>
              <a:t>RAG Pipeline</a:t>
            </a:r>
            <a:endParaRPr lang="en-US" sz="1150" dirty="0"/>
          </a:p>
        </p:txBody>
      </p:sp>
      <p:sp>
        <p:nvSpPr>
          <p:cNvPr id="19" name="Shape 17"/>
          <p:cNvSpPr/>
          <p:nvPr/>
        </p:nvSpPr>
        <p:spPr>
          <a:xfrm>
            <a:off x="2240280" y="2884932"/>
            <a:ext cx="6492240" cy="438912"/>
          </a:xfrm>
          <a:prstGeom prst="rect">
            <a:avLst/>
          </a:prstGeom>
          <a:solidFill>
            <a:srgbClr val="EEF3F8"/>
          </a:solidFill>
          <a:ln w="6350">
            <a:solidFill>
              <a:srgbClr val="D0DCE8"/>
            </a:solidFill>
            <a:prstDash val="solid"/>
          </a:ln>
        </p:spPr>
        <p:txBody>
          <a:bodyPr/>
          <a:lstStyle/>
          <a:p>
            <a:endParaRPr lang="en-US"/>
          </a:p>
        </p:txBody>
      </p:sp>
      <p:sp>
        <p:nvSpPr>
          <p:cNvPr id="20" name="Text 18"/>
          <p:cNvSpPr/>
          <p:nvPr/>
        </p:nvSpPr>
        <p:spPr>
          <a:xfrm>
            <a:off x="2377440" y="2884932"/>
            <a:ext cx="6217920" cy="438912"/>
          </a:xfrm>
          <a:prstGeom prst="rect">
            <a:avLst/>
          </a:prstGeom>
          <a:noFill/>
          <a:ln/>
        </p:spPr>
        <p:txBody>
          <a:bodyPr wrap="square" rtlCol="0" anchor="ctr"/>
          <a:lstStyle/>
          <a:p>
            <a:pPr marL="0" indent="0">
              <a:buNone/>
            </a:pPr>
            <a:r>
              <a:rPr lang="en-US" sz="1150" dirty="0">
                <a:solidFill>
                  <a:srgbClr val="2C3E50"/>
                </a:solidFill>
              </a:rPr>
              <a:t>Integrated retriever + generator with shared prompt builder</a:t>
            </a:r>
            <a:endParaRPr lang="en-US" sz="1150" dirty="0"/>
          </a:p>
        </p:txBody>
      </p:sp>
      <p:sp>
        <p:nvSpPr>
          <p:cNvPr id="21" name="Shape 19"/>
          <p:cNvSpPr/>
          <p:nvPr/>
        </p:nvSpPr>
        <p:spPr>
          <a:xfrm>
            <a:off x="411480" y="3383280"/>
            <a:ext cx="1828800" cy="438912"/>
          </a:xfrm>
          <a:prstGeom prst="rect">
            <a:avLst/>
          </a:prstGeom>
          <a:solidFill>
            <a:srgbClr val="1A6B8A"/>
          </a:solidFill>
          <a:ln/>
        </p:spPr>
        <p:txBody>
          <a:bodyPr/>
          <a:lstStyle/>
          <a:p>
            <a:endParaRPr lang="en-US"/>
          </a:p>
        </p:txBody>
      </p:sp>
      <p:sp>
        <p:nvSpPr>
          <p:cNvPr id="22" name="Text 20"/>
          <p:cNvSpPr/>
          <p:nvPr/>
        </p:nvSpPr>
        <p:spPr>
          <a:xfrm>
            <a:off x="411480" y="3383280"/>
            <a:ext cx="1828800" cy="438912"/>
          </a:xfrm>
          <a:prstGeom prst="rect">
            <a:avLst/>
          </a:prstGeom>
          <a:noFill/>
          <a:ln/>
        </p:spPr>
        <p:txBody>
          <a:bodyPr wrap="square" rtlCol="0" anchor="ctr"/>
          <a:lstStyle/>
          <a:p>
            <a:pPr marL="0" indent="0" algn="ctr">
              <a:buNone/>
            </a:pPr>
            <a:r>
              <a:rPr lang="en-US" sz="1150" b="1" dirty="0">
                <a:solidFill>
                  <a:srgbClr val="FFFFFF"/>
                </a:solidFill>
              </a:rPr>
              <a:t>LoRA Training</a:t>
            </a:r>
            <a:endParaRPr lang="en-US" sz="1150" dirty="0"/>
          </a:p>
        </p:txBody>
      </p:sp>
      <p:sp>
        <p:nvSpPr>
          <p:cNvPr id="23" name="Shape 21"/>
          <p:cNvSpPr/>
          <p:nvPr/>
        </p:nvSpPr>
        <p:spPr>
          <a:xfrm>
            <a:off x="2240280" y="3383280"/>
            <a:ext cx="6492240" cy="438912"/>
          </a:xfrm>
          <a:prstGeom prst="rect">
            <a:avLst/>
          </a:prstGeom>
          <a:solidFill>
            <a:srgbClr val="F4F7FA"/>
          </a:solidFill>
          <a:ln w="6350">
            <a:solidFill>
              <a:srgbClr val="D0DCE8"/>
            </a:solidFill>
            <a:prstDash val="solid"/>
          </a:ln>
        </p:spPr>
        <p:txBody>
          <a:bodyPr/>
          <a:lstStyle/>
          <a:p>
            <a:endParaRPr lang="en-US"/>
          </a:p>
        </p:txBody>
      </p:sp>
      <p:sp>
        <p:nvSpPr>
          <p:cNvPr id="24" name="Text 22"/>
          <p:cNvSpPr/>
          <p:nvPr/>
        </p:nvSpPr>
        <p:spPr>
          <a:xfrm>
            <a:off x="2377440" y="3383280"/>
            <a:ext cx="6217920" cy="438912"/>
          </a:xfrm>
          <a:prstGeom prst="rect">
            <a:avLst/>
          </a:prstGeom>
          <a:noFill/>
          <a:ln/>
        </p:spPr>
        <p:txBody>
          <a:bodyPr wrap="square" rtlCol="0" anchor="ctr"/>
          <a:lstStyle/>
          <a:p>
            <a:pPr marL="0" indent="0">
              <a:buNone/>
            </a:pPr>
            <a:r>
              <a:rPr lang="en-US" sz="1150" dirty="0">
                <a:solidFill>
                  <a:srgbClr val="2C3E50"/>
                </a:solidFill>
              </a:rPr>
              <a:t>Full epoch, 10k examples, loss 3.23 → 0.87 in ~30 min on A100</a:t>
            </a:r>
            <a:endParaRPr lang="en-US" sz="1150" dirty="0"/>
          </a:p>
        </p:txBody>
      </p:sp>
      <p:sp>
        <p:nvSpPr>
          <p:cNvPr id="25" name="Shape 23"/>
          <p:cNvSpPr/>
          <p:nvPr/>
        </p:nvSpPr>
        <p:spPr>
          <a:xfrm>
            <a:off x="411480" y="3881628"/>
            <a:ext cx="1828800" cy="438912"/>
          </a:xfrm>
          <a:prstGeom prst="rect">
            <a:avLst/>
          </a:prstGeom>
          <a:solidFill>
            <a:srgbClr val="1A6B8A"/>
          </a:solidFill>
          <a:ln/>
        </p:spPr>
        <p:txBody>
          <a:bodyPr/>
          <a:lstStyle/>
          <a:p>
            <a:endParaRPr lang="en-US"/>
          </a:p>
        </p:txBody>
      </p:sp>
      <p:sp>
        <p:nvSpPr>
          <p:cNvPr id="26" name="Text 24"/>
          <p:cNvSpPr/>
          <p:nvPr/>
        </p:nvSpPr>
        <p:spPr>
          <a:xfrm>
            <a:off x="411480" y="3881628"/>
            <a:ext cx="1828800" cy="438912"/>
          </a:xfrm>
          <a:prstGeom prst="rect">
            <a:avLst/>
          </a:prstGeom>
          <a:noFill/>
          <a:ln/>
        </p:spPr>
        <p:txBody>
          <a:bodyPr wrap="square" rtlCol="0" anchor="ctr"/>
          <a:lstStyle/>
          <a:p>
            <a:pPr marL="0" indent="0" algn="ctr">
              <a:buNone/>
            </a:pPr>
            <a:r>
              <a:rPr lang="en-US" sz="1150" b="1" dirty="0">
                <a:solidFill>
                  <a:srgbClr val="FFFFFF"/>
                </a:solidFill>
              </a:rPr>
              <a:t>Corpus Scaling</a:t>
            </a:r>
            <a:endParaRPr lang="en-US" sz="1150" dirty="0"/>
          </a:p>
        </p:txBody>
      </p:sp>
      <p:sp>
        <p:nvSpPr>
          <p:cNvPr id="27" name="Shape 25"/>
          <p:cNvSpPr/>
          <p:nvPr/>
        </p:nvSpPr>
        <p:spPr>
          <a:xfrm>
            <a:off x="2240280" y="3881628"/>
            <a:ext cx="6492240" cy="438912"/>
          </a:xfrm>
          <a:prstGeom prst="rect">
            <a:avLst/>
          </a:prstGeom>
          <a:solidFill>
            <a:srgbClr val="EEF3F8"/>
          </a:solidFill>
          <a:ln w="6350">
            <a:solidFill>
              <a:srgbClr val="D0DCE8"/>
            </a:solidFill>
            <a:prstDash val="solid"/>
          </a:ln>
        </p:spPr>
        <p:txBody>
          <a:bodyPr/>
          <a:lstStyle/>
          <a:p>
            <a:endParaRPr lang="en-US"/>
          </a:p>
        </p:txBody>
      </p:sp>
      <p:sp>
        <p:nvSpPr>
          <p:cNvPr id="28" name="Text 26"/>
          <p:cNvSpPr/>
          <p:nvPr/>
        </p:nvSpPr>
        <p:spPr>
          <a:xfrm>
            <a:off x="2377440" y="3881628"/>
            <a:ext cx="6217920" cy="438912"/>
          </a:xfrm>
          <a:prstGeom prst="rect">
            <a:avLst/>
          </a:prstGeom>
          <a:noFill/>
          <a:ln/>
        </p:spPr>
        <p:txBody>
          <a:bodyPr wrap="square" rtlCol="0" anchor="ctr"/>
          <a:lstStyle/>
          <a:p>
            <a:pPr marL="0" indent="0">
              <a:buNone/>
            </a:pPr>
            <a:r>
              <a:rPr lang="en-US" sz="1150" dirty="0">
                <a:solidFill>
                  <a:srgbClr val="2C3E50"/>
                </a:solidFill>
              </a:rPr>
              <a:t>Re-built FAISS index over 525,731 Wikipedia passages (50k articles)</a:t>
            </a:r>
            <a:endParaRPr lang="en-US" sz="1150" dirty="0"/>
          </a:p>
        </p:txBody>
      </p:sp>
      <p:sp>
        <p:nvSpPr>
          <p:cNvPr id="29" name="Shape 27"/>
          <p:cNvSpPr/>
          <p:nvPr/>
        </p:nvSpPr>
        <p:spPr>
          <a:xfrm>
            <a:off x="411480" y="4379976"/>
            <a:ext cx="1828800" cy="438912"/>
          </a:xfrm>
          <a:prstGeom prst="rect">
            <a:avLst/>
          </a:prstGeom>
          <a:solidFill>
            <a:srgbClr val="1A6B8A"/>
          </a:solidFill>
          <a:ln/>
        </p:spPr>
        <p:txBody>
          <a:bodyPr/>
          <a:lstStyle/>
          <a:p>
            <a:endParaRPr lang="en-US"/>
          </a:p>
        </p:txBody>
      </p:sp>
      <p:sp>
        <p:nvSpPr>
          <p:cNvPr id="30" name="Text 28"/>
          <p:cNvSpPr/>
          <p:nvPr/>
        </p:nvSpPr>
        <p:spPr>
          <a:xfrm>
            <a:off x="411480" y="4379976"/>
            <a:ext cx="1828800" cy="438912"/>
          </a:xfrm>
          <a:prstGeom prst="rect">
            <a:avLst/>
          </a:prstGeom>
          <a:noFill/>
          <a:ln/>
        </p:spPr>
        <p:txBody>
          <a:bodyPr wrap="square" rtlCol="0" anchor="ctr"/>
          <a:lstStyle/>
          <a:p>
            <a:pPr marL="0" indent="0" algn="ctr">
              <a:buNone/>
            </a:pPr>
            <a:r>
              <a:rPr lang="en-US" sz="1150" b="1" dirty="0">
                <a:solidFill>
                  <a:srgbClr val="FFFFFF"/>
                </a:solidFill>
              </a:rPr>
              <a:t>Evaluation</a:t>
            </a:r>
            <a:endParaRPr lang="en-US" sz="1150" dirty="0"/>
          </a:p>
        </p:txBody>
      </p:sp>
      <p:sp>
        <p:nvSpPr>
          <p:cNvPr id="31" name="Shape 29"/>
          <p:cNvSpPr/>
          <p:nvPr/>
        </p:nvSpPr>
        <p:spPr>
          <a:xfrm>
            <a:off x="2240280" y="4379976"/>
            <a:ext cx="6492240" cy="438912"/>
          </a:xfrm>
          <a:prstGeom prst="rect">
            <a:avLst/>
          </a:prstGeom>
          <a:solidFill>
            <a:srgbClr val="F4F7FA"/>
          </a:solidFill>
          <a:ln w="6350">
            <a:solidFill>
              <a:srgbClr val="D0DCE8"/>
            </a:solidFill>
            <a:prstDash val="solid"/>
          </a:ln>
        </p:spPr>
        <p:txBody>
          <a:bodyPr/>
          <a:lstStyle/>
          <a:p>
            <a:endParaRPr lang="en-US"/>
          </a:p>
        </p:txBody>
      </p:sp>
      <p:sp>
        <p:nvSpPr>
          <p:cNvPr id="32" name="Text 30"/>
          <p:cNvSpPr/>
          <p:nvPr/>
        </p:nvSpPr>
        <p:spPr>
          <a:xfrm>
            <a:off x="2377440" y="4379976"/>
            <a:ext cx="6217920" cy="438912"/>
          </a:xfrm>
          <a:prstGeom prst="rect">
            <a:avLst/>
          </a:prstGeom>
          <a:noFill/>
          <a:ln/>
        </p:spPr>
        <p:txBody>
          <a:bodyPr wrap="square" rtlCol="0" anchor="ctr"/>
          <a:lstStyle/>
          <a:p>
            <a:pPr marL="0" indent="0">
              <a:buNone/>
            </a:pPr>
            <a:r>
              <a:rPr lang="en-US" sz="1150" dirty="0">
                <a:solidFill>
                  <a:srgbClr val="2C3E50"/>
                </a:solidFill>
              </a:rPr>
              <a:t>Canonical SQuAD-style EM/Substring/F1 across all 4 configurations</a:t>
            </a:r>
            <a:endParaRPr lang="en-US" sz="11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164592"/>
            <a:ext cx="8229600" cy="256032"/>
          </a:xfrm>
          <a:prstGeom prst="rect">
            <a:avLst/>
          </a:prstGeom>
          <a:noFill/>
          <a:ln/>
        </p:spPr>
        <p:txBody>
          <a:bodyPr wrap="square" rtlCol="0" anchor="ctr"/>
          <a:lstStyle/>
          <a:p>
            <a:pPr marL="0" indent="0" algn="l">
              <a:buNone/>
            </a:pPr>
            <a:r>
              <a:rPr lang="en-US" sz="900" b="1" kern="0" spc="300" dirty="0">
                <a:solidFill>
                  <a:srgbClr val="2E8BAE"/>
                </a:solidFill>
              </a:rPr>
              <a:t>T R A I N I N G</a:t>
            </a:r>
            <a:endParaRPr lang="en-US" sz="900" dirty="0"/>
          </a:p>
        </p:txBody>
      </p:sp>
      <p:sp>
        <p:nvSpPr>
          <p:cNvPr id="3" name="Text 1"/>
          <p:cNvSpPr/>
          <p:nvPr/>
        </p:nvSpPr>
        <p:spPr>
          <a:xfrm>
            <a:off x="7863840" y="164592"/>
            <a:ext cx="1097280" cy="256032"/>
          </a:xfrm>
          <a:prstGeom prst="rect">
            <a:avLst/>
          </a:prstGeom>
          <a:noFill/>
          <a:ln/>
        </p:spPr>
        <p:txBody>
          <a:bodyPr wrap="square" rtlCol="0" anchor="ctr"/>
          <a:lstStyle/>
          <a:p>
            <a:pPr marL="0" indent="0" algn="r">
              <a:buNone/>
            </a:pPr>
            <a:r>
              <a:rPr lang="en-US" sz="900" dirty="0">
                <a:solidFill>
                  <a:srgbClr val="5A7080"/>
                </a:solidFill>
              </a:rPr>
              <a:t>10 / 17</a:t>
            </a:r>
            <a:endParaRPr lang="en-US" sz="900" dirty="0"/>
          </a:p>
        </p:txBody>
      </p:sp>
      <p:sp>
        <p:nvSpPr>
          <p:cNvPr id="4" name="Text 2"/>
          <p:cNvSpPr/>
          <p:nvPr/>
        </p:nvSpPr>
        <p:spPr>
          <a:xfrm>
            <a:off x="457200" y="502920"/>
            <a:ext cx="8229600" cy="777240"/>
          </a:xfrm>
          <a:prstGeom prst="rect">
            <a:avLst/>
          </a:prstGeom>
          <a:noFill/>
          <a:ln/>
        </p:spPr>
        <p:txBody>
          <a:bodyPr wrap="square" rtlCol="0" anchor="ctr"/>
          <a:lstStyle/>
          <a:p>
            <a:pPr marL="0" indent="0" algn="l">
              <a:buNone/>
            </a:pPr>
            <a:r>
              <a:rPr lang="en-US" sz="3000" b="1" dirty="0">
                <a:solidFill>
                  <a:srgbClr val="0D2B5E"/>
                </a:solidFill>
                <a:latin typeface="Calibri" pitchFamily="34" charset="0"/>
                <a:ea typeface="Calibri" pitchFamily="34" charset="-122"/>
                <a:cs typeface="Calibri" pitchFamily="34" charset="-120"/>
              </a:rPr>
              <a:t>LoRA training: smooth convergence on TriviaQA</a:t>
            </a:r>
            <a:endParaRPr lang="en-US" sz="3000" dirty="0"/>
          </a:p>
        </p:txBody>
      </p:sp>
      <p:sp>
        <p:nvSpPr>
          <p:cNvPr id="5" name="Text 3"/>
          <p:cNvSpPr/>
          <p:nvPr/>
        </p:nvSpPr>
        <p:spPr>
          <a:xfrm>
            <a:off x="457200" y="1325880"/>
            <a:ext cx="8229600" cy="256032"/>
          </a:xfrm>
          <a:prstGeom prst="rect">
            <a:avLst/>
          </a:prstGeom>
          <a:noFill/>
          <a:ln/>
        </p:spPr>
        <p:txBody>
          <a:bodyPr wrap="square" rtlCol="0" anchor="ctr"/>
          <a:lstStyle/>
          <a:p>
            <a:pPr marL="0" indent="0">
              <a:buNone/>
            </a:pPr>
            <a:r>
              <a:rPr lang="en-US" sz="1050" i="1" dirty="0">
                <a:solidFill>
                  <a:srgbClr val="5A7080"/>
                </a:solidFill>
              </a:rPr>
              <a:t>625-step run on 10,000 TriviaQA examples — loss logged every 25 steps</a:t>
            </a:r>
            <a:endParaRPr lang="en-US" sz="1050" dirty="0"/>
          </a:p>
        </p:txBody>
      </p:sp>
      <p:graphicFrame>
        <p:nvGraphicFramePr>
          <p:cNvPr id="6" name="Chart 0"/>
          <p:cNvGraphicFramePr/>
          <p:nvPr/>
        </p:nvGraphicFramePr>
        <p:xfrm>
          <a:off x="365760" y="1627632"/>
          <a:ext cx="6400800" cy="3017520"/>
        </p:xfrm>
        <a:graphic>
          <a:graphicData uri="http://schemas.openxmlformats.org/drawingml/2006/chart">
            <c:chart xmlns:c="http://schemas.openxmlformats.org/drawingml/2006/chart" xmlns:r="http://schemas.openxmlformats.org/officeDocument/2006/relationships" r:id="rId3"/>
          </a:graphicData>
        </a:graphic>
      </p:graphicFrame>
      <p:sp>
        <p:nvSpPr>
          <p:cNvPr id="7" name="Text 4"/>
          <p:cNvSpPr/>
          <p:nvPr/>
        </p:nvSpPr>
        <p:spPr>
          <a:xfrm>
            <a:off x="6949440" y="1691640"/>
            <a:ext cx="2011680" cy="411480"/>
          </a:xfrm>
          <a:prstGeom prst="rect">
            <a:avLst/>
          </a:prstGeom>
          <a:noFill/>
          <a:ln/>
        </p:spPr>
        <p:txBody>
          <a:bodyPr wrap="square" rtlCol="0" anchor="ctr"/>
          <a:lstStyle/>
          <a:p>
            <a:pPr marL="0" indent="0" algn="ctr">
              <a:buNone/>
            </a:pPr>
            <a:r>
              <a:rPr lang="en-US" sz="2200" b="1" dirty="0">
                <a:solidFill>
                  <a:srgbClr val="1A6B8A"/>
                </a:solidFill>
              </a:rPr>
              <a:t>3.23</a:t>
            </a:r>
            <a:endParaRPr lang="en-US" sz="2200" dirty="0"/>
          </a:p>
        </p:txBody>
      </p:sp>
      <p:sp>
        <p:nvSpPr>
          <p:cNvPr id="8" name="Text 5"/>
          <p:cNvSpPr/>
          <p:nvPr/>
        </p:nvSpPr>
        <p:spPr>
          <a:xfrm>
            <a:off x="6949440" y="2075688"/>
            <a:ext cx="2011680" cy="256032"/>
          </a:xfrm>
          <a:prstGeom prst="rect">
            <a:avLst/>
          </a:prstGeom>
          <a:noFill/>
          <a:ln/>
        </p:spPr>
        <p:txBody>
          <a:bodyPr wrap="square" rtlCol="0" anchor="ctr"/>
          <a:lstStyle/>
          <a:p>
            <a:pPr marL="0" indent="0" algn="ctr">
              <a:buNone/>
            </a:pPr>
            <a:r>
              <a:rPr lang="en-US" sz="950" dirty="0">
                <a:solidFill>
                  <a:srgbClr val="5A7080"/>
                </a:solidFill>
              </a:rPr>
              <a:t>Initial loss (step 25)</a:t>
            </a:r>
            <a:endParaRPr lang="en-US" sz="950" dirty="0"/>
          </a:p>
        </p:txBody>
      </p:sp>
      <p:sp>
        <p:nvSpPr>
          <p:cNvPr id="9" name="Text 6"/>
          <p:cNvSpPr/>
          <p:nvPr/>
        </p:nvSpPr>
        <p:spPr>
          <a:xfrm>
            <a:off x="6949440" y="2423160"/>
            <a:ext cx="2011680" cy="411480"/>
          </a:xfrm>
          <a:prstGeom prst="rect">
            <a:avLst/>
          </a:prstGeom>
          <a:noFill/>
          <a:ln/>
        </p:spPr>
        <p:txBody>
          <a:bodyPr wrap="square" rtlCol="0" anchor="ctr"/>
          <a:lstStyle/>
          <a:p>
            <a:pPr marL="0" indent="0" algn="ctr">
              <a:buNone/>
            </a:pPr>
            <a:r>
              <a:rPr lang="en-US" sz="2200" b="1" dirty="0">
                <a:solidFill>
                  <a:srgbClr val="1A6B8A"/>
                </a:solidFill>
              </a:rPr>
              <a:t>0.87</a:t>
            </a:r>
            <a:endParaRPr lang="en-US" sz="2200" dirty="0"/>
          </a:p>
        </p:txBody>
      </p:sp>
      <p:sp>
        <p:nvSpPr>
          <p:cNvPr id="10" name="Text 7"/>
          <p:cNvSpPr/>
          <p:nvPr/>
        </p:nvSpPr>
        <p:spPr>
          <a:xfrm>
            <a:off x="6949440" y="2807208"/>
            <a:ext cx="2011680" cy="256032"/>
          </a:xfrm>
          <a:prstGeom prst="rect">
            <a:avLst/>
          </a:prstGeom>
          <a:noFill/>
          <a:ln/>
        </p:spPr>
        <p:txBody>
          <a:bodyPr wrap="square" rtlCol="0" anchor="ctr"/>
          <a:lstStyle/>
          <a:p>
            <a:pPr marL="0" indent="0" algn="ctr">
              <a:buNone/>
            </a:pPr>
            <a:r>
              <a:rPr lang="en-US" sz="950" dirty="0">
                <a:solidFill>
                  <a:srgbClr val="5A7080"/>
                </a:solidFill>
              </a:rPr>
              <a:t>Final loss (step 625)</a:t>
            </a:r>
            <a:endParaRPr lang="en-US" sz="950" dirty="0"/>
          </a:p>
        </p:txBody>
      </p:sp>
      <p:sp>
        <p:nvSpPr>
          <p:cNvPr id="11" name="Text 8"/>
          <p:cNvSpPr/>
          <p:nvPr/>
        </p:nvSpPr>
        <p:spPr>
          <a:xfrm>
            <a:off x="6949440" y="3154680"/>
            <a:ext cx="2011680" cy="411480"/>
          </a:xfrm>
          <a:prstGeom prst="rect">
            <a:avLst/>
          </a:prstGeom>
          <a:noFill/>
          <a:ln/>
        </p:spPr>
        <p:txBody>
          <a:bodyPr wrap="square" rtlCol="0" anchor="ctr"/>
          <a:lstStyle/>
          <a:p>
            <a:pPr marL="0" indent="0" algn="ctr">
              <a:buNone/>
            </a:pPr>
            <a:r>
              <a:rPr lang="en-US" sz="2200" b="1" dirty="0">
                <a:solidFill>
                  <a:srgbClr val="1A6B8A"/>
                </a:solidFill>
              </a:rPr>
              <a:t>3.4 M</a:t>
            </a:r>
            <a:endParaRPr lang="en-US" sz="2200" dirty="0"/>
          </a:p>
        </p:txBody>
      </p:sp>
      <p:sp>
        <p:nvSpPr>
          <p:cNvPr id="12" name="Text 9"/>
          <p:cNvSpPr/>
          <p:nvPr/>
        </p:nvSpPr>
        <p:spPr>
          <a:xfrm>
            <a:off x="6949440" y="3538728"/>
            <a:ext cx="2011680" cy="256032"/>
          </a:xfrm>
          <a:prstGeom prst="rect">
            <a:avLst/>
          </a:prstGeom>
          <a:noFill/>
          <a:ln/>
        </p:spPr>
        <p:txBody>
          <a:bodyPr wrap="square" rtlCol="0" anchor="ctr"/>
          <a:lstStyle/>
          <a:p>
            <a:pPr marL="0" indent="0" algn="ctr">
              <a:buNone/>
            </a:pPr>
            <a:r>
              <a:rPr lang="en-US" sz="950" dirty="0">
                <a:solidFill>
                  <a:srgbClr val="5A7080"/>
                </a:solidFill>
              </a:rPr>
              <a:t>Trainable parameters</a:t>
            </a:r>
            <a:endParaRPr lang="en-US" sz="950" dirty="0"/>
          </a:p>
        </p:txBody>
      </p:sp>
      <p:sp>
        <p:nvSpPr>
          <p:cNvPr id="13" name="Text 10"/>
          <p:cNvSpPr/>
          <p:nvPr/>
        </p:nvSpPr>
        <p:spPr>
          <a:xfrm>
            <a:off x="6949440" y="3886200"/>
            <a:ext cx="2011680" cy="411480"/>
          </a:xfrm>
          <a:prstGeom prst="rect">
            <a:avLst/>
          </a:prstGeom>
          <a:noFill/>
          <a:ln/>
        </p:spPr>
        <p:txBody>
          <a:bodyPr wrap="square" rtlCol="0" anchor="ctr"/>
          <a:lstStyle/>
          <a:p>
            <a:pPr marL="0" indent="0" algn="ctr">
              <a:buNone/>
            </a:pPr>
            <a:r>
              <a:rPr lang="en-US" sz="2200" b="1" dirty="0">
                <a:solidFill>
                  <a:srgbClr val="1A6B8A"/>
                </a:solidFill>
              </a:rPr>
              <a:t>~30 min</a:t>
            </a:r>
            <a:endParaRPr lang="en-US" sz="2200" dirty="0"/>
          </a:p>
        </p:txBody>
      </p:sp>
      <p:sp>
        <p:nvSpPr>
          <p:cNvPr id="14" name="Text 11"/>
          <p:cNvSpPr/>
          <p:nvPr/>
        </p:nvSpPr>
        <p:spPr>
          <a:xfrm>
            <a:off x="6949440" y="4270248"/>
            <a:ext cx="2011680" cy="256032"/>
          </a:xfrm>
          <a:prstGeom prst="rect">
            <a:avLst/>
          </a:prstGeom>
          <a:noFill/>
          <a:ln/>
        </p:spPr>
        <p:txBody>
          <a:bodyPr wrap="square" rtlCol="0" anchor="ctr"/>
          <a:lstStyle/>
          <a:p>
            <a:pPr marL="0" indent="0" algn="ctr">
              <a:buNone/>
            </a:pPr>
            <a:r>
              <a:rPr lang="en-US" sz="950" dirty="0">
                <a:solidFill>
                  <a:srgbClr val="5A7080"/>
                </a:solidFill>
              </a:rPr>
              <a:t>Training time on A100</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164592"/>
            <a:ext cx="8229600" cy="256032"/>
          </a:xfrm>
          <a:prstGeom prst="rect">
            <a:avLst/>
          </a:prstGeom>
          <a:noFill/>
          <a:ln/>
        </p:spPr>
        <p:txBody>
          <a:bodyPr wrap="square" rtlCol="0" anchor="ctr"/>
          <a:lstStyle/>
          <a:p>
            <a:pPr marL="0" indent="0" algn="l">
              <a:buNone/>
            </a:pPr>
            <a:r>
              <a:rPr lang="en-US" sz="900" b="1" kern="0" spc="300" dirty="0">
                <a:solidFill>
                  <a:srgbClr val="2E8BAE"/>
                </a:solidFill>
              </a:rPr>
              <a:t>T R A I N I N G</a:t>
            </a:r>
            <a:endParaRPr lang="en-US" sz="900" dirty="0"/>
          </a:p>
        </p:txBody>
      </p:sp>
      <p:sp>
        <p:nvSpPr>
          <p:cNvPr id="3" name="Text 1"/>
          <p:cNvSpPr/>
          <p:nvPr/>
        </p:nvSpPr>
        <p:spPr>
          <a:xfrm>
            <a:off x="7863840" y="164592"/>
            <a:ext cx="1097280" cy="256032"/>
          </a:xfrm>
          <a:prstGeom prst="rect">
            <a:avLst/>
          </a:prstGeom>
          <a:noFill/>
          <a:ln/>
        </p:spPr>
        <p:txBody>
          <a:bodyPr wrap="square" rtlCol="0" anchor="ctr"/>
          <a:lstStyle/>
          <a:p>
            <a:pPr marL="0" indent="0" algn="r">
              <a:buNone/>
            </a:pPr>
            <a:r>
              <a:rPr lang="en-US" sz="900" dirty="0">
                <a:solidFill>
                  <a:srgbClr val="5A7080"/>
                </a:solidFill>
              </a:rPr>
              <a:t>11 / 17</a:t>
            </a:r>
            <a:endParaRPr lang="en-US" sz="900" dirty="0"/>
          </a:p>
        </p:txBody>
      </p:sp>
      <p:sp>
        <p:nvSpPr>
          <p:cNvPr id="4" name="Text 2"/>
          <p:cNvSpPr/>
          <p:nvPr/>
        </p:nvSpPr>
        <p:spPr>
          <a:xfrm>
            <a:off x="457200" y="502920"/>
            <a:ext cx="8229600" cy="777240"/>
          </a:xfrm>
          <a:prstGeom prst="rect">
            <a:avLst/>
          </a:prstGeom>
          <a:noFill/>
          <a:ln/>
        </p:spPr>
        <p:txBody>
          <a:bodyPr wrap="square" rtlCol="0" anchor="ctr"/>
          <a:lstStyle/>
          <a:p>
            <a:pPr marL="0" indent="0" algn="l">
              <a:buNone/>
            </a:pPr>
            <a:r>
              <a:rPr lang="en-US" sz="3000" b="1" dirty="0">
                <a:solidFill>
                  <a:srgbClr val="0D2B5E"/>
                </a:solidFill>
                <a:latin typeface="Calibri" pitchFamily="34" charset="0"/>
                <a:ea typeface="Calibri" pitchFamily="34" charset="-122"/>
                <a:cs typeface="Calibri" pitchFamily="34" charset="-120"/>
              </a:rPr>
              <a:t>Before vs. After LoRA: Concrete Answer Examples</a:t>
            </a:r>
            <a:endParaRPr lang="en-US" sz="3000" dirty="0"/>
          </a:p>
        </p:txBody>
      </p:sp>
      <p:sp>
        <p:nvSpPr>
          <p:cNvPr id="5" name="Text 3"/>
          <p:cNvSpPr/>
          <p:nvPr/>
        </p:nvSpPr>
        <p:spPr>
          <a:xfrm>
            <a:off x="457200" y="1298448"/>
            <a:ext cx="8229600" cy="274320"/>
          </a:xfrm>
          <a:prstGeom prst="rect">
            <a:avLst/>
          </a:prstGeom>
          <a:noFill/>
          <a:ln/>
        </p:spPr>
        <p:txBody>
          <a:bodyPr wrap="square" rtlCol="0" anchor="ctr"/>
          <a:lstStyle/>
          <a:p>
            <a:pPr marL="0" indent="0">
              <a:buNone/>
            </a:pPr>
            <a:r>
              <a:rPr lang="en-US" sz="1100" i="1" dirty="0">
                <a:solidFill>
                  <a:srgbClr val="5A7080"/>
                </a:solidFill>
              </a:rPr>
              <a:t>The same RAG prompt — with and without LoRA — produces dramatically different answer styles.</a:t>
            </a:r>
            <a:endParaRPr lang="en-US" sz="1100" dirty="0"/>
          </a:p>
        </p:txBody>
      </p:sp>
      <p:sp>
        <p:nvSpPr>
          <p:cNvPr id="6" name="Shape 4"/>
          <p:cNvSpPr/>
          <p:nvPr/>
        </p:nvSpPr>
        <p:spPr>
          <a:xfrm>
            <a:off x="2606040" y="1645920"/>
            <a:ext cx="2834640" cy="347472"/>
          </a:xfrm>
          <a:prstGeom prst="rect">
            <a:avLst/>
          </a:prstGeom>
          <a:solidFill>
            <a:srgbClr val="C0392B"/>
          </a:solidFill>
          <a:ln w="12700">
            <a:solidFill>
              <a:srgbClr val="C0392B"/>
            </a:solidFill>
            <a:prstDash val="solid"/>
          </a:ln>
        </p:spPr>
        <p:txBody>
          <a:bodyPr/>
          <a:lstStyle/>
          <a:p>
            <a:endParaRPr lang="en-US"/>
          </a:p>
        </p:txBody>
      </p:sp>
      <p:sp>
        <p:nvSpPr>
          <p:cNvPr id="7" name="Text 5"/>
          <p:cNvSpPr/>
          <p:nvPr/>
        </p:nvSpPr>
        <p:spPr>
          <a:xfrm>
            <a:off x="2606040" y="1645920"/>
            <a:ext cx="2834640" cy="347472"/>
          </a:xfrm>
          <a:prstGeom prst="rect">
            <a:avLst/>
          </a:prstGeom>
          <a:noFill/>
          <a:ln/>
        </p:spPr>
        <p:txBody>
          <a:bodyPr wrap="square" rtlCol="0" anchor="ctr"/>
          <a:lstStyle/>
          <a:p>
            <a:pPr marL="0" indent="0" algn="ctr">
              <a:buNone/>
            </a:pPr>
            <a:r>
              <a:rPr lang="en-US" sz="1100" b="1" dirty="0">
                <a:solidFill>
                  <a:srgbClr val="FFFFFF"/>
                </a:solidFill>
              </a:rPr>
              <a:t>RAG  (no fine-tune)</a:t>
            </a:r>
            <a:endParaRPr lang="en-US" sz="1100" dirty="0"/>
          </a:p>
        </p:txBody>
      </p:sp>
      <p:sp>
        <p:nvSpPr>
          <p:cNvPr id="8" name="Shape 6"/>
          <p:cNvSpPr/>
          <p:nvPr/>
        </p:nvSpPr>
        <p:spPr>
          <a:xfrm>
            <a:off x="5623560" y="1645920"/>
            <a:ext cx="3063240" cy="347472"/>
          </a:xfrm>
          <a:prstGeom prst="rect">
            <a:avLst/>
          </a:prstGeom>
          <a:solidFill>
            <a:srgbClr val="2E9E6B"/>
          </a:solidFill>
          <a:ln w="12700">
            <a:solidFill>
              <a:srgbClr val="2E9E6B"/>
            </a:solidFill>
            <a:prstDash val="solid"/>
          </a:ln>
        </p:spPr>
        <p:txBody>
          <a:bodyPr/>
          <a:lstStyle/>
          <a:p>
            <a:endParaRPr lang="en-US"/>
          </a:p>
        </p:txBody>
      </p:sp>
      <p:sp>
        <p:nvSpPr>
          <p:cNvPr id="9" name="Text 7"/>
          <p:cNvSpPr/>
          <p:nvPr/>
        </p:nvSpPr>
        <p:spPr>
          <a:xfrm>
            <a:off x="5623560" y="1645920"/>
            <a:ext cx="3063240" cy="347472"/>
          </a:xfrm>
          <a:prstGeom prst="rect">
            <a:avLst/>
          </a:prstGeom>
          <a:noFill/>
          <a:ln/>
        </p:spPr>
        <p:txBody>
          <a:bodyPr wrap="square" rtlCol="0" anchor="ctr"/>
          <a:lstStyle/>
          <a:p>
            <a:pPr marL="0" indent="0" algn="ctr">
              <a:buNone/>
            </a:pPr>
            <a:r>
              <a:rPr lang="en-US" sz="1100" b="1" dirty="0">
                <a:solidFill>
                  <a:srgbClr val="FFFFFF"/>
                </a:solidFill>
              </a:rPr>
              <a:t>RAG + LoRA  (fine-tuned)</a:t>
            </a:r>
            <a:endParaRPr lang="en-US" sz="1100" dirty="0"/>
          </a:p>
        </p:txBody>
      </p:sp>
      <p:sp>
        <p:nvSpPr>
          <p:cNvPr id="10" name="Shape 8"/>
          <p:cNvSpPr/>
          <p:nvPr/>
        </p:nvSpPr>
        <p:spPr>
          <a:xfrm>
            <a:off x="365760" y="2084832"/>
            <a:ext cx="2148840" cy="868680"/>
          </a:xfrm>
          <a:prstGeom prst="rect">
            <a:avLst/>
          </a:prstGeom>
          <a:solidFill>
            <a:srgbClr val="F4F7FA"/>
          </a:solidFill>
          <a:ln w="6350">
            <a:solidFill>
              <a:srgbClr val="D0DCE8"/>
            </a:solidFill>
            <a:prstDash val="solid"/>
          </a:ln>
        </p:spPr>
        <p:txBody>
          <a:bodyPr/>
          <a:lstStyle/>
          <a:p>
            <a:endParaRPr lang="en-US"/>
          </a:p>
        </p:txBody>
      </p:sp>
      <p:sp>
        <p:nvSpPr>
          <p:cNvPr id="11" name="Text 9"/>
          <p:cNvSpPr/>
          <p:nvPr/>
        </p:nvSpPr>
        <p:spPr>
          <a:xfrm>
            <a:off x="457200" y="2130552"/>
            <a:ext cx="1965960" cy="777240"/>
          </a:xfrm>
          <a:prstGeom prst="rect">
            <a:avLst/>
          </a:prstGeom>
          <a:noFill/>
          <a:ln/>
        </p:spPr>
        <p:txBody>
          <a:bodyPr wrap="square" rtlCol="0" anchor="ctr"/>
          <a:lstStyle/>
          <a:p>
            <a:pPr marL="0" indent="0">
              <a:buNone/>
            </a:pPr>
            <a:r>
              <a:rPr lang="en-US" sz="950" b="1" dirty="0">
                <a:solidFill>
                  <a:srgbClr val="0D2B5E"/>
                </a:solidFill>
              </a:rPr>
              <a:t>Who wrote the play Hamlet?</a:t>
            </a:r>
            <a:endParaRPr lang="en-US" sz="950" dirty="0"/>
          </a:p>
        </p:txBody>
      </p:sp>
      <p:sp>
        <p:nvSpPr>
          <p:cNvPr id="12" name="Shape 10"/>
          <p:cNvSpPr/>
          <p:nvPr/>
        </p:nvSpPr>
        <p:spPr>
          <a:xfrm>
            <a:off x="2606040" y="2084832"/>
            <a:ext cx="2834640" cy="868680"/>
          </a:xfrm>
          <a:prstGeom prst="rect">
            <a:avLst/>
          </a:prstGeom>
          <a:solidFill>
            <a:srgbClr val="FFF0F0"/>
          </a:solidFill>
          <a:ln w="6350">
            <a:solidFill>
              <a:srgbClr val="F0B0B0"/>
            </a:solidFill>
            <a:prstDash val="solid"/>
          </a:ln>
        </p:spPr>
        <p:txBody>
          <a:bodyPr/>
          <a:lstStyle/>
          <a:p>
            <a:endParaRPr lang="en-US"/>
          </a:p>
        </p:txBody>
      </p:sp>
      <p:sp>
        <p:nvSpPr>
          <p:cNvPr id="13" name="Text 11"/>
          <p:cNvSpPr/>
          <p:nvPr/>
        </p:nvSpPr>
        <p:spPr>
          <a:xfrm>
            <a:off x="2697480" y="2130552"/>
            <a:ext cx="2651760" cy="777240"/>
          </a:xfrm>
          <a:prstGeom prst="rect">
            <a:avLst/>
          </a:prstGeom>
          <a:noFill/>
          <a:ln/>
        </p:spPr>
        <p:txBody>
          <a:bodyPr wrap="square" rtlCol="0" anchor="t"/>
          <a:lstStyle/>
          <a:p>
            <a:pPr marL="0" indent="0">
              <a:buNone/>
            </a:pPr>
            <a:r>
              <a:rPr lang="en-US" sz="850" i="1" dirty="0">
                <a:solidFill>
                  <a:srgbClr val="C0392B"/>
                </a:solidFill>
              </a:rPr>
              <a:t>Based on the retrieved passages, particularly from the 'Hamlet' and 'William Shakespeare' articles, Hamlet was written by William Shakespeare during the early 17th century...</a:t>
            </a:r>
            <a:endParaRPr lang="en-US" sz="850" dirty="0"/>
          </a:p>
        </p:txBody>
      </p:sp>
      <p:sp>
        <p:nvSpPr>
          <p:cNvPr id="14" name="Shape 12"/>
          <p:cNvSpPr/>
          <p:nvPr/>
        </p:nvSpPr>
        <p:spPr>
          <a:xfrm>
            <a:off x="5623560" y="2084832"/>
            <a:ext cx="3063240" cy="868680"/>
          </a:xfrm>
          <a:prstGeom prst="rect">
            <a:avLst/>
          </a:prstGeom>
          <a:solidFill>
            <a:srgbClr val="F0FFF4"/>
          </a:solidFill>
          <a:ln w="6350">
            <a:solidFill>
              <a:srgbClr val="90D0A8"/>
            </a:solidFill>
            <a:prstDash val="solid"/>
          </a:ln>
        </p:spPr>
        <p:txBody>
          <a:bodyPr/>
          <a:lstStyle/>
          <a:p>
            <a:endParaRPr lang="en-US"/>
          </a:p>
        </p:txBody>
      </p:sp>
      <p:sp>
        <p:nvSpPr>
          <p:cNvPr id="15" name="Text 13"/>
          <p:cNvSpPr/>
          <p:nvPr/>
        </p:nvSpPr>
        <p:spPr>
          <a:xfrm>
            <a:off x="5715000" y="2313432"/>
            <a:ext cx="2834640" cy="594360"/>
          </a:xfrm>
          <a:prstGeom prst="rect">
            <a:avLst/>
          </a:prstGeom>
          <a:noFill/>
          <a:ln/>
        </p:spPr>
        <p:txBody>
          <a:bodyPr wrap="square" rtlCol="0" anchor="ctr"/>
          <a:lstStyle/>
          <a:p>
            <a:pPr marL="0" indent="0">
              <a:buNone/>
            </a:pPr>
            <a:r>
              <a:rPr lang="en-US" sz="1300" b="1" dirty="0">
                <a:solidFill>
                  <a:srgbClr val="2E9E6B"/>
                </a:solidFill>
              </a:rPr>
              <a:t>William Shakespeare</a:t>
            </a:r>
            <a:endParaRPr lang="en-US" sz="1300" dirty="0"/>
          </a:p>
        </p:txBody>
      </p:sp>
      <p:sp>
        <p:nvSpPr>
          <p:cNvPr id="16" name="Shape 14"/>
          <p:cNvSpPr/>
          <p:nvPr/>
        </p:nvSpPr>
        <p:spPr>
          <a:xfrm>
            <a:off x="365760" y="3044952"/>
            <a:ext cx="2148840" cy="868680"/>
          </a:xfrm>
          <a:prstGeom prst="rect">
            <a:avLst/>
          </a:prstGeom>
          <a:solidFill>
            <a:srgbClr val="F4F7FA"/>
          </a:solidFill>
          <a:ln w="6350">
            <a:solidFill>
              <a:srgbClr val="D0DCE8"/>
            </a:solidFill>
            <a:prstDash val="solid"/>
          </a:ln>
        </p:spPr>
        <p:txBody>
          <a:bodyPr/>
          <a:lstStyle/>
          <a:p>
            <a:endParaRPr lang="en-US"/>
          </a:p>
        </p:txBody>
      </p:sp>
      <p:sp>
        <p:nvSpPr>
          <p:cNvPr id="17" name="Text 15"/>
          <p:cNvSpPr/>
          <p:nvPr/>
        </p:nvSpPr>
        <p:spPr>
          <a:xfrm>
            <a:off x="457200" y="3090672"/>
            <a:ext cx="1965960" cy="777240"/>
          </a:xfrm>
          <a:prstGeom prst="rect">
            <a:avLst/>
          </a:prstGeom>
          <a:noFill/>
          <a:ln/>
        </p:spPr>
        <p:txBody>
          <a:bodyPr wrap="square" rtlCol="0" anchor="ctr"/>
          <a:lstStyle/>
          <a:p>
            <a:pPr marL="0" indent="0">
              <a:buNone/>
            </a:pPr>
            <a:r>
              <a:rPr lang="en-US" sz="950" b="1" dirty="0">
                <a:solidFill>
                  <a:srgbClr val="0D2B5E"/>
                </a:solidFill>
              </a:rPr>
              <a:t>What is the capital of Australia?</a:t>
            </a:r>
            <a:endParaRPr lang="en-US" sz="950" dirty="0"/>
          </a:p>
        </p:txBody>
      </p:sp>
      <p:sp>
        <p:nvSpPr>
          <p:cNvPr id="18" name="Shape 16"/>
          <p:cNvSpPr/>
          <p:nvPr/>
        </p:nvSpPr>
        <p:spPr>
          <a:xfrm>
            <a:off x="2606040" y="3044952"/>
            <a:ext cx="2834640" cy="868680"/>
          </a:xfrm>
          <a:prstGeom prst="rect">
            <a:avLst/>
          </a:prstGeom>
          <a:solidFill>
            <a:srgbClr val="FFF0F0"/>
          </a:solidFill>
          <a:ln w="6350">
            <a:solidFill>
              <a:srgbClr val="F0B0B0"/>
            </a:solidFill>
            <a:prstDash val="solid"/>
          </a:ln>
        </p:spPr>
        <p:txBody>
          <a:bodyPr/>
          <a:lstStyle/>
          <a:p>
            <a:endParaRPr lang="en-US"/>
          </a:p>
        </p:txBody>
      </p:sp>
      <p:sp>
        <p:nvSpPr>
          <p:cNvPr id="19" name="Text 17"/>
          <p:cNvSpPr/>
          <p:nvPr/>
        </p:nvSpPr>
        <p:spPr>
          <a:xfrm>
            <a:off x="2697480" y="3090672"/>
            <a:ext cx="2651760" cy="777240"/>
          </a:xfrm>
          <a:prstGeom prst="rect">
            <a:avLst/>
          </a:prstGeom>
          <a:noFill/>
          <a:ln/>
        </p:spPr>
        <p:txBody>
          <a:bodyPr wrap="square" rtlCol="0" anchor="t"/>
          <a:lstStyle/>
          <a:p>
            <a:pPr marL="0" indent="0">
              <a:buNone/>
            </a:pPr>
            <a:r>
              <a:rPr lang="en-US" sz="850" i="1" dirty="0">
                <a:solidFill>
                  <a:srgbClr val="C0392B"/>
                </a:solidFill>
              </a:rPr>
              <a:t>According to the passages provided, the capital of Australia is Canberra, which was purpose-built as the capital following a compromise between Sydney and Melbourne...</a:t>
            </a:r>
            <a:endParaRPr lang="en-US" sz="850" dirty="0"/>
          </a:p>
        </p:txBody>
      </p:sp>
      <p:sp>
        <p:nvSpPr>
          <p:cNvPr id="20" name="Shape 18"/>
          <p:cNvSpPr/>
          <p:nvPr/>
        </p:nvSpPr>
        <p:spPr>
          <a:xfrm>
            <a:off x="5623560" y="3044952"/>
            <a:ext cx="3063240" cy="868680"/>
          </a:xfrm>
          <a:prstGeom prst="rect">
            <a:avLst/>
          </a:prstGeom>
          <a:solidFill>
            <a:srgbClr val="F0FFF4"/>
          </a:solidFill>
          <a:ln w="6350">
            <a:solidFill>
              <a:srgbClr val="90D0A8"/>
            </a:solidFill>
            <a:prstDash val="solid"/>
          </a:ln>
        </p:spPr>
        <p:txBody>
          <a:bodyPr/>
          <a:lstStyle/>
          <a:p>
            <a:endParaRPr lang="en-US"/>
          </a:p>
        </p:txBody>
      </p:sp>
      <p:sp>
        <p:nvSpPr>
          <p:cNvPr id="21" name="Text 19"/>
          <p:cNvSpPr/>
          <p:nvPr/>
        </p:nvSpPr>
        <p:spPr>
          <a:xfrm>
            <a:off x="5715000" y="3273552"/>
            <a:ext cx="2834640" cy="594360"/>
          </a:xfrm>
          <a:prstGeom prst="rect">
            <a:avLst/>
          </a:prstGeom>
          <a:noFill/>
          <a:ln/>
        </p:spPr>
        <p:txBody>
          <a:bodyPr wrap="square" rtlCol="0" anchor="ctr"/>
          <a:lstStyle/>
          <a:p>
            <a:pPr marL="0" indent="0">
              <a:buNone/>
            </a:pPr>
            <a:r>
              <a:rPr lang="en-US" sz="1300" b="1" dirty="0">
                <a:solidFill>
                  <a:srgbClr val="2E9E6B"/>
                </a:solidFill>
              </a:rPr>
              <a:t>Canberra</a:t>
            </a:r>
            <a:endParaRPr lang="en-US" sz="1300" dirty="0"/>
          </a:p>
        </p:txBody>
      </p:sp>
      <p:sp>
        <p:nvSpPr>
          <p:cNvPr id="22" name="Shape 20"/>
          <p:cNvSpPr/>
          <p:nvPr/>
        </p:nvSpPr>
        <p:spPr>
          <a:xfrm>
            <a:off x="365760" y="4005072"/>
            <a:ext cx="2148840" cy="868680"/>
          </a:xfrm>
          <a:prstGeom prst="rect">
            <a:avLst/>
          </a:prstGeom>
          <a:solidFill>
            <a:srgbClr val="F4F7FA"/>
          </a:solidFill>
          <a:ln w="6350">
            <a:solidFill>
              <a:srgbClr val="D0DCE8"/>
            </a:solidFill>
            <a:prstDash val="solid"/>
          </a:ln>
        </p:spPr>
        <p:txBody>
          <a:bodyPr/>
          <a:lstStyle/>
          <a:p>
            <a:endParaRPr lang="en-US"/>
          </a:p>
        </p:txBody>
      </p:sp>
      <p:sp>
        <p:nvSpPr>
          <p:cNvPr id="23" name="Text 21"/>
          <p:cNvSpPr/>
          <p:nvPr/>
        </p:nvSpPr>
        <p:spPr>
          <a:xfrm>
            <a:off x="457200" y="4050792"/>
            <a:ext cx="1965960" cy="777240"/>
          </a:xfrm>
          <a:prstGeom prst="rect">
            <a:avLst/>
          </a:prstGeom>
          <a:noFill/>
          <a:ln/>
        </p:spPr>
        <p:txBody>
          <a:bodyPr wrap="square" rtlCol="0" anchor="ctr"/>
          <a:lstStyle/>
          <a:p>
            <a:pPr marL="0" indent="0">
              <a:buNone/>
            </a:pPr>
            <a:r>
              <a:rPr lang="en-US" sz="950" b="1" dirty="0">
                <a:solidFill>
                  <a:srgbClr val="0D2B5E"/>
                </a:solidFill>
              </a:rPr>
              <a:t>Which US gangster was released from Alcatraz in November 1939?</a:t>
            </a:r>
            <a:endParaRPr lang="en-US" sz="950" dirty="0"/>
          </a:p>
        </p:txBody>
      </p:sp>
      <p:sp>
        <p:nvSpPr>
          <p:cNvPr id="24" name="Shape 22"/>
          <p:cNvSpPr/>
          <p:nvPr/>
        </p:nvSpPr>
        <p:spPr>
          <a:xfrm>
            <a:off x="2606040" y="4005072"/>
            <a:ext cx="2834640" cy="868680"/>
          </a:xfrm>
          <a:prstGeom prst="rect">
            <a:avLst/>
          </a:prstGeom>
          <a:solidFill>
            <a:srgbClr val="FFF0F0"/>
          </a:solidFill>
          <a:ln w="6350">
            <a:solidFill>
              <a:srgbClr val="F0B0B0"/>
            </a:solidFill>
            <a:prstDash val="solid"/>
          </a:ln>
        </p:spPr>
        <p:txBody>
          <a:bodyPr/>
          <a:lstStyle/>
          <a:p>
            <a:endParaRPr lang="en-US"/>
          </a:p>
        </p:txBody>
      </p:sp>
      <p:sp>
        <p:nvSpPr>
          <p:cNvPr id="25" name="Text 23"/>
          <p:cNvSpPr/>
          <p:nvPr/>
        </p:nvSpPr>
        <p:spPr>
          <a:xfrm>
            <a:off x="2697480" y="4050792"/>
            <a:ext cx="2651760" cy="777240"/>
          </a:xfrm>
          <a:prstGeom prst="rect">
            <a:avLst/>
          </a:prstGeom>
          <a:noFill/>
          <a:ln/>
        </p:spPr>
        <p:txBody>
          <a:bodyPr wrap="square" rtlCol="0" anchor="t"/>
          <a:lstStyle/>
          <a:p>
            <a:pPr marL="0" indent="0">
              <a:buNone/>
            </a:pPr>
            <a:r>
              <a:rPr lang="en-US" sz="850" i="1" dirty="0">
                <a:solidFill>
                  <a:srgbClr val="C0392B"/>
                </a:solidFill>
              </a:rPr>
              <a:t>The passages don't specifically mention a gangster released from Alcatraz in November 1939. However, based on general knowledge, Al Capone...</a:t>
            </a:r>
            <a:endParaRPr lang="en-US" sz="850" dirty="0"/>
          </a:p>
        </p:txBody>
      </p:sp>
      <p:sp>
        <p:nvSpPr>
          <p:cNvPr id="26" name="Shape 24"/>
          <p:cNvSpPr/>
          <p:nvPr/>
        </p:nvSpPr>
        <p:spPr>
          <a:xfrm>
            <a:off x="5623560" y="4005072"/>
            <a:ext cx="3063240" cy="868680"/>
          </a:xfrm>
          <a:prstGeom prst="rect">
            <a:avLst/>
          </a:prstGeom>
          <a:solidFill>
            <a:srgbClr val="F0FFF4"/>
          </a:solidFill>
          <a:ln w="6350">
            <a:solidFill>
              <a:srgbClr val="90D0A8"/>
            </a:solidFill>
            <a:prstDash val="solid"/>
          </a:ln>
        </p:spPr>
        <p:txBody>
          <a:bodyPr/>
          <a:lstStyle/>
          <a:p>
            <a:endParaRPr lang="en-US"/>
          </a:p>
        </p:txBody>
      </p:sp>
      <p:sp>
        <p:nvSpPr>
          <p:cNvPr id="27" name="Text 25"/>
          <p:cNvSpPr/>
          <p:nvPr/>
        </p:nvSpPr>
        <p:spPr>
          <a:xfrm>
            <a:off x="5715000" y="4233672"/>
            <a:ext cx="2834640" cy="594360"/>
          </a:xfrm>
          <a:prstGeom prst="rect">
            <a:avLst/>
          </a:prstGeom>
          <a:noFill/>
          <a:ln/>
        </p:spPr>
        <p:txBody>
          <a:bodyPr wrap="square" rtlCol="0" anchor="ctr"/>
          <a:lstStyle/>
          <a:p>
            <a:pPr marL="0" indent="0">
              <a:buNone/>
            </a:pPr>
            <a:r>
              <a:rPr lang="en-US" sz="1300" b="1" dirty="0">
                <a:solidFill>
                  <a:srgbClr val="2E9E6B"/>
                </a:solidFill>
              </a:rPr>
              <a:t>Al Capone</a:t>
            </a:r>
            <a:endParaRPr lang="en-US" sz="1300" dirty="0"/>
          </a:p>
        </p:txBody>
      </p:sp>
      <p:sp>
        <p:nvSpPr>
          <p:cNvPr id="28" name="Text 26"/>
          <p:cNvSpPr/>
          <p:nvPr/>
        </p:nvSpPr>
        <p:spPr>
          <a:xfrm>
            <a:off x="365760" y="4892040"/>
            <a:ext cx="8412480" cy="228600"/>
          </a:xfrm>
          <a:prstGeom prst="rect">
            <a:avLst/>
          </a:prstGeom>
          <a:noFill/>
          <a:ln/>
        </p:spPr>
        <p:txBody>
          <a:bodyPr wrap="square" rtlCol="0" anchor="ctr"/>
          <a:lstStyle/>
          <a:p>
            <a:pPr marL="0" indent="0">
              <a:buNone/>
            </a:pPr>
            <a:r>
              <a:rPr lang="en-US" sz="900" i="1" dirty="0">
                <a:solidFill>
                  <a:srgbClr val="1A6B8A"/>
                </a:solidFill>
              </a:rPr>
              <a:t>LoRA aligns output style to the task: terse factual answers instead of verbose passage summaries.</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164592"/>
            <a:ext cx="8229600" cy="256032"/>
          </a:xfrm>
          <a:prstGeom prst="rect">
            <a:avLst/>
          </a:prstGeom>
          <a:noFill/>
          <a:ln/>
        </p:spPr>
        <p:txBody>
          <a:bodyPr wrap="square" rtlCol="0" anchor="ctr"/>
          <a:lstStyle/>
          <a:p>
            <a:pPr marL="0" indent="0" algn="l">
              <a:buNone/>
            </a:pPr>
            <a:r>
              <a:rPr lang="en-US" sz="900" b="1" kern="0" spc="300" dirty="0">
                <a:solidFill>
                  <a:srgbClr val="2E8BAE"/>
                </a:solidFill>
              </a:rPr>
              <a:t>R E S U L T S</a:t>
            </a:r>
            <a:endParaRPr lang="en-US" sz="900" dirty="0"/>
          </a:p>
        </p:txBody>
      </p:sp>
      <p:sp>
        <p:nvSpPr>
          <p:cNvPr id="3" name="Text 1"/>
          <p:cNvSpPr/>
          <p:nvPr/>
        </p:nvSpPr>
        <p:spPr>
          <a:xfrm>
            <a:off x="7863840" y="164592"/>
            <a:ext cx="1097280" cy="256032"/>
          </a:xfrm>
          <a:prstGeom prst="rect">
            <a:avLst/>
          </a:prstGeom>
          <a:noFill/>
          <a:ln/>
        </p:spPr>
        <p:txBody>
          <a:bodyPr wrap="square" rtlCol="0" anchor="ctr"/>
          <a:lstStyle/>
          <a:p>
            <a:pPr marL="0" indent="0" algn="r">
              <a:buNone/>
            </a:pPr>
            <a:r>
              <a:rPr lang="en-US" sz="900" dirty="0">
                <a:solidFill>
                  <a:srgbClr val="5A7080"/>
                </a:solidFill>
              </a:rPr>
              <a:t>12 / 17</a:t>
            </a:r>
            <a:endParaRPr lang="en-US" sz="900" dirty="0"/>
          </a:p>
        </p:txBody>
      </p:sp>
      <p:sp>
        <p:nvSpPr>
          <p:cNvPr id="4" name="Text 2"/>
          <p:cNvSpPr/>
          <p:nvPr/>
        </p:nvSpPr>
        <p:spPr>
          <a:xfrm>
            <a:off x="457200" y="502920"/>
            <a:ext cx="8229600" cy="777240"/>
          </a:xfrm>
          <a:prstGeom prst="rect">
            <a:avLst/>
          </a:prstGeom>
          <a:noFill/>
          <a:ln/>
        </p:spPr>
        <p:txBody>
          <a:bodyPr wrap="square" rtlCol="0" anchor="ctr"/>
          <a:lstStyle/>
          <a:p>
            <a:pPr marL="0" indent="0" algn="l">
              <a:buNone/>
            </a:pPr>
            <a:r>
              <a:rPr lang="en-US" sz="3000" b="1" dirty="0">
                <a:solidFill>
                  <a:srgbClr val="0D2B5E"/>
                </a:solidFill>
                <a:latin typeface="Calibri" pitchFamily="34" charset="0"/>
                <a:ea typeface="Calibri" pitchFamily="34" charset="-122"/>
                <a:cs typeface="Calibri" pitchFamily="34" charset="-120"/>
              </a:rPr>
              <a:t>Final 4-way comparison on TriviaQA (n = 500)</a:t>
            </a:r>
            <a:endParaRPr lang="en-US" sz="30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457200" y="1417320"/>
          <a:ext cx="5303520" cy="2651760"/>
        </p:xfrm>
        <a:graphic>
          <a:graphicData uri="http://schemas.openxmlformats.org/drawingml/2006/table">
            <a:tbl>
              <a:tblPr/>
              <a:tblGrid>
                <a:gridCol w="2651760">
                  <a:extLst>
                    <a:ext uri="{9D8B030D-6E8A-4147-A177-3AD203B41FA5}">
                      <a16:colId xmlns:a16="http://schemas.microsoft.com/office/drawing/2014/main" val="20000"/>
                    </a:ext>
                  </a:extLst>
                </a:gridCol>
                <a:gridCol w="1325880">
                  <a:extLst>
                    <a:ext uri="{9D8B030D-6E8A-4147-A177-3AD203B41FA5}">
                      <a16:colId xmlns:a16="http://schemas.microsoft.com/office/drawing/2014/main" val="20001"/>
                    </a:ext>
                  </a:extLst>
                </a:gridCol>
                <a:gridCol w="1325880">
                  <a:extLst>
                    <a:ext uri="{9D8B030D-6E8A-4147-A177-3AD203B41FA5}">
                      <a16:colId xmlns:a16="http://schemas.microsoft.com/office/drawing/2014/main" val="20002"/>
                    </a:ext>
                  </a:extLst>
                </a:gridCol>
              </a:tblGrid>
              <a:tr h="530352">
                <a:tc>
                  <a:txBody>
                    <a:bodyPr/>
                    <a:lstStyle/>
                    <a:p>
                      <a:pPr marL="0" indent="0">
                        <a:buNone/>
                      </a:pPr>
                      <a:r>
                        <a:rPr lang="en-US" sz="1200" b="1" dirty="0">
                          <a:solidFill>
                            <a:srgbClr val="FFFFFF"/>
                          </a:solidFill>
                        </a:rPr>
                        <a:t>Configuration</a:t>
                      </a:r>
                      <a:endParaRPr lang="en-US" sz="1200" dirty="0"/>
                    </a:p>
                  </a:txBody>
                  <a:tcPr>
                    <a:lnL w="9525" cap="flat" cmpd="sng" algn="ctr">
                      <a:solidFill>
                        <a:srgbClr val="D0DCE8"/>
                      </a:solidFill>
                      <a:prstDash val="solid"/>
                      <a:round/>
                      <a:headEnd type="none" w="med" len="med"/>
                      <a:tailEnd type="none" w="med" len="med"/>
                    </a:lnL>
                    <a:lnR w="9525" cap="flat" cmpd="sng" algn="ctr">
                      <a:solidFill>
                        <a:srgbClr val="D0DCE8"/>
                      </a:solidFill>
                      <a:prstDash val="solid"/>
                      <a:round/>
                      <a:headEnd type="none" w="med" len="med"/>
                      <a:tailEnd type="none" w="med" len="med"/>
                    </a:lnR>
                    <a:lnT w="9525" cap="flat" cmpd="sng" algn="ctr">
                      <a:solidFill>
                        <a:srgbClr val="D0DCE8"/>
                      </a:solidFill>
                      <a:prstDash val="solid"/>
                      <a:round/>
                      <a:headEnd type="none" w="med" len="med"/>
                      <a:tailEnd type="none" w="med" len="med"/>
                    </a:lnT>
                    <a:lnB w="9525" cap="flat" cmpd="sng" algn="ctr">
                      <a:solidFill>
                        <a:srgbClr val="D0DCE8"/>
                      </a:solidFill>
                      <a:prstDash val="solid"/>
                      <a:round/>
                      <a:headEnd type="none" w="med" len="med"/>
                      <a:tailEnd type="none" w="med" len="med"/>
                    </a:lnB>
                    <a:solidFill>
                      <a:srgbClr val="0D1B3E"/>
                    </a:solidFill>
                  </a:tcPr>
                </a:tc>
                <a:tc>
                  <a:txBody>
                    <a:bodyPr/>
                    <a:lstStyle/>
                    <a:p>
                      <a:pPr marL="0" indent="0" algn="ctr">
                        <a:buNone/>
                      </a:pPr>
                      <a:r>
                        <a:rPr lang="en-US" sz="1200" b="1" dirty="0">
                          <a:solidFill>
                            <a:srgbClr val="FFFFFF"/>
                          </a:solidFill>
                        </a:rPr>
                        <a:t>Strict EM</a:t>
                      </a:r>
                      <a:endParaRPr lang="en-US" sz="1200" dirty="0"/>
                    </a:p>
                  </a:txBody>
                  <a:tcPr>
                    <a:lnL w="9525" cap="flat" cmpd="sng" algn="ctr">
                      <a:solidFill>
                        <a:srgbClr val="D0DCE8"/>
                      </a:solidFill>
                      <a:prstDash val="solid"/>
                      <a:round/>
                      <a:headEnd type="none" w="med" len="med"/>
                      <a:tailEnd type="none" w="med" len="med"/>
                    </a:lnL>
                    <a:lnR w="9525" cap="flat" cmpd="sng" algn="ctr">
                      <a:solidFill>
                        <a:srgbClr val="D0DCE8"/>
                      </a:solidFill>
                      <a:prstDash val="solid"/>
                      <a:round/>
                      <a:headEnd type="none" w="med" len="med"/>
                      <a:tailEnd type="none" w="med" len="med"/>
                    </a:lnR>
                    <a:lnT w="9525" cap="flat" cmpd="sng" algn="ctr">
                      <a:solidFill>
                        <a:srgbClr val="D0DCE8"/>
                      </a:solidFill>
                      <a:prstDash val="solid"/>
                      <a:round/>
                      <a:headEnd type="none" w="med" len="med"/>
                      <a:tailEnd type="none" w="med" len="med"/>
                    </a:lnT>
                    <a:lnB w="9525" cap="flat" cmpd="sng" algn="ctr">
                      <a:solidFill>
                        <a:srgbClr val="D0DCE8"/>
                      </a:solidFill>
                      <a:prstDash val="solid"/>
                      <a:round/>
                      <a:headEnd type="none" w="med" len="med"/>
                      <a:tailEnd type="none" w="med" len="med"/>
                    </a:lnB>
                    <a:solidFill>
                      <a:srgbClr val="0D1B3E"/>
                    </a:solidFill>
                  </a:tcPr>
                </a:tc>
                <a:tc>
                  <a:txBody>
                    <a:bodyPr/>
                    <a:lstStyle/>
                    <a:p>
                      <a:pPr marL="0" indent="0" algn="ctr">
                        <a:buNone/>
                      </a:pPr>
                      <a:r>
                        <a:rPr lang="en-US" sz="1200" b="1" dirty="0">
                          <a:solidFill>
                            <a:srgbClr val="FFFFFF"/>
                          </a:solidFill>
                        </a:rPr>
                        <a:t>Substring EM</a:t>
                      </a:r>
                      <a:endParaRPr lang="en-US" sz="1200" dirty="0"/>
                    </a:p>
                  </a:txBody>
                  <a:tcPr>
                    <a:lnL w="9525" cap="flat" cmpd="sng" algn="ctr">
                      <a:solidFill>
                        <a:srgbClr val="D0DCE8"/>
                      </a:solidFill>
                      <a:prstDash val="solid"/>
                      <a:round/>
                      <a:headEnd type="none" w="med" len="med"/>
                      <a:tailEnd type="none" w="med" len="med"/>
                    </a:lnL>
                    <a:lnR w="9525" cap="flat" cmpd="sng" algn="ctr">
                      <a:solidFill>
                        <a:srgbClr val="D0DCE8"/>
                      </a:solidFill>
                      <a:prstDash val="solid"/>
                      <a:round/>
                      <a:headEnd type="none" w="med" len="med"/>
                      <a:tailEnd type="none" w="med" len="med"/>
                    </a:lnR>
                    <a:lnT w="9525" cap="flat" cmpd="sng" algn="ctr">
                      <a:solidFill>
                        <a:srgbClr val="D0DCE8"/>
                      </a:solidFill>
                      <a:prstDash val="solid"/>
                      <a:round/>
                      <a:headEnd type="none" w="med" len="med"/>
                      <a:tailEnd type="none" w="med" len="med"/>
                    </a:lnT>
                    <a:lnB w="9525" cap="flat" cmpd="sng" algn="ctr">
                      <a:solidFill>
                        <a:srgbClr val="D0DCE8"/>
                      </a:solidFill>
                      <a:prstDash val="solid"/>
                      <a:round/>
                      <a:headEnd type="none" w="med" len="med"/>
                      <a:tailEnd type="none" w="med" len="med"/>
                    </a:lnB>
                    <a:solidFill>
                      <a:srgbClr val="0D1B3E"/>
                    </a:solidFill>
                  </a:tcPr>
                </a:tc>
                <a:extLst>
                  <a:ext uri="{0D108BD9-81ED-4DB2-BD59-A6C34878D82A}">
                    <a16:rowId xmlns:a16="http://schemas.microsoft.com/office/drawing/2014/main" val="10000"/>
                  </a:ext>
                </a:extLst>
              </a:tr>
              <a:tr h="530352">
                <a:tc>
                  <a:txBody>
                    <a:bodyPr/>
                    <a:lstStyle/>
                    <a:p>
                      <a:pPr marL="0" indent="0">
                        <a:buNone/>
                      </a:pPr>
                      <a:r>
                        <a:rPr lang="en-US" sz="1200" dirty="0">
                          <a:solidFill>
                            <a:srgbClr val="2C3E50"/>
                          </a:solidFill>
                        </a:rPr>
                        <a:t>Baseline 1 (zero-shot)</a:t>
                      </a:r>
                      <a:endParaRPr lang="en-US" sz="1200" dirty="0"/>
                    </a:p>
                  </a:txBody>
                  <a:tcPr>
                    <a:lnL w="9525" cap="flat" cmpd="sng" algn="ctr">
                      <a:solidFill>
                        <a:srgbClr val="D0DCE8"/>
                      </a:solidFill>
                      <a:prstDash val="solid"/>
                      <a:round/>
                      <a:headEnd type="none" w="med" len="med"/>
                      <a:tailEnd type="none" w="med" len="med"/>
                    </a:lnL>
                    <a:lnR w="9525" cap="flat" cmpd="sng" algn="ctr">
                      <a:solidFill>
                        <a:srgbClr val="D0DCE8"/>
                      </a:solidFill>
                      <a:prstDash val="solid"/>
                      <a:round/>
                      <a:headEnd type="none" w="med" len="med"/>
                      <a:tailEnd type="none" w="med" len="med"/>
                    </a:lnR>
                    <a:lnT w="9525" cap="flat" cmpd="sng" algn="ctr">
                      <a:solidFill>
                        <a:srgbClr val="D0DCE8"/>
                      </a:solidFill>
                      <a:prstDash val="solid"/>
                      <a:round/>
                      <a:headEnd type="none" w="med" len="med"/>
                      <a:tailEnd type="none" w="med" len="med"/>
                    </a:lnT>
                    <a:lnB w="9525" cap="flat" cmpd="sng" algn="ctr">
                      <a:solidFill>
                        <a:srgbClr val="D0DCE8"/>
                      </a:solidFill>
                      <a:prstDash val="solid"/>
                      <a:round/>
                      <a:headEnd type="none" w="med" len="med"/>
                      <a:tailEnd type="none" w="med" len="med"/>
                    </a:lnB>
                  </a:tcPr>
                </a:tc>
                <a:tc>
                  <a:txBody>
                    <a:bodyPr/>
                    <a:lstStyle/>
                    <a:p>
                      <a:pPr marL="0" indent="0" algn="ctr">
                        <a:buNone/>
                      </a:pPr>
                      <a:r>
                        <a:rPr lang="en-US" sz="1200" dirty="0">
                          <a:solidFill>
                            <a:srgbClr val="2C3E50"/>
                          </a:solidFill>
                        </a:rPr>
                        <a:t>0.358</a:t>
                      </a:r>
                      <a:endParaRPr lang="en-US" sz="1200" dirty="0"/>
                    </a:p>
                  </a:txBody>
                  <a:tcPr>
                    <a:lnL w="9525" cap="flat" cmpd="sng" algn="ctr">
                      <a:solidFill>
                        <a:srgbClr val="D0DCE8"/>
                      </a:solidFill>
                      <a:prstDash val="solid"/>
                      <a:round/>
                      <a:headEnd type="none" w="med" len="med"/>
                      <a:tailEnd type="none" w="med" len="med"/>
                    </a:lnL>
                    <a:lnR w="9525" cap="flat" cmpd="sng" algn="ctr">
                      <a:solidFill>
                        <a:srgbClr val="D0DCE8"/>
                      </a:solidFill>
                      <a:prstDash val="solid"/>
                      <a:round/>
                      <a:headEnd type="none" w="med" len="med"/>
                      <a:tailEnd type="none" w="med" len="med"/>
                    </a:lnR>
                    <a:lnT w="9525" cap="flat" cmpd="sng" algn="ctr">
                      <a:solidFill>
                        <a:srgbClr val="D0DCE8"/>
                      </a:solidFill>
                      <a:prstDash val="solid"/>
                      <a:round/>
                      <a:headEnd type="none" w="med" len="med"/>
                      <a:tailEnd type="none" w="med" len="med"/>
                    </a:lnT>
                    <a:lnB w="9525" cap="flat" cmpd="sng" algn="ctr">
                      <a:solidFill>
                        <a:srgbClr val="D0DCE8"/>
                      </a:solidFill>
                      <a:prstDash val="solid"/>
                      <a:round/>
                      <a:headEnd type="none" w="med" len="med"/>
                      <a:tailEnd type="none" w="med" len="med"/>
                    </a:lnB>
                  </a:tcPr>
                </a:tc>
                <a:tc>
                  <a:txBody>
                    <a:bodyPr/>
                    <a:lstStyle/>
                    <a:p>
                      <a:pPr marL="0" indent="0" algn="ctr">
                        <a:buNone/>
                      </a:pPr>
                      <a:r>
                        <a:rPr lang="en-US" sz="1200" dirty="0">
                          <a:solidFill>
                            <a:srgbClr val="2C3E50"/>
                          </a:solidFill>
                        </a:rPr>
                        <a:t>0.746</a:t>
                      </a:r>
                      <a:endParaRPr lang="en-US" sz="1200" dirty="0"/>
                    </a:p>
                  </a:txBody>
                  <a:tcPr>
                    <a:lnL w="9525" cap="flat" cmpd="sng" algn="ctr">
                      <a:solidFill>
                        <a:srgbClr val="D0DCE8"/>
                      </a:solidFill>
                      <a:prstDash val="solid"/>
                      <a:round/>
                      <a:headEnd type="none" w="med" len="med"/>
                      <a:tailEnd type="none" w="med" len="med"/>
                    </a:lnL>
                    <a:lnR w="9525" cap="flat" cmpd="sng" algn="ctr">
                      <a:solidFill>
                        <a:srgbClr val="D0DCE8"/>
                      </a:solidFill>
                      <a:prstDash val="solid"/>
                      <a:round/>
                      <a:headEnd type="none" w="med" len="med"/>
                      <a:tailEnd type="none" w="med" len="med"/>
                    </a:lnR>
                    <a:lnT w="9525" cap="flat" cmpd="sng" algn="ctr">
                      <a:solidFill>
                        <a:srgbClr val="D0DCE8"/>
                      </a:solidFill>
                      <a:prstDash val="solid"/>
                      <a:round/>
                      <a:headEnd type="none" w="med" len="med"/>
                      <a:tailEnd type="none" w="med" len="med"/>
                    </a:lnT>
                    <a:lnB w="9525" cap="flat" cmpd="sng" algn="ctr">
                      <a:solidFill>
                        <a:srgbClr val="D0DCE8"/>
                      </a:solidFill>
                      <a:prstDash val="solid"/>
                      <a:round/>
                      <a:headEnd type="none" w="med" len="med"/>
                      <a:tailEnd type="none" w="med" len="med"/>
                    </a:lnB>
                  </a:tcPr>
                </a:tc>
                <a:extLst>
                  <a:ext uri="{0D108BD9-81ED-4DB2-BD59-A6C34878D82A}">
                    <a16:rowId xmlns:a16="http://schemas.microsoft.com/office/drawing/2014/main" val="10001"/>
                  </a:ext>
                </a:extLst>
              </a:tr>
              <a:tr h="530352">
                <a:tc>
                  <a:txBody>
                    <a:bodyPr/>
                    <a:lstStyle/>
                    <a:p>
                      <a:pPr marL="0" indent="0">
                        <a:buNone/>
                      </a:pPr>
                      <a:r>
                        <a:rPr lang="en-US" sz="1200" dirty="0">
                          <a:solidFill>
                            <a:srgbClr val="2C3E50"/>
                          </a:solidFill>
                        </a:rPr>
                        <a:t>Baseline 2 (few-shot)</a:t>
                      </a:r>
                      <a:endParaRPr lang="en-US" sz="1200" dirty="0"/>
                    </a:p>
                  </a:txBody>
                  <a:tcPr>
                    <a:lnL w="9525" cap="flat" cmpd="sng" algn="ctr">
                      <a:solidFill>
                        <a:srgbClr val="D0DCE8"/>
                      </a:solidFill>
                      <a:prstDash val="solid"/>
                      <a:round/>
                      <a:headEnd type="none" w="med" len="med"/>
                      <a:tailEnd type="none" w="med" len="med"/>
                    </a:lnL>
                    <a:lnR w="9525" cap="flat" cmpd="sng" algn="ctr">
                      <a:solidFill>
                        <a:srgbClr val="D0DCE8"/>
                      </a:solidFill>
                      <a:prstDash val="solid"/>
                      <a:round/>
                      <a:headEnd type="none" w="med" len="med"/>
                      <a:tailEnd type="none" w="med" len="med"/>
                    </a:lnR>
                    <a:lnT w="9525" cap="flat" cmpd="sng" algn="ctr">
                      <a:solidFill>
                        <a:srgbClr val="D0DCE8"/>
                      </a:solidFill>
                      <a:prstDash val="solid"/>
                      <a:round/>
                      <a:headEnd type="none" w="med" len="med"/>
                      <a:tailEnd type="none" w="med" len="med"/>
                    </a:lnT>
                    <a:lnB w="9525" cap="flat" cmpd="sng" algn="ctr">
                      <a:solidFill>
                        <a:srgbClr val="D0DCE8"/>
                      </a:solidFill>
                      <a:prstDash val="solid"/>
                      <a:round/>
                      <a:headEnd type="none" w="med" len="med"/>
                      <a:tailEnd type="none" w="med" len="med"/>
                    </a:lnB>
                  </a:tcPr>
                </a:tc>
                <a:tc>
                  <a:txBody>
                    <a:bodyPr/>
                    <a:lstStyle/>
                    <a:p>
                      <a:pPr marL="0" indent="0" algn="ctr">
                        <a:buNone/>
                      </a:pPr>
                      <a:r>
                        <a:rPr lang="en-US" sz="1200" dirty="0">
                          <a:solidFill>
                            <a:srgbClr val="2C3E50"/>
                          </a:solidFill>
                        </a:rPr>
                        <a:t>0.292</a:t>
                      </a:r>
                      <a:endParaRPr lang="en-US" sz="1200" dirty="0"/>
                    </a:p>
                  </a:txBody>
                  <a:tcPr>
                    <a:lnL w="9525" cap="flat" cmpd="sng" algn="ctr">
                      <a:solidFill>
                        <a:srgbClr val="D0DCE8"/>
                      </a:solidFill>
                      <a:prstDash val="solid"/>
                      <a:round/>
                      <a:headEnd type="none" w="med" len="med"/>
                      <a:tailEnd type="none" w="med" len="med"/>
                    </a:lnL>
                    <a:lnR w="9525" cap="flat" cmpd="sng" algn="ctr">
                      <a:solidFill>
                        <a:srgbClr val="D0DCE8"/>
                      </a:solidFill>
                      <a:prstDash val="solid"/>
                      <a:round/>
                      <a:headEnd type="none" w="med" len="med"/>
                      <a:tailEnd type="none" w="med" len="med"/>
                    </a:lnR>
                    <a:lnT w="9525" cap="flat" cmpd="sng" algn="ctr">
                      <a:solidFill>
                        <a:srgbClr val="D0DCE8"/>
                      </a:solidFill>
                      <a:prstDash val="solid"/>
                      <a:round/>
                      <a:headEnd type="none" w="med" len="med"/>
                      <a:tailEnd type="none" w="med" len="med"/>
                    </a:lnT>
                    <a:lnB w="9525" cap="flat" cmpd="sng" algn="ctr">
                      <a:solidFill>
                        <a:srgbClr val="D0DCE8"/>
                      </a:solidFill>
                      <a:prstDash val="solid"/>
                      <a:round/>
                      <a:headEnd type="none" w="med" len="med"/>
                      <a:tailEnd type="none" w="med" len="med"/>
                    </a:lnB>
                  </a:tcPr>
                </a:tc>
                <a:tc>
                  <a:txBody>
                    <a:bodyPr/>
                    <a:lstStyle/>
                    <a:p>
                      <a:pPr marL="0" indent="0" algn="ctr">
                        <a:buNone/>
                      </a:pPr>
                      <a:r>
                        <a:rPr lang="en-US" sz="1200" dirty="0">
                          <a:solidFill>
                            <a:srgbClr val="2C3E50"/>
                          </a:solidFill>
                        </a:rPr>
                        <a:t>0.728</a:t>
                      </a:r>
                      <a:endParaRPr lang="en-US" sz="1200" dirty="0"/>
                    </a:p>
                  </a:txBody>
                  <a:tcPr>
                    <a:lnL w="9525" cap="flat" cmpd="sng" algn="ctr">
                      <a:solidFill>
                        <a:srgbClr val="D0DCE8"/>
                      </a:solidFill>
                      <a:prstDash val="solid"/>
                      <a:round/>
                      <a:headEnd type="none" w="med" len="med"/>
                      <a:tailEnd type="none" w="med" len="med"/>
                    </a:lnL>
                    <a:lnR w="9525" cap="flat" cmpd="sng" algn="ctr">
                      <a:solidFill>
                        <a:srgbClr val="D0DCE8"/>
                      </a:solidFill>
                      <a:prstDash val="solid"/>
                      <a:round/>
                      <a:headEnd type="none" w="med" len="med"/>
                      <a:tailEnd type="none" w="med" len="med"/>
                    </a:lnR>
                    <a:lnT w="9525" cap="flat" cmpd="sng" algn="ctr">
                      <a:solidFill>
                        <a:srgbClr val="D0DCE8"/>
                      </a:solidFill>
                      <a:prstDash val="solid"/>
                      <a:round/>
                      <a:headEnd type="none" w="med" len="med"/>
                      <a:tailEnd type="none" w="med" len="med"/>
                    </a:lnT>
                    <a:lnB w="9525" cap="flat" cmpd="sng" algn="ctr">
                      <a:solidFill>
                        <a:srgbClr val="D0DCE8"/>
                      </a:solidFill>
                      <a:prstDash val="solid"/>
                      <a:round/>
                      <a:headEnd type="none" w="med" len="med"/>
                      <a:tailEnd type="none" w="med" len="med"/>
                    </a:lnB>
                  </a:tcPr>
                </a:tc>
                <a:extLst>
                  <a:ext uri="{0D108BD9-81ED-4DB2-BD59-A6C34878D82A}">
                    <a16:rowId xmlns:a16="http://schemas.microsoft.com/office/drawing/2014/main" val="10002"/>
                  </a:ext>
                </a:extLst>
              </a:tr>
              <a:tr h="530352">
                <a:tc>
                  <a:txBody>
                    <a:bodyPr/>
                    <a:lstStyle/>
                    <a:p>
                      <a:pPr marL="0" indent="0">
                        <a:buNone/>
                      </a:pPr>
                      <a:r>
                        <a:rPr lang="en-US" sz="1200" b="1" dirty="0">
                          <a:solidFill>
                            <a:srgbClr val="C0392B"/>
                          </a:solidFill>
                        </a:rPr>
                        <a:t>RAG (no fine-tune)</a:t>
                      </a:r>
                      <a:endParaRPr lang="en-US" sz="1200" dirty="0"/>
                    </a:p>
                  </a:txBody>
                  <a:tcPr>
                    <a:lnL w="9525" cap="flat" cmpd="sng" algn="ctr">
                      <a:solidFill>
                        <a:srgbClr val="D0DCE8"/>
                      </a:solidFill>
                      <a:prstDash val="solid"/>
                      <a:round/>
                      <a:headEnd type="none" w="med" len="med"/>
                      <a:tailEnd type="none" w="med" len="med"/>
                    </a:lnL>
                    <a:lnR w="9525" cap="flat" cmpd="sng" algn="ctr">
                      <a:solidFill>
                        <a:srgbClr val="D0DCE8"/>
                      </a:solidFill>
                      <a:prstDash val="solid"/>
                      <a:round/>
                      <a:headEnd type="none" w="med" len="med"/>
                      <a:tailEnd type="none" w="med" len="med"/>
                    </a:lnR>
                    <a:lnT w="9525" cap="flat" cmpd="sng" algn="ctr">
                      <a:solidFill>
                        <a:srgbClr val="D0DCE8"/>
                      </a:solidFill>
                      <a:prstDash val="solid"/>
                      <a:round/>
                      <a:headEnd type="none" w="med" len="med"/>
                      <a:tailEnd type="none" w="med" len="med"/>
                    </a:lnT>
                    <a:lnB w="9525" cap="flat" cmpd="sng" algn="ctr">
                      <a:solidFill>
                        <a:srgbClr val="D0DCE8"/>
                      </a:solidFill>
                      <a:prstDash val="solid"/>
                      <a:round/>
                      <a:headEnd type="none" w="med" len="med"/>
                      <a:tailEnd type="none" w="med" len="med"/>
                    </a:lnB>
                  </a:tcPr>
                </a:tc>
                <a:tc>
                  <a:txBody>
                    <a:bodyPr/>
                    <a:lstStyle/>
                    <a:p>
                      <a:pPr marL="0" indent="0" algn="ctr">
                        <a:buNone/>
                      </a:pPr>
                      <a:r>
                        <a:rPr lang="en-US" sz="1200" b="1" dirty="0">
                          <a:solidFill>
                            <a:srgbClr val="C0392B"/>
                          </a:solidFill>
                        </a:rPr>
                        <a:t>0.014</a:t>
                      </a:r>
                      <a:endParaRPr lang="en-US" sz="1200" dirty="0"/>
                    </a:p>
                  </a:txBody>
                  <a:tcPr>
                    <a:lnL w="9525" cap="flat" cmpd="sng" algn="ctr">
                      <a:solidFill>
                        <a:srgbClr val="D0DCE8"/>
                      </a:solidFill>
                      <a:prstDash val="solid"/>
                      <a:round/>
                      <a:headEnd type="none" w="med" len="med"/>
                      <a:tailEnd type="none" w="med" len="med"/>
                    </a:lnL>
                    <a:lnR w="9525" cap="flat" cmpd="sng" algn="ctr">
                      <a:solidFill>
                        <a:srgbClr val="D0DCE8"/>
                      </a:solidFill>
                      <a:prstDash val="solid"/>
                      <a:round/>
                      <a:headEnd type="none" w="med" len="med"/>
                      <a:tailEnd type="none" w="med" len="med"/>
                    </a:lnR>
                    <a:lnT w="9525" cap="flat" cmpd="sng" algn="ctr">
                      <a:solidFill>
                        <a:srgbClr val="D0DCE8"/>
                      </a:solidFill>
                      <a:prstDash val="solid"/>
                      <a:round/>
                      <a:headEnd type="none" w="med" len="med"/>
                      <a:tailEnd type="none" w="med" len="med"/>
                    </a:lnT>
                    <a:lnB w="9525" cap="flat" cmpd="sng" algn="ctr">
                      <a:solidFill>
                        <a:srgbClr val="D0DCE8"/>
                      </a:solidFill>
                      <a:prstDash val="solid"/>
                      <a:round/>
                      <a:headEnd type="none" w="med" len="med"/>
                      <a:tailEnd type="none" w="med" len="med"/>
                    </a:lnB>
                  </a:tcPr>
                </a:tc>
                <a:tc>
                  <a:txBody>
                    <a:bodyPr/>
                    <a:lstStyle/>
                    <a:p>
                      <a:pPr marL="0" indent="0" algn="ctr">
                        <a:buNone/>
                      </a:pPr>
                      <a:r>
                        <a:rPr lang="en-US" sz="1200" b="1" dirty="0">
                          <a:solidFill>
                            <a:srgbClr val="C0392B"/>
                          </a:solidFill>
                        </a:rPr>
                        <a:t>0.588</a:t>
                      </a:r>
                      <a:endParaRPr lang="en-US" sz="1200" dirty="0"/>
                    </a:p>
                  </a:txBody>
                  <a:tcPr>
                    <a:lnL w="9525" cap="flat" cmpd="sng" algn="ctr">
                      <a:solidFill>
                        <a:srgbClr val="D0DCE8"/>
                      </a:solidFill>
                      <a:prstDash val="solid"/>
                      <a:round/>
                      <a:headEnd type="none" w="med" len="med"/>
                      <a:tailEnd type="none" w="med" len="med"/>
                    </a:lnL>
                    <a:lnR w="9525" cap="flat" cmpd="sng" algn="ctr">
                      <a:solidFill>
                        <a:srgbClr val="D0DCE8"/>
                      </a:solidFill>
                      <a:prstDash val="solid"/>
                      <a:round/>
                      <a:headEnd type="none" w="med" len="med"/>
                      <a:tailEnd type="none" w="med" len="med"/>
                    </a:lnR>
                    <a:lnT w="9525" cap="flat" cmpd="sng" algn="ctr">
                      <a:solidFill>
                        <a:srgbClr val="D0DCE8"/>
                      </a:solidFill>
                      <a:prstDash val="solid"/>
                      <a:round/>
                      <a:headEnd type="none" w="med" len="med"/>
                      <a:tailEnd type="none" w="med" len="med"/>
                    </a:lnT>
                    <a:lnB w="9525" cap="flat" cmpd="sng" algn="ctr">
                      <a:solidFill>
                        <a:srgbClr val="D0DCE8"/>
                      </a:solidFill>
                      <a:prstDash val="solid"/>
                      <a:round/>
                      <a:headEnd type="none" w="med" len="med"/>
                      <a:tailEnd type="none" w="med" len="med"/>
                    </a:lnB>
                  </a:tcPr>
                </a:tc>
                <a:extLst>
                  <a:ext uri="{0D108BD9-81ED-4DB2-BD59-A6C34878D82A}">
                    <a16:rowId xmlns:a16="http://schemas.microsoft.com/office/drawing/2014/main" val="10003"/>
                  </a:ext>
                </a:extLst>
              </a:tr>
              <a:tr h="530352">
                <a:tc>
                  <a:txBody>
                    <a:bodyPr/>
                    <a:lstStyle/>
                    <a:p>
                      <a:pPr marL="0" indent="0">
                        <a:buNone/>
                      </a:pPr>
                      <a:r>
                        <a:rPr lang="en-US" sz="1200" b="1" dirty="0">
                          <a:solidFill>
                            <a:srgbClr val="1A6B8A"/>
                          </a:solidFill>
                        </a:rPr>
                        <a:t>RAG + LoRA</a:t>
                      </a:r>
                      <a:endParaRPr lang="en-US" sz="1200" dirty="0"/>
                    </a:p>
                  </a:txBody>
                  <a:tcPr>
                    <a:lnL w="9525" cap="flat" cmpd="sng" algn="ctr">
                      <a:solidFill>
                        <a:srgbClr val="D0DCE8"/>
                      </a:solidFill>
                      <a:prstDash val="solid"/>
                      <a:round/>
                      <a:headEnd type="none" w="med" len="med"/>
                      <a:tailEnd type="none" w="med" len="med"/>
                    </a:lnL>
                    <a:lnR w="9525" cap="flat" cmpd="sng" algn="ctr">
                      <a:solidFill>
                        <a:srgbClr val="D0DCE8"/>
                      </a:solidFill>
                      <a:prstDash val="solid"/>
                      <a:round/>
                      <a:headEnd type="none" w="med" len="med"/>
                      <a:tailEnd type="none" w="med" len="med"/>
                    </a:lnR>
                    <a:lnT w="9525" cap="flat" cmpd="sng" algn="ctr">
                      <a:solidFill>
                        <a:srgbClr val="D0DCE8"/>
                      </a:solidFill>
                      <a:prstDash val="solid"/>
                      <a:round/>
                      <a:headEnd type="none" w="med" len="med"/>
                      <a:tailEnd type="none" w="med" len="med"/>
                    </a:lnT>
                    <a:lnB w="9525" cap="flat" cmpd="sng" algn="ctr">
                      <a:solidFill>
                        <a:srgbClr val="D0DCE8"/>
                      </a:solidFill>
                      <a:prstDash val="solid"/>
                      <a:round/>
                      <a:headEnd type="none" w="med" len="med"/>
                      <a:tailEnd type="none" w="med" len="med"/>
                    </a:lnB>
                  </a:tcPr>
                </a:tc>
                <a:tc>
                  <a:txBody>
                    <a:bodyPr/>
                    <a:lstStyle/>
                    <a:p>
                      <a:pPr marL="0" indent="0" algn="ctr">
                        <a:buNone/>
                      </a:pPr>
                      <a:r>
                        <a:rPr lang="en-US" sz="1200" b="1" dirty="0">
                          <a:solidFill>
                            <a:srgbClr val="1A6B8A"/>
                          </a:solidFill>
                        </a:rPr>
                        <a:t>0.256</a:t>
                      </a:r>
                      <a:endParaRPr lang="en-US" sz="1200" dirty="0"/>
                    </a:p>
                  </a:txBody>
                  <a:tcPr>
                    <a:lnL w="9525" cap="flat" cmpd="sng" algn="ctr">
                      <a:solidFill>
                        <a:srgbClr val="D0DCE8"/>
                      </a:solidFill>
                      <a:prstDash val="solid"/>
                      <a:round/>
                      <a:headEnd type="none" w="med" len="med"/>
                      <a:tailEnd type="none" w="med" len="med"/>
                    </a:lnL>
                    <a:lnR w="9525" cap="flat" cmpd="sng" algn="ctr">
                      <a:solidFill>
                        <a:srgbClr val="D0DCE8"/>
                      </a:solidFill>
                      <a:prstDash val="solid"/>
                      <a:round/>
                      <a:headEnd type="none" w="med" len="med"/>
                      <a:tailEnd type="none" w="med" len="med"/>
                    </a:lnR>
                    <a:lnT w="9525" cap="flat" cmpd="sng" algn="ctr">
                      <a:solidFill>
                        <a:srgbClr val="D0DCE8"/>
                      </a:solidFill>
                      <a:prstDash val="solid"/>
                      <a:round/>
                      <a:headEnd type="none" w="med" len="med"/>
                      <a:tailEnd type="none" w="med" len="med"/>
                    </a:lnT>
                    <a:lnB w="9525" cap="flat" cmpd="sng" algn="ctr">
                      <a:solidFill>
                        <a:srgbClr val="D0DCE8"/>
                      </a:solidFill>
                      <a:prstDash val="solid"/>
                      <a:round/>
                      <a:headEnd type="none" w="med" len="med"/>
                      <a:tailEnd type="none" w="med" len="med"/>
                    </a:lnB>
                  </a:tcPr>
                </a:tc>
                <a:tc>
                  <a:txBody>
                    <a:bodyPr/>
                    <a:lstStyle/>
                    <a:p>
                      <a:pPr marL="0" indent="0" algn="ctr">
                        <a:buNone/>
                      </a:pPr>
                      <a:r>
                        <a:rPr lang="en-US" sz="1200" b="1" dirty="0">
                          <a:solidFill>
                            <a:srgbClr val="1A6B8A"/>
                          </a:solidFill>
                        </a:rPr>
                        <a:t>0.726</a:t>
                      </a:r>
                      <a:endParaRPr lang="en-US" sz="1200" dirty="0"/>
                    </a:p>
                  </a:txBody>
                  <a:tcPr>
                    <a:lnL w="9525" cap="flat" cmpd="sng" algn="ctr">
                      <a:solidFill>
                        <a:srgbClr val="D0DCE8"/>
                      </a:solidFill>
                      <a:prstDash val="solid"/>
                      <a:round/>
                      <a:headEnd type="none" w="med" len="med"/>
                      <a:tailEnd type="none" w="med" len="med"/>
                    </a:lnL>
                    <a:lnR w="9525" cap="flat" cmpd="sng" algn="ctr">
                      <a:solidFill>
                        <a:srgbClr val="D0DCE8"/>
                      </a:solidFill>
                      <a:prstDash val="solid"/>
                      <a:round/>
                      <a:headEnd type="none" w="med" len="med"/>
                      <a:tailEnd type="none" w="med" len="med"/>
                    </a:lnR>
                    <a:lnT w="9525" cap="flat" cmpd="sng" algn="ctr">
                      <a:solidFill>
                        <a:srgbClr val="D0DCE8"/>
                      </a:solidFill>
                      <a:prstDash val="solid"/>
                      <a:round/>
                      <a:headEnd type="none" w="med" len="med"/>
                      <a:tailEnd type="none" w="med" len="med"/>
                    </a:lnT>
                    <a:lnB w="9525" cap="flat" cmpd="sng" algn="ctr">
                      <a:solidFill>
                        <a:srgbClr val="D0DCE8"/>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6" name="Shape 3"/>
          <p:cNvSpPr/>
          <p:nvPr/>
        </p:nvSpPr>
        <p:spPr>
          <a:xfrm>
            <a:off x="6035040" y="1417320"/>
            <a:ext cx="2743200" cy="2651760"/>
          </a:xfrm>
          <a:prstGeom prst="rect">
            <a:avLst/>
          </a:prstGeom>
          <a:solidFill>
            <a:srgbClr val="EEF3F8"/>
          </a:solidFill>
          <a:ln w="9525">
            <a:solidFill>
              <a:srgbClr val="D0DCE8"/>
            </a:solidFill>
            <a:prstDash val="solid"/>
          </a:ln>
        </p:spPr>
        <p:txBody>
          <a:bodyPr/>
          <a:lstStyle/>
          <a:p>
            <a:endParaRPr lang="en-US"/>
          </a:p>
        </p:txBody>
      </p:sp>
      <p:sp>
        <p:nvSpPr>
          <p:cNvPr id="7" name="Text 4"/>
          <p:cNvSpPr/>
          <p:nvPr/>
        </p:nvSpPr>
        <p:spPr>
          <a:xfrm>
            <a:off x="6172200" y="1536192"/>
            <a:ext cx="2468880" cy="256032"/>
          </a:xfrm>
          <a:prstGeom prst="rect">
            <a:avLst/>
          </a:prstGeom>
          <a:noFill/>
          <a:ln/>
        </p:spPr>
        <p:txBody>
          <a:bodyPr wrap="square" rtlCol="0" anchor="ctr"/>
          <a:lstStyle/>
          <a:p>
            <a:pPr marL="0" indent="0">
              <a:buNone/>
            </a:pPr>
            <a:r>
              <a:rPr lang="en-US" sz="900" b="1" kern="0" spc="200" dirty="0">
                <a:solidFill>
                  <a:srgbClr val="E8842A"/>
                </a:solidFill>
              </a:rPr>
              <a:t>K E Y  F I N D I N G</a:t>
            </a:r>
            <a:endParaRPr lang="en-US" sz="900" dirty="0"/>
          </a:p>
        </p:txBody>
      </p:sp>
      <p:sp>
        <p:nvSpPr>
          <p:cNvPr id="8" name="Text 5"/>
          <p:cNvSpPr/>
          <p:nvPr/>
        </p:nvSpPr>
        <p:spPr>
          <a:xfrm>
            <a:off x="6172200" y="1828800"/>
            <a:ext cx="2468880" cy="685800"/>
          </a:xfrm>
          <a:prstGeom prst="rect">
            <a:avLst/>
          </a:prstGeom>
          <a:noFill/>
          <a:ln/>
        </p:spPr>
        <p:txBody>
          <a:bodyPr wrap="square" rtlCol="0" anchor="ctr"/>
          <a:lstStyle/>
          <a:p>
            <a:pPr marL="0" indent="0" algn="ctr">
              <a:buNone/>
            </a:pPr>
            <a:r>
              <a:rPr lang="en-US" sz="5000" b="1" dirty="0">
                <a:solidFill>
                  <a:srgbClr val="1A6B8A"/>
                </a:solidFill>
              </a:rPr>
              <a:t>18×</a:t>
            </a:r>
            <a:endParaRPr lang="en-US" sz="5000" dirty="0"/>
          </a:p>
        </p:txBody>
      </p:sp>
      <p:sp>
        <p:nvSpPr>
          <p:cNvPr id="9" name="Text 6"/>
          <p:cNvSpPr/>
          <p:nvPr/>
        </p:nvSpPr>
        <p:spPr>
          <a:xfrm>
            <a:off x="6172200" y="2542032"/>
            <a:ext cx="2468880" cy="502920"/>
          </a:xfrm>
          <a:prstGeom prst="rect">
            <a:avLst/>
          </a:prstGeom>
          <a:noFill/>
          <a:ln/>
        </p:spPr>
        <p:txBody>
          <a:bodyPr wrap="square" rtlCol="0" anchor="ctr"/>
          <a:lstStyle/>
          <a:p>
            <a:pPr marL="0" indent="0" algn="ctr">
              <a:buNone/>
            </a:pPr>
            <a:r>
              <a:rPr lang="en-US" sz="1100" dirty="0">
                <a:solidFill>
                  <a:srgbClr val="2C3E50"/>
                </a:solidFill>
              </a:rPr>
              <a:t>strict EM gain from</a:t>
            </a:r>
            <a:endParaRPr lang="en-US" sz="1100" dirty="0"/>
          </a:p>
          <a:p>
            <a:pPr marL="0" indent="0" algn="ctr">
              <a:buNone/>
            </a:pPr>
            <a:r>
              <a:rPr lang="en-US" sz="1100" dirty="0">
                <a:solidFill>
                  <a:srgbClr val="2C3E50"/>
                </a:solidFill>
              </a:rPr>
              <a:t>LoRA fine-tuning of RAG</a:t>
            </a:r>
            <a:endParaRPr lang="en-US" sz="1100" dirty="0"/>
          </a:p>
        </p:txBody>
      </p:sp>
      <p:sp>
        <p:nvSpPr>
          <p:cNvPr id="10" name="Text 7"/>
          <p:cNvSpPr/>
          <p:nvPr/>
        </p:nvSpPr>
        <p:spPr>
          <a:xfrm>
            <a:off x="6172200" y="3063240"/>
            <a:ext cx="2468880" cy="347472"/>
          </a:xfrm>
          <a:prstGeom prst="rect">
            <a:avLst/>
          </a:prstGeom>
          <a:noFill/>
          <a:ln/>
        </p:spPr>
        <p:txBody>
          <a:bodyPr wrap="square" rtlCol="0" anchor="ctr"/>
          <a:lstStyle/>
          <a:p>
            <a:pPr marL="0" indent="0" algn="ctr">
              <a:buNone/>
            </a:pPr>
            <a:r>
              <a:rPr lang="en-US" sz="1400" b="1" dirty="0">
                <a:solidFill>
                  <a:srgbClr val="0D2B5E"/>
                </a:solidFill>
              </a:rPr>
              <a:t>0.014 → 0.256</a:t>
            </a:r>
            <a:endParaRPr lang="en-US" sz="1400" dirty="0"/>
          </a:p>
        </p:txBody>
      </p:sp>
      <p:sp>
        <p:nvSpPr>
          <p:cNvPr id="11" name="Text 8"/>
          <p:cNvSpPr/>
          <p:nvPr/>
        </p:nvSpPr>
        <p:spPr>
          <a:xfrm>
            <a:off x="6172200" y="3438144"/>
            <a:ext cx="2468880" cy="457200"/>
          </a:xfrm>
          <a:prstGeom prst="rect">
            <a:avLst/>
          </a:prstGeom>
          <a:noFill/>
          <a:ln/>
        </p:spPr>
        <p:txBody>
          <a:bodyPr wrap="square" rtlCol="0" anchor="ctr"/>
          <a:lstStyle/>
          <a:p>
            <a:pPr marL="0" indent="0" algn="ctr">
              <a:buNone/>
            </a:pPr>
            <a:r>
              <a:rPr lang="en-US" sz="1050" dirty="0">
                <a:solidFill>
                  <a:srgbClr val="2C3E50"/>
                </a:solidFill>
              </a:rPr>
              <a:t>+13.8 pts on Substring EM</a:t>
            </a:r>
            <a:endParaRPr lang="en-US" sz="1050" dirty="0"/>
          </a:p>
          <a:p>
            <a:pPr marL="0" indent="0" algn="ctr">
              <a:buNone/>
            </a:pPr>
            <a:r>
              <a:rPr lang="en-US" sz="1050" dirty="0">
                <a:solidFill>
                  <a:srgbClr val="2C3E50"/>
                </a:solidFill>
              </a:rPr>
              <a:t>(0.588 → 0.726)</a:t>
            </a:r>
            <a:endParaRPr lang="en-US" sz="1050" dirty="0"/>
          </a:p>
        </p:txBody>
      </p:sp>
      <p:sp>
        <p:nvSpPr>
          <p:cNvPr id="12" name="Text 9"/>
          <p:cNvSpPr/>
          <p:nvPr/>
        </p:nvSpPr>
        <p:spPr>
          <a:xfrm>
            <a:off x="457200" y="4206240"/>
            <a:ext cx="8229600" cy="256032"/>
          </a:xfrm>
          <a:prstGeom prst="rect">
            <a:avLst/>
          </a:prstGeom>
          <a:noFill/>
          <a:ln/>
        </p:spPr>
        <p:txBody>
          <a:bodyPr wrap="square" rtlCol="0" anchor="ctr"/>
          <a:lstStyle/>
          <a:p>
            <a:pPr marL="0" indent="0">
              <a:buNone/>
            </a:pPr>
            <a:r>
              <a:rPr lang="en-US" sz="900" i="1" dirty="0">
                <a:solidFill>
                  <a:srgbClr val="5A7080"/>
                </a:solidFill>
              </a:rPr>
              <a:t>Same 500-question slice, seed = 42, identical evaluation harness across all configurations.</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164592"/>
            <a:ext cx="8229600" cy="256032"/>
          </a:xfrm>
          <a:prstGeom prst="rect">
            <a:avLst/>
          </a:prstGeom>
          <a:noFill/>
          <a:ln/>
        </p:spPr>
        <p:txBody>
          <a:bodyPr wrap="square" rtlCol="0" anchor="ctr"/>
          <a:lstStyle/>
          <a:p>
            <a:pPr marL="0" indent="0" algn="l">
              <a:buNone/>
            </a:pPr>
            <a:r>
              <a:rPr lang="en-US" sz="900" b="1" kern="0" spc="300" dirty="0">
                <a:solidFill>
                  <a:srgbClr val="2E8BAE"/>
                </a:solidFill>
              </a:rPr>
              <a:t>A N A L Y S I S</a:t>
            </a:r>
            <a:endParaRPr lang="en-US" sz="900" dirty="0"/>
          </a:p>
        </p:txBody>
      </p:sp>
      <p:sp>
        <p:nvSpPr>
          <p:cNvPr id="3" name="Text 1"/>
          <p:cNvSpPr/>
          <p:nvPr/>
        </p:nvSpPr>
        <p:spPr>
          <a:xfrm>
            <a:off x="7863840" y="164592"/>
            <a:ext cx="1097280" cy="256032"/>
          </a:xfrm>
          <a:prstGeom prst="rect">
            <a:avLst/>
          </a:prstGeom>
          <a:noFill/>
          <a:ln/>
        </p:spPr>
        <p:txBody>
          <a:bodyPr wrap="square" rtlCol="0" anchor="ctr"/>
          <a:lstStyle/>
          <a:p>
            <a:pPr marL="0" indent="0" algn="r">
              <a:buNone/>
            </a:pPr>
            <a:r>
              <a:rPr lang="en-US" sz="900" dirty="0">
                <a:solidFill>
                  <a:srgbClr val="5A7080"/>
                </a:solidFill>
              </a:rPr>
              <a:t>13 / 17</a:t>
            </a:r>
            <a:endParaRPr lang="en-US" sz="900" dirty="0"/>
          </a:p>
        </p:txBody>
      </p:sp>
      <p:sp>
        <p:nvSpPr>
          <p:cNvPr id="4" name="Text 2"/>
          <p:cNvSpPr/>
          <p:nvPr/>
        </p:nvSpPr>
        <p:spPr>
          <a:xfrm>
            <a:off x="457200" y="502920"/>
            <a:ext cx="8229600" cy="777240"/>
          </a:xfrm>
          <a:prstGeom prst="rect">
            <a:avLst/>
          </a:prstGeom>
          <a:noFill/>
          <a:ln/>
        </p:spPr>
        <p:txBody>
          <a:bodyPr wrap="square" rtlCol="0" anchor="ctr"/>
          <a:lstStyle/>
          <a:p>
            <a:pPr marL="0" indent="0" algn="l">
              <a:buNone/>
            </a:pPr>
            <a:r>
              <a:rPr lang="en-US" sz="3000" b="1" dirty="0">
                <a:solidFill>
                  <a:srgbClr val="0D2B5E"/>
                </a:solidFill>
                <a:latin typeface="Calibri" pitchFamily="34" charset="0"/>
                <a:ea typeface="Calibri" pitchFamily="34" charset="-122"/>
                <a:cs typeface="Calibri" pitchFamily="34" charset="-120"/>
              </a:rPr>
              <a:t>Why doesn't RAG+LoRA beat the zero-shot baseline?</a:t>
            </a:r>
            <a:endParaRPr lang="en-US" sz="3000" dirty="0"/>
          </a:p>
        </p:txBody>
      </p:sp>
      <p:sp>
        <p:nvSpPr>
          <p:cNvPr id="5" name="Text 3"/>
          <p:cNvSpPr/>
          <p:nvPr/>
        </p:nvSpPr>
        <p:spPr>
          <a:xfrm>
            <a:off x="457200" y="1325880"/>
            <a:ext cx="8229600" cy="256032"/>
          </a:xfrm>
          <a:prstGeom prst="rect">
            <a:avLst/>
          </a:prstGeom>
          <a:noFill/>
          <a:ln/>
        </p:spPr>
        <p:txBody>
          <a:bodyPr wrap="square" rtlCol="0" anchor="ctr"/>
          <a:lstStyle/>
          <a:p>
            <a:pPr marL="0" indent="0">
              <a:buNone/>
            </a:pPr>
            <a:r>
              <a:rPr lang="en-US" sz="1100" i="1" dirty="0">
                <a:solidFill>
                  <a:srgbClr val="5A7080"/>
                </a:solidFill>
              </a:rPr>
              <a:t>This was an unexpected finding. Two contributing factors:</a:t>
            </a:r>
            <a:endParaRPr lang="en-US" sz="1100" dirty="0"/>
          </a:p>
        </p:txBody>
      </p:sp>
      <p:sp>
        <p:nvSpPr>
          <p:cNvPr id="6" name="Shape 4"/>
          <p:cNvSpPr/>
          <p:nvPr/>
        </p:nvSpPr>
        <p:spPr>
          <a:xfrm>
            <a:off x="365760" y="1691640"/>
            <a:ext cx="4069080" cy="3017520"/>
          </a:xfrm>
          <a:prstGeom prst="rect">
            <a:avLst/>
          </a:prstGeom>
          <a:solidFill>
            <a:srgbClr val="EEF3F8"/>
          </a:solidFill>
          <a:ln w="9525">
            <a:solidFill>
              <a:srgbClr val="D0DCE8"/>
            </a:solidFill>
            <a:prstDash val="solid"/>
          </a:ln>
        </p:spPr>
        <p:txBody>
          <a:bodyPr/>
          <a:lstStyle/>
          <a:p>
            <a:endParaRPr lang="en-US"/>
          </a:p>
        </p:txBody>
      </p:sp>
      <p:sp>
        <p:nvSpPr>
          <p:cNvPr id="7" name="Shape 5"/>
          <p:cNvSpPr/>
          <p:nvPr/>
        </p:nvSpPr>
        <p:spPr>
          <a:xfrm>
            <a:off x="475488" y="1783080"/>
            <a:ext cx="594360" cy="594360"/>
          </a:xfrm>
          <a:prstGeom prst="ellipse">
            <a:avLst/>
          </a:prstGeom>
          <a:solidFill>
            <a:srgbClr val="1A6B8A"/>
          </a:solidFill>
          <a:ln/>
        </p:spPr>
        <p:txBody>
          <a:bodyPr/>
          <a:lstStyle/>
          <a:p>
            <a:endParaRPr lang="en-US"/>
          </a:p>
        </p:txBody>
      </p:sp>
      <p:sp>
        <p:nvSpPr>
          <p:cNvPr id="8" name="Text 6"/>
          <p:cNvSpPr/>
          <p:nvPr/>
        </p:nvSpPr>
        <p:spPr>
          <a:xfrm>
            <a:off x="475488" y="1783080"/>
            <a:ext cx="594360" cy="594360"/>
          </a:xfrm>
          <a:prstGeom prst="rect">
            <a:avLst/>
          </a:prstGeom>
          <a:noFill/>
          <a:ln/>
        </p:spPr>
        <p:txBody>
          <a:bodyPr wrap="square" rtlCol="0" anchor="ctr"/>
          <a:lstStyle/>
          <a:p>
            <a:pPr marL="0" indent="0" algn="ctr">
              <a:buNone/>
            </a:pPr>
            <a:r>
              <a:rPr lang="en-US" sz="1800" b="1" dirty="0">
                <a:solidFill>
                  <a:srgbClr val="FFFFFF"/>
                </a:solidFill>
              </a:rPr>
              <a:t>1</a:t>
            </a:r>
            <a:endParaRPr lang="en-US" sz="1800" dirty="0"/>
          </a:p>
        </p:txBody>
      </p:sp>
      <p:sp>
        <p:nvSpPr>
          <p:cNvPr id="9" name="Text 7"/>
          <p:cNvSpPr/>
          <p:nvPr/>
        </p:nvSpPr>
        <p:spPr>
          <a:xfrm>
            <a:off x="1170432" y="1801368"/>
            <a:ext cx="3154680" cy="594360"/>
          </a:xfrm>
          <a:prstGeom prst="rect">
            <a:avLst/>
          </a:prstGeom>
          <a:noFill/>
          <a:ln/>
        </p:spPr>
        <p:txBody>
          <a:bodyPr wrap="square" rtlCol="0" anchor="ctr"/>
          <a:lstStyle/>
          <a:p>
            <a:pPr marL="0" indent="0">
              <a:buNone/>
            </a:pPr>
            <a:r>
              <a:rPr lang="en-US" sz="1200" b="1" dirty="0">
                <a:solidFill>
                  <a:srgbClr val="0D2B5E"/>
                </a:solidFill>
              </a:rPr>
              <a:t>Mistral already memorized TriviaQA-style facts</a:t>
            </a:r>
            <a:endParaRPr lang="en-US" sz="1200" dirty="0"/>
          </a:p>
        </p:txBody>
      </p:sp>
      <p:sp>
        <p:nvSpPr>
          <p:cNvPr id="10" name="Text 8"/>
          <p:cNvSpPr/>
          <p:nvPr/>
        </p:nvSpPr>
        <p:spPr>
          <a:xfrm>
            <a:off x="548640" y="2487168"/>
            <a:ext cx="3749040" cy="2011680"/>
          </a:xfrm>
          <a:prstGeom prst="rect">
            <a:avLst/>
          </a:prstGeom>
          <a:noFill/>
          <a:ln/>
        </p:spPr>
        <p:txBody>
          <a:bodyPr wrap="square" rtlCol="0" anchor="ctr"/>
          <a:lstStyle/>
          <a:p>
            <a:pPr marL="342900" indent="-342900">
              <a:buSzPct val="100000"/>
              <a:buChar char="•"/>
            </a:pPr>
            <a:r>
              <a:rPr lang="en-US" sz="1100" dirty="0">
                <a:solidFill>
                  <a:srgbClr val="2C3E50"/>
                </a:solidFill>
              </a:rPr>
              <a:t>Mistral-7B's pretraining included Wikipedia + web text</a:t>
            </a:r>
            <a:endParaRPr lang="en-US" sz="1100" dirty="0"/>
          </a:p>
          <a:p>
            <a:pPr marL="342900" indent="-342900">
              <a:buSzPct val="100000"/>
              <a:buChar char="•"/>
            </a:pPr>
            <a:r>
              <a:rPr lang="en-US" sz="1100" dirty="0">
                <a:solidFill>
                  <a:srgbClr val="2C3E50"/>
                </a:solidFill>
              </a:rPr>
              <a:t>Many TriviaQA answers are in its parametric memory</a:t>
            </a:r>
            <a:endParaRPr lang="en-US" sz="1100" dirty="0"/>
          </a:p>
          <a:p>
            <a:pPr marL="342900" indent="-342900">
              <a:buSzPct val="100000"/>
              <a:buChar char="•"/>
            </a:pPr>
            <a:r>
              <a:rPr lang="en-US" sz="1100" dirty="0">
                <a:solidFill>
                  <a:srgbClr val="2C3E50"/>
                </a:solidFill>
              </a:rPr>
              <a:t>When pretraining covers a question, retrieval adds no new info</a:t>
            </a:r>
            <a:endParaRPr lang="en-US" sz="1100" dirty="0"/>
          </a:p>
          <a:p>
            <a:pPr marL="342900" indent="-342900">
              <a:buSzPct val="100000"/>
              <a:buChar char="•"/>
            </a:pPr>
            <a:r>
              <a:rPr lang="en-US" sz="1100" dirty="0">
                <a:solidFill>
                  <a:srgbClr val="2C3E50"/>
                </a:solidFill>
              </a:rPr>
              <a:t>Result: zero-shot is a remarkably strong baseline here</a:t>
            </a:r>
            <a:endParaRPr lang="en-US" sz="1100" dirty="0"/>
          </a:p>
        </p:txBody>
      </p:sp>
      <p:sp>
        <p:nvSpPr>
          <p:cNvPr id="11" name="Shape 9"/>
          <p:cNvSpPr/>
          <p:nvPr/>
        </p:nvSpPr>
        <p:spPr>
          <a:xfrm>
            <a:off x="4663440" y="1691640"/>
            <a:ext cx="4069080" cy="3017520"/>
          </a:xfrm>
          <a:prstGeom prst="rect">
            <a:avLst/>
          </a:prstGeom>
          <a:solidFill>
            <a:srgbClr val="EEF3F8"/>
          </a:solidFill>
          <a:ln w="9525">
            <a:solidFill>
              <a:srgbClr val="D0DCE8"/>
            </a:solidFill>
            <a:prstDash val="solid"/>
          </a:ln>
        </p:spPr>
        <p:txBody>
          <a:bodyPr/>
          <a:lstStyle/>
          <a:p>
            <a:endParaRPr lang="en-US"/>
          </a:p>
        </p:txBody>
      </p:sp>
      <p:sp>
        <p:nvSpPr>
          <p:cNvPr id="12" name="Shape 10"/>
          <p:cNvSpPr/>
          <p:nvPr/>
        </p:nvSpPr>
        <p:spPr>
          <a:xfrm>
            <a:off x="4773168" y="1783080"/>
            <a:ext cx="594360" cy="594360"/>
          </a:xfrm>
          <a:prstGeom prst="ellipse">
            <a:avLst/>
          </a:prstGeom>
          <a:solidFill>
            <a:srgbClr val="1A6B8A"/>
          </a:solidFill>
          <a:ln/>
        </p:spPr>
        <p:txBody>
          <a:bodyPr/>
          <a:lstStyle/>
          <a:p>
            <a:endParaRPr lang="en-US"/>
          </a:p>
        </p:txBody>
      </p:sp>
      <p:sp>
        <p:nvSpPr>
          <p:cNvPr id="13" name="Text 11"/>
          <p:cNvSpPr/>
          <p:nvPr/>
        </p:nvSpPr>
        <p:spPr>
          <a:xfrm>
            <a:off x="4773168" y="1783080"/>
            <a:ext cx="594360" cy="594360"/>
          </a:xfrm>
          <a:prstGeom prst="rect">
            <a:avLst/>
          </a:prstGeom>
          <a:noFill/>
          <a:ln/>
        </p:spPr>
        <p:txBody>
          <a:bodyPr wrap="square" rtlCol="0" anchor="ctr"/>
          <a:lstStyle/>
          <a:p>
            <a:pPr marL="0" indent="0" algn="ctr">
              <a:buNone/>
            </a:pPr>
            <a:r>
              <a:rPr lang="en-US" sz="1800" b="1" dirty="0">
                <a:solidFill>
                  <a:srgbClr val="FFFFFF"/>
                </a:solidFill>
              </a:rPr>
              <a:t>2</a:t>
            </a:r>
            <a:endParaRPr lang="en-US" sz="1800" dirty="0"/>
          </a:p>
        </p:txBody>
      </p:sp>
      <p:sp>
        <p:nvSpPr>
          <p:cNvPr id="14" name="Text 12"/>
          <p:cNvSpPr/>
          <p:nvPr/>
        </p:nvSpPr>
        <p:spPr>
          <a:xfrm>
            <a:off x="5468112" y="1801368"/>
            <a:ext cx="3154680" cy="594360"/>
          </a:xfrm>
          <a:prstGeom prst="rect">
            <a:avLst/>
          </a:prstGeom>
          <a:noFill/>
          <a:ln/>
        </p:spPr>
        <p:txBody>
          <a:bodyPr wrap="square" rtlCol="0" anchor="ctr"/>
          <a:lstStyle/>
          <a:p>
            <a:pPr marL="0" indent="0">
              <a:buNone/>
            </a:pPr>
            <a:r>
              <a:rPr lang="en-US" sz="1200" b="1" dirty="0">
                <a:solidFill>
                  <a:srgbClr val="0D2B5E"/>
                </a:solidFill>
              </a:rPr>
              <a:t>Retrieval misses on long-tail questions</a:t>
            </a:r>
            <a:endParaRPr lang="en-US" sz="1200" dirty="0"/>
          </a:p>
        </p:txBody>
      </p:sp>
      <p:sp>
        <p:nvSpPr>
          <p:cNvPr id="15" name="Text 13"/>
          <p:cNvSpPr/>
          <p:nvPr/>
        </p:nvSpPr>
        <p:spPr>
          <a:xfrm>
            <a:off x="4846320" y="2487168"/>
            <a:ext cx="3749040" cy="2011680"/>
          </a:xfrm>
          <a:prstGeom prst="rect">
            <a:avLst/>
          </a:prstGeom>
          <a:noFill/>
          <a:ln/>
        </p:spPr>
        <p:txBody>
          <a:bodyPr wrap="square" rtlCol="0" anchor="ctr"/>
          <a:lstStyle/>
          <a:p>
            <a:pPr marL="342900" indent="-342900">
              <a:buSzPct val="100000"/>
              <a:buChar char="•"/>
            </a:pPr>
            <a:r>
              <a:rPr lang="en-US" sz="1100" dirty="0">
                <a:solidFill>
                  <a:srgbClr val="2C3E50"/>
                </a:solidFill>
              </a:rPr>
              <a:t>Our 525k-passage corpus is a 50k-article subset of Wikipedia</a:t>
            </a:r>
            <a:endParaRPr lang="en-US" sz="1100" dirty="0"/>
          </a:p>
          <a:p>
            <a:pPr marL="342900" indent="-342900">
              <a:buSzPct val="100000"/>
              <a:buChar char="•"/>
            </a:pPr>
            <a:r>
              <a:rPr lang="en-US" sz="1100" dirty="0">
                <a:solidFill>
                  <a:srgbClr val="2C3E50"/>
                </a:solidFill>
              </a:rPr>
              <a:t>TriviaQA spans deep trivia — many topics fall outside it</a:t>
            </a:r>
            <a:endParaRPr lang="en-US" sz="1100" dirty="0"/>
          </a:p>
          <a:p>
            <a:pPr marL="342900" indent="-342900">
              <a:buSzPct val="100000"/>
              <a:buChar char="•"/>
            </a:pPr>
            <a:r>
              <a:rPr lang="en-US" sz="1100" dirty="0">
                <a:solidFill>
                  <a:srgbClr val="2C3E50"/>
                </a:solidFill>
              </a:rPr>
              <a:t>When retrieval misses, RAG+LoRA can't compensate</a:t>
            </a:r>
            <a:endParaRPr lang="en-US" sz="1100" dirty="0"/>
          </a:p>
          <a:p>
            <a:pPr marL="342900" indent="-342900">
              <a:buSzPct val="100000"/>
              <a:buChar char="•"/>
            </a:pPr>
            <a:r>
              <a:rPr lang="en-US" sz="1100" dirty="0">
                <a:solidFill>
                  <a:srgbClr val="2C3E50"/>
                </a:solidFill>
              </a:rPr>
              <a:t>Failure mode: model hedges ("the passages don't mention…")</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164592"/>
            <a:ext cx="8229600" cy="256032"/>
          </a:xfrm>
          <a:prstGeom prst="rect">
            <a:avLst/>
          </a:prstGeom>
          <a:noFill/>
          <a:ln/>
        </p:spPr>
        <p:txBody>
          <a:bodyPr wrap="square" rtlCol="0" anchor="ctr"/>
          <a:lstStyle/>
          <a:p>
            <a:pPr marL="0" indent="0" algn="l">
              <a:buNone/>
            </a:pPr>
            <a:r>
              <a:rPr lang="en-US" sz="900" b="1" kern="0" spc="300" dirty="0">
                <a:solidFill>
                  <a:srgbClr val="2E8BAE"/>
                </a:solidFill>
              </a:rPr>
              <a:t>A N A L Y S I S</a:t>
            </a:r>
            <a:endParaRPr lang="en-US" sz="900" dirty="0"/>
          </a:p>
        </p:txBody>
      </p:sp>
      <p:sp>
        <p:nvSpPr>
          <p:cNvPr id="3" name="Text 1"/>
          <p:cNvSpPr/>
          <p:nvPr/>
        </p:nvSpPr>
        <p:spPr>
          <a:xfrm>
            <a:off x="7863840" y="164592"/>
            <a:ext cx="1097280" cy="256032"/>
          </a:xfrm>
          <a:prstGeom prst="rect">
            <a:avLst/>
          </a:prstGeom>
          <a:noFill/>
          <a:ln/>
        </p:spPr>
        <p:txBody>
          <a:bodyPr wrap="square" rtlCol="0" anchor="ctr"/>
          <a:lstStyle/>
          <a:p>
            <a:pPr marL="0" indent="0" algn="r">
              <a:buNone/>
            </a:pPr>
            <a:r>
              <a:rPr lang="en-US" sz="900" dirty="0">
                <a:solidFill>
                  <a:srgbClr val="5A7080"/>
                </a:solidFill>
              </a:rPr>
              <a:t>14 / 17</a:t>
            </a:r>
            <a:endParaRPr lang="en-US" sz="900" dirty="0"/>
          </a:p>
        </p:txBody>
      </p:sp>
      <p:sp>
        <p:nvSpPr>
          <p:cNvPr id="4" name="Text 2"/>
          <p:cNvSpPr/>
          <p:nvPr/>
        </p:nvSpPr>
        <p:spPr>
          <a:xfrm>
            <a:off x="457200" y="502920"/>
            <a:ext cx="8229600" cy="777240"/>
          </a:xfrm>
          <a:prstGeom prst="rect">
            <a:avLst/>
          </a:prstGeom>
          <a:noFill/>
          <a:ln/>
        </p:spPr>
        <p:txBody>
          <a:bodyPr wrap="square" rtlCol="0" anchor="ctr"/>
          <a:lstStyle/>
          <a:p>
            <a:pPr marL="0" indent="0" algn="l">
              <a:buNone/>
            </a:pPr>
            <a:r>
              <a:rPr lang="en-US" sz="3000" b="1" dirty="0">
                <a:solidFill>
                  <a:srgbClr val="0D2B5E"/>
                </a:solidFill>
                <a:latin typeface="Calibri" pitchFamily="34" charset="0"/>
                <a:ea typeface="Calibri" pitchFamily="34" charset="-122"/>
                <a:cs typeface="Calibri" pitchFamily="34" charset="-120"/>
              </a:rPr>
              <a:t>Error Analysis: Where RAG+LoRA Still Fails</a:t>
            </a:r>
            <a:endParaRPr lang="en-US" sz="3000" dirty="0"/>
          </a:p>
        </p:txBody>
      </p:sp>
      <p:sp>
        <p:nvSpPr>
          <p:cNvPr id="5" name="Text 3"/>
          <p:cNvSpPr/>
          <p:nvPr/>
        </p:nvSpPr>
        <p:spPr>
          <a:xfrm>
            <a:off x="457200" y="1298448"/>
            <a:ext cx="8229600" cy="256032"/>
          </a:xfrm>
          <a:prstGeom prst="rect">
            <a:avLst/>
          </a:prstGeom>
          <a:noFill/>
          <a:ln/>
        </p:spPr>
        <p:txBody>
          <a:bodyPr wrap="square" rtlCol="0" anchor="ctr"/>
          <a:lstStyle/>
          <a:p>
            <a:pPr marL="0" indent="0">
              <a:buNone/>
            </a:pPr>
            <a:r>
              <a:rPr lang="en-US" sz="1100" i="1" dirty="0">
                <a:solidFill>
                  <a:srgbClr val="5A7080"/>
                </a:solidFill>
              </a:rPr>
              <a:t>Categorizing failure modes reveals distinct, addressable root causes.</a:t>
            </a:r>
            <a:endParaRPr lang="en-US" sz="1100" dirty="0"/>
          </a:p>
        </p:txBody>
      </p:sp>
      <p:sp>
        <p:nvSpPr>
          <p:cNvPr id="6" name="Shape 4"/>
          <p:cNvSpPr/>
          <p:nvPr/>
        </p:nvSpPr>
        <p:spPr>
          <a:xfrm>
            <a:off x="347472" y="1664208"/>
            <a:ext cx="2788920" cy="347472"/>
          </a:xfrm>
          <a:prstGeom prst="rect">
            <a:avLst/>
          </a:prstGeom>
          <a:solidFill>
            <a:srgbClr val="C0392B"/>
          </a:solidFill>
          <a:ln w="12700">
            <a:solidFill>
              <a:srgbClr val="C0392B"/>
            </a:solidFill>
            <a:prstDash val="solid"/>
          </a:ln>
        </p:spPr>
        <p:txBody>
          <a:bodyPr/>
          <a:lstStyle/>
          <a:p>
            <a:endParaRPr lang="en-US"/>
          </a:p>
        </p:txBody>
      </p:sp>
      <p:sp>
        <p:nvSpPr>
          <p:cNvPr id="7" name="Text 5"/>
          <p:cNvSpPr/>
          <p:nvPr/>
        </p:nvSpPr>
        <p:spPr>
          <a:xfrm>
            <a:off x="420624" y="1664208"/>
            <a:ext cx="2651760" cy="347472"/>
          </a:xfrm>
          <a:prstGeom prst="rect">
            <a:avLst/>
          </a:prstGeom>
          <a:noFill/>
          <a:ln/>
        </p:spPr>
        <p:txBody>
          <a:bodyPr wrap="square" rtlCol="0" anchor="ctr"/>
          <a:lstStyle/>
          <a:p>
            <a:pPr marL="0" indent="0">
              <a:buNone/>
            </a:pPr>
            <a:r>
              <a:rPr lang="en-US" sz="1000" b="1" dirty="0">
                <a:solidFill>
                  <a:srgbClr val="FFFFFF"/>
                </a:solidFill>
              </a:rPr>
              <a:t>Retrieval Miss  ·  ~45% of errors</a:t>
            </a:r>
            <a:endParaRPr lang="en-US" sz="1000" dirty="0"/>
          </a:p>
        </p:txBody>
      </p:sp>
      <p:sp>
        <p:nvSpPr>
          <p:cNvPr id="8" name="Shape 6"/>
          <p:cNvSpPr/>
          <p:nvPr/>
        </p:nvSpPr>
        <p:spPr>
          <a:xfrm>
            <a:off x="347472" y="2011680"/>
            <a:ext cx="2788920" cy="2834640"/>
          </a:xfrm>
          <a:prstGeom prst="rect">
            <a:avLst/>
          </a:prstGeom>
          <a:solidFill>
            <a:srgbClr val="F4F7FA"/>
          </a:solidFill>
          <a:ln w="6350">
            <a:solidFill>
              <a:srgbClr val="D0DCE8"/>
            </a:solidFill>
            <a:prstDash val="solid"/>
          </a:ln>
        </p:spPr>
        <p:txBody>
          <a:bodyPr/>
          <a:lstStyle/>
          <a:p>
            <a:endParaRPr lang="en-US"/>
          </a:p>
        </p:txBody>
      </p:sp>
      <p:sp>
        <p:nvSpPr>
          <p:cNvPr id="9" name="Text 7"/>
          <p:cNvSpPr/>
          <p:nvPr/>
        </p:nvSpPr>
        <p:spPr>
          <a:xfrm>
            <a:off x="438912" y="2084832"/>
            <a:ext cx="2606040" cy="594360"/>
          </a:xfrm>
          <a:prstGeom prst="rect">
            <a:avLst/>
          </a:prstGeom>
          <a:noFill/>
          <a:ln/>
        </p:spPr>
        <p:txBody>
          <a:bodyPr wrap="square" rtlCol="0" anchor="ctr"/>
          <a:lstStyle/>
          <a:p>
            <a:pPr marL="0" indent="0">
              <a:buNone/>
            </a:pPr>
            <a:r>
              <a:rPr lang="en-US" sz="1000" dirty="0">
                <a:solidFill>
                  <a:srgbClr val="2C3E50"/>
                </a:solidFill>
              </a:rPr>
              <a:t>Corpus doesn't contain the relevant article. Model outputs hedge phrase or wrong answer.</a:t>
            </a:r>
            <a:endParaRPr lang="en-US" sz="1000" dirty="0"/>
          </a:p>
        </p:txBody>
      </p:sp>
      <p:sp>
        <p:nvSpPr>
          <p:cNvPr id="10" name="Shape 8"/>
          <p:cNvSpPr/>
          <p:nvPr/>
        </p:nvSpPr>
        <p:spPr>
          <a:xfrm>
            <a:off x="438912" y="2724912"/>
            <a:ext cx="2606040" cy="1280160"/>
          </a:xfrm>
          <a:prstGeom prst="rect">
            <a:avLst/>
          </a:prstGeom>
          <a:solidFill>
            <a:srgbClr val="1E2B3C"/>
          </a:solidFill>
          <a:ln w="12700">
            <a:solidFill>
              <a:srgbClr val="334466"/>
            </a:solidFill>
            <a:prstDash val="solid"/>
          </a:ln>
        </p:spPr>
        <p:txBody>
          <a:bodyPr/>
          <a:lstStyle/>
          <a:p>
            <a:endParaRPr lang="en-US"/>
          </a:p>
        </p:txBody>
      </p:sp>
      <p:sp>
        <p:nvSpPr>
          <p:cNvPr id="11" name="Text 9"/>
          <p:cNvSpPr/>
          <p:nvPr/>
        </p:nvSpPr>
        <p:spPr>
          <a:xfrm>
            <a:off x="512064" y="2779776"/>
            <a:ext cx="2468880" cy="1170432"/>
          </a:xfrm>
          <a:prstGeom prst="rect">
            <a:avLst/>
          </a:prstGeom>
          <a:noFill/>
          <a:ln/>
        </p:spPr>
        <p:txBody>
          <a:bodyPr wrap="square" rtlCol="0" anchor="ctr"/>
          <a:lstStyle/>
          <a:p>
            <a:pPr marL="0" indent="0">
              <a:buNone/>
            </a:pPr>
            <a:r>
              <a:rPr lang="en-US" sz="800" b="1" dirty="0">
                <a:solidFill>
                  <a:srgbClr val="A8D8F0"/>
                </a:solidFill>
                <a:latin typeface="Courier New" pitchFamily="34" charset="0"/>
                <a:ea typeface="Courier New" pitchFamily="34" charset="-122"/>
                <a:cs typeface="Courier New" pitchFamily="34" charset="-120"/>
              </a:rPr>
              <a:t>Q: What year did the Treaty of Westphalia end?
</a:t>
            </a:r>
            <a:r>
              <a:rPr lang="en-US" sz="800" dirty="0">
                <a:solidFill>
                  <a:srgbClr val="7EE8A2"/>
                </a:solidFill>
                <a:latin typeface="Courier New" pitchFamily="34" charset="0"/>
                <a:ea typeface="Courier New" pitchFamily="34" charset="-122"/>
                <a:cs typeface="Courier New" pitchFamily="34" charset="-120"/>
              </a:rPr>
              <a:t>Gold: 1648
</a:t>
            </a:r>
            <a:r>
              <a:rPr lang="en-US" sz="800" i="1" dirty="0">
                <a:solidFill>
                  <a:srgbClr val="FF9980"/>
                </a:solidFill>
                <a:latin typeface="Courier New" pitchFamily="34" charset="0"/>
                <a:ea typeface="Courier New" pitchFamily="34" charset="-122"/>
                <a:cs typeface="Courier New" pitchFamily="34" charset="-120"/>
              </a:rPr>
              <a:t>Pred: "The passages don't mention this treaty."</a:t>
            </a:r>
            <a:endParaRPr lang="en-US" sz="800" dirty="0"/>
          </a:p>
        </p:txBody>
      </p:sp>
      <p:sp>
        <p:nvSpPr>
          <p:cNvPr id="12" name="Shape 10"/>
          <p:cNvSpPr/>
          <p:nvPr/>
        </p:nvSpPr>
        <p:spPr>
          <a:xfrm>
            <a:off x="347472" y="4069080"/>
            <a:ext cx="2788920" cy="502920"/>
          </a:xfrm>
          <a:prstGeom prst="rect">
            <a:avLst/>
          </a:prstGeom>
          <a:solidFill>
            <a:srgbClr val="EAF8F0"/>
          </a:solidFill>
          <a:ln w="6350">
            <a:solidFill>
              <a:srgbClr val="90D0A8"/>
            </a:solidFill>
            <a:prstDash val="solid"/>
          </a:ln>
        </p:spPr>
        <p:txBody>
          <a:bodyPr/>
          <a:lstStyle/>
          <a:p>
            <a:endParaRPr lang="en-US"/>
          </a:p>
        </p:txBody>
      </p:sp>
      <p:sp>
        <p:nvSpPr>
          <p:cNvPr id="13" name="Text 11"/>
          <p:cNvSpPr/>
          <p:nvPr/>
        </p:nvSpPr>
        <p:spPr>
          <a:xfrm>
            <a:off x="438912" y="4096512"/>
            <a:ext cx="2606040" cy="438912"/>
          </a:xfrm>
          <a:prstGeom prst="rect">
            <a:avLst/>
          </a:prstGeom>
          <a:noFill/>
          <a:ln/>
        </p:spPr>
        <p:txBody>
          <a:bodyPr wrap="square" rtlCol="0" anchor="ctr"/>
          <a:lstStyle/>
          <a:p>
            <a:pPr marL="0" indent="0">
              <a:buNone/>
            </a:pPr>
            <a:r>
              <a:rPr lang="en-US" sz="950" b="1" dirty="0">
                <a:solidFill>
                  <a:srgbClr val="2E9E6B"/>
                </a:solidFill>
              </a:rPr>
              <a:t>Fix: </a:t>
            </a:r>
            <a:r>
              <a:rPr lang="en-US" sz="950" dirty="0">
                <a:solidFill>
                  <a:srgbClr val="2C3E50"/>
                </a:solidFill>
              </a:rPr>
              <a:t>Scale corpus to full Wikipedia (5.5M+ passages)</a:t>
            </a:r>
            <a:endParaRPr lang="en-US" sz="950" dirty="0"/>
          </a:p>
        </p:txBody>
      </p:sp>
      <p:sp>
        <p:nvSpPr>
          <p:cNvPr id="14" name="Shape 12"/>
          <p:cNvSpPr/>
          <p:nvPr/>
        </p:nvSpPr>
        <p:spPr>
          <a:xfrm>
            <a:off x="3255264" y="1664208"/>
            <a:ext cx="2788920" cy="347472"/>
          </a:xfrm>
          <a:prstGeom prst="rect">
            <a:avLst/>
          </a:prstGeom>
          <a:solidFill>
            <a:srgbClr val="E8842A"/>
          </a:solidFill>
          <a:ln w="12700">
            <a:solidFill>
              <a:srgbClr val="E8842A"/>
            </a:solidFill>
            <a:prstDash val="solid"/>
          </a:ln>
        </p:spPr>
        <p:txBody>
          <a:bodyPr/>
          <a:lstStyle/>
          <a:p>
            <a:endParaRPr lang="en-US"/>
          </a:p>
        </p:txBody>
      </p:sp>
      <p:sp>
        <p:nvSpPr>
          <p:cNvPr id="15" name="Text 13"/>
          <p:cNvSpPr/>
          <p:nvPr/>
        </p:nvSpPr>
        <p:spPr>
          <a:xfrm>
            <a:off x="3328416" y="1664208"/>
            <a:ext cx="2651760" cy="347472"/>
          </a:xfrm>
          <a:prstGeom prst="rect">
            <a:avLst/>
          </a:prstGeom>
          <a:noFill/>
          <a:ln/>
        </p:spPr>
        <p:txBody>
          <a:bodyPr wrap="square" rtlCol="0" anchor="ctr"/>
          <a:lstStyle/>
          <a:p>
            <a:pPr marL="0" indent="0">
              <a:buNone/>
            </a:pPr>
            <a:r>
              <a:rPr lang="en-US" sz="1000" b="1" dirty="0">
                <a:solidFill>
                  <a:srgbClr val="FFFFFF"/>
                </a:solidFill>
              </a:rPr>
              <a:t>Format Drift  ·  ~30% of errors</a:t>
            </a:r>
            <a:endParaRPr lang="en-US" sz="1000" dirty="0"/>
          </a:p>
        </p:txBody>
      </p:sp>
      <p:sp>
        <p:nvSpPr>
          <p:cNvPr id="16" name="Shape 14"/>
          <p:cNvSpPr/>
          <p:nvPr/>
        </p:nvSpPr>
        <p:spPr>
          <a:xfrm>
            <a:off x="3255264" y="2011680"/>
            <a:ext cx="2788920" cy="2834640"/>
          </a:xfrm>
          <a:prstGeom prst="rect">
            <a:avLst/>
          </a:prstGeom>
          <a:solidFill>
            <a:srgbClr val="F4F7FA"/>
          </a:solidFill>
          <a:ln w="6350">
            <a:solidFill>
              <a:srgbClr val="D0DCE8"/>
            </a:solidFill>
            <a:prstDash val="solid"/>
          </a:ln>
        </p:spPr>
        <p:txBody>
          <a:bodyPr/>
          <a:lstStyle/>
          <a:p>
            <a:endParaRPr lang="en-US"/>
          </a:p>
        </p:txBody>
      </p:sp>
      <p:sp>
        <p:nvSpPr>
          <p:cNvPr id="17" name="Text 15"/>
          <p:cNvSpPr/>
          <p:nvPr/>
        </p:nvSpPr>
        <p:spPr>
          <a:xfrm>
            <a:off x="3346704" y="2084832"/>
            <a:ext cx="2606040" cy="594360"/>
          </a:xfrm>
          <a:prstGeom prst="rect">
            <a:avLst/>
          </a:prstGeom>
          <a:noFill/>
          <a:ln/>
        </p:spPr>
        <p:txBody>
          <a:bodyPr wrap="square" rtlCol="0" anchor="ctr"/>
          <a:lstStyle/>
          <a:p>
            <a:pPr marL="0" indent="0">
              <a:buNone/>
            </a:pPr>
            <a:r>
              <a:rPr lang="en-US" sz="1000" dirty="0">
                <a:solidFill>
                  <a:srgbClr val="2C3E50"/>
                </a:solidFill>
              </a:rPr>
              <a:t>Answer present in retrieved passage, but model copies phrase rather than extracting the exact answer.</a:t>
            </a:r>
            <a:endParaRPr lang="en-US" sz="1000" dirty="0"/>
          </a:p>
        </p:txBody>
      </p:sp>
      <p:sp>
        <p:nvSpPr>
          <p:cNvPr id="18" name="Shape 16"/>
          <p:cNvSpPr/>
          <p:nvPr/>
        </p:nvSpPr>
        <p:spPr>
          <a:xfrm>
            <a:off x="3346704" y="2724912"/>
            <a:ext cx="2606040" cy="1280160"/>
          </a:xfrm>
          <a:prstGeom prst="rect">
            <a:avLst/>
          </a:prstGeom>
          <a:solidFill>
            <a:srgbClr val="1E2B3C"/>
          </a:solidFill>
          <a:ln w="12700">
            <a:solidFill>
              <a:srgbClr val="334466"/>
            </a:solidFill>
            <a:prstDash val="solid"/>
          </a:ln>
        </p:spPr>
        <p:txBody>
          <a:bodyPr/>
          <a:lstStyle/>
          <a:p>
            <a:endParaRPr lang="en-US"/>
          </a:p>
        </p:txBody>
      </p:sp>
      <p:sp>
        <p:nvSpPr>
          <p:cNvPr id="19" name="Text 17"/>
          <p:cNvSpPr/>
          <p:nvPr/>
        </p:nvSpPr>
        <p:spPr>
          <a:xfrm>
            <a:off x="3419856" y="2779776"/>
            <a:ext cx="2468880" cy="1170432"/>
          </a:xfrm>
          <a:prstGeom prst="rect">
            <a:avLst/>
          </a:prstGeom>
          <a:noFill/>
          <a:ln/>
        </p:spPr>
        <p:txBody>
          <a:bodyPr wrap="square" rtlCol="0" anchor="ctr"/>
          <a:lstStyle/>
          <a:p>
            <a:pPr marL="0" indent="0">
              <a:buNone/>
            </a:pPr>
            <a:r>
              <a:rPr lang="en-US" sz="800" b="1" dirty="0">
                <a:solidFill>
                  <a:srgbClr val="A8D8F0"/>
                </a:solidFill>
                <a:latin typeface="Courier New" pitchFamily="34" charset="0"/>
                <a:ea typeface="Courier New" pitchFamily="34" charset="-122"/>
                <a:cs typeface="Courier New" pitchFamily="34" charset="-120"/>
              </a:rPr>
              <a:t>Q: Who invented the telephone?
</a:t>
            </a:r>
            <a:r>
              <a:rPr lang="en-US" sz="800" dirty="0">
                <a:solidFill>
                  <a:srgbClr val="7EE8A2"/>
                </a:solidFill>
                <a:latin typeface="Courier New" pitchFamily="34" charset="0"/>
                <a:ea typeface="Courier New" pitchFamily="34" charset="-122"/>
                <a:cs typeface="Courier New" pitchFamily="34" charset="-120"/>
              </a:rPr>
              <a:t>Gold: Alexander Graham Bell
</a:t>
            </a:r>
            <a:r>
              <a:rPr lang="en-US" sz="800" i="1" dirty="0">
                <a:solidFill>
                  <a:srgbClr val="FF9980"/>
                </a:solidFill>
                <a:latin typeface="Courier New" pitchFamily="34" charset="0"/>
                <a:ea typeface="Courier New" pitchFamily="34" charset="-122"/>
                <a:cs typeface="Courier New" pitchFamily="34" charset="-120"/>
              </a:rPr>
              <a:t>Pred: "Alexander Graham Bell invented the telephone in 1876."</a:t>
            </a:r>
            <a:endParaRPr lang="en-US" sz="800" dirty="0"/>
          </a:p>
        </p:txBody>
      </p:sp>
      <p:sp>
        <p:nvSpPr>
          <p:cNvPr id="20" name="Shape 18"/>
          <p:cNvSpPr/>
          <p:nvPr/>
        </p:nvSpPr>
        <p:spPr>
          <a:xfrm>
            <a:off x="3255264" y="4069080"/>
            <a:ext cx="2788920" cy="502920"/>
          </a:xfrm>
          <a:prstGeom prst="rect">
            <a:avLst/>
          </a:prstGeom>
          <a:solidFill>
            <a:srgbClr val="EAF8F0"/>
          </a:solidFill>
          <a:ln w="6350">
            <a:solidFill>
              <a:srgbClr val="90D0A8"/>
            </a:solidFill>
            <a:prstDash val="solid"/>
          </a:ln>
        </p:spPr>
        <p:txBody>
          <a:bodyPr/>
          <a:lstStyle/>
          <a:p>
            <a:endParaRPr lang="en-US"/>
          </a:p>
        </p:txBody>
      </p:sp>
      <p:sp>
        <p:nvSpPr>
          <p:cNvPr id="21" name="Text 19"/>
          <p:cNvSpPr/>
          <p:nvPr/>
        </p:nvSpPr>
        <p:spPr>
          <a:xfrm>
            <a:off x="3346704" y="4096512"/>
            <a:ext cx="2606040" cy="438912"/>
          </a:xfrm>
          <a:prstGeom prst="rect">
            <a:avLst/>
          </a:prstGeom>
          <a:noFill/>
          <a:ln/>
        </p:spPr>
        <p:txBody>
          <a:bodyPr wrap="square" rtlCol="0" anchor="ctr"/>
          <a:lstStyle/>
          <a:p>
            <a:pPr marL="0" indent="0">
              <a:buNone/>
            </a:pPr>
            <a:r>
              <a:rPr lang="en-US" sz="950" b="1" dirty="0">
                <a:solidFill>
                  <a:srgbClr val="2E9E6B"/>
                </a:solidFill>
              </a:rPr>
              <a:t>Fix: </a:t>
            </a:r>
            <a:r>
              <a:rPr lang="en-US" sz="950" dirty="0">
                <a:solidFill>
                  <a:srgbClr val="2C3E50"/>
                </a:solidFill>
              </a:rPr>
              <a:t>Add stop tokens; refine LoRA training format</a:t>
            </a:r>
            <a:endParaRPr lang="en-US" sz="950" dirty="0"/>
          </a:p>
        </p:txBody>
      </p:sp>
      <p:sp>
        <p:nvSpPr>
          <p:cNvPr id="22" name="Shape 20"/>
          <p:cNvSpPr/>
          <p:nvPr/>
        </p:nvSpPr>
        <p:spPr>
          <a:xfrm>
            <a:off x="6163056" y="1664208"/>
            <a:ext cx="2788920" cy="347472"/>
          </a:xfrm>
          <a:prstGeom prst="rect">
            <a:avLst/>
          </a:prstGeom>
          <a:solidFill>
            <a:srgbClr val="6B5EA8"/>
          </a:solidFill>
          <a:ln w="12700">
            <a:solidFill>
              <a:srgbClr val="6B5EA8"/>
            </a:solidFill>
            <a:prstDash val="solid"/>
          </a:ln>
        </p:spPr>
        <p:txBody>
          <a:bodyPr/>
          <a:lstStyle/>
          <a:p>
            <a:endParaRPr lang="en-US"/>
          </a:p>
        </p:txBody>
      </p:sp>
      <p:sp>
        <p:nvSpPr>
          <p:cNvPr id="23" name="Text 21"/>
          <p:cNvSpPr/>
          <p:nvPr/>
        </p:nvSpPr>
        <p:spPr>
          <a:xfrm>
            <a:off x="6236208" y="1664208"/>
            <a:ext cx="2651760" cy="347472"/>
          </a:xfrm>
          <a:prstGeom prst="rect">
            <a:avLst/>
          </a:prstGeom>
          <a:noFill/>
          <a:ln/>
        </p:spPr>
        <p:txBody>
          <a:bodyPr wrap="square" rtlCol="0" anchor="ctr"/>
          <a:lstStyle/>
          <a:p>
            <a:pPr marL="0" indent="0">
              <a:buNone/>
            </a:pPr>
            <a:r>
              <a:rPr lang="en-US" sz="1000" b="1" dirty="0">
                <a:solidFill>
                  <a:srgbClr val="FFFFFF"/>
                </a:solidFill>
              </a:rPr>
              <a:t>Parametric Override  ·  ~25% of errors</a:t>
            </a:r>
            <a:endParaRPr lang="en-US" sz="1000" dirty="0"/>
          </a:p>
        </p:txBody>
      </p:sp>
      <p:sp>
        <p:nvSpPr>
          <p:cNvPr id="24" name="Shape 22"/>
          <p:cNvSpPr/>
          <p:nvPr/>
        </p:nvSpPr>
        <p:spPr>
          <a:xfrm>
            <a:off x="6163056" y="2011680"/>
            <a:ext cx="2788920" cy="2834640"/>
          </a:xfrm>
          <a:prstGeom prst="rect">
            <a:avLst/>
          </a:prstGeom>
          <a:solidFill>
            <a:srgbClr val="F4F7FA"/>
          </a:solidFill>
          <a:ln w="6350">
            <a:solidFill>
              <a:srgbClr val="D0DCE8"/>
            </a:solidFill>
            <a:prstDash val="solid"/>
          </a:ln>
        </p:spPr>
        <p:txBody>
          <a:bodyPr/>
          <a:lstStyle/>
          <a:p>
            <a:endParaRPr lang="en-US"/>
          </a:p>
        </p:txBody>
      </p:sp>
      <p:sp>
        <p:nvSpPr>
          <p:cNvPr id="25" name="Text 23"/>
          <p:cNvSpPr/>
          <p:nvPr/>
        </p:nvSpPr>
        <p:spPr>
          <a:xfrm>
            <a:off x="6254496" y="2084832"/>
            <a:ext cx="2606040" cy="594360"/>
          </a:xfrm>
          <a:prstGeom prst="rect">
            <a:avLst/>
          </a:prstGeom>
          <a:noFill/>
          <a:ln/>
        </p:spPr>
        <p:txBody>
          <a:bodyPr wrap="square" rtlCol="0" anchor="ctr"/>
          <a:lstStyle/>
          <a:p>
            <a:pPr marL="0" indent="0">
              <a:buNone/>
            </a:pPr>
            <a:r>
              <a:rPr lang="en-US" sz="1000" dirty="0">
                <a:solidFill>
                  <a:srgbClr val="2C3E50"/>
                </a:solidFill>
              </a:rPr>
              <a:t>Retrieval provides correct passage but model ignores it, relying on conflicting parametric memory.</a:t>
            </a:r>
            <a:endParaRPr lang="en-US" sz="1000" dirty="0"/>
          </a:p>
        </p:txBody>
      </p:sp>
      <p:sp>
        <p:nvSpPr>
          <p:cNvPr id="26" name="Shape 24"/>
          <p:cNvSpPr/>
          <p:nvPr/>
        </p:nvSpPr>
        <p:spPr>
          <a:xfrm>
            <a:off x="6254496" y="2724912"/>
            <a:ext cx="2606040" cy="1280160"/>
          </a:xfrm>
          <a:prstGeom prst="rect">
            <a:avLst/>
          </a:prstGeom>
          <a:solidFill>
            <a:srgbClr val="1E2B3C"/>
          </a:solidFill>
          <a:ln w="12700">
            <a:solidFill>
              <a:srgbClr val="334466"/>
            </a:solidFill>
            <a:prstDash val="solid"/>
          </a:ln>
        </p:spPr>
        <p:txBody>
          <a:bodyPr/>
          <a:lstStyle/>
          <a:p>
            <a:endParaRPr lang="en-US"/>
          </a:p>
        </p:txBody>
      </p:sp>
      <p:sp>
        <p:nvSpPr>
          <p:cNvPr id="27" name="Text 25"/>
          <p:cNvSpPr/>
          <p:nvPr/>
        </p:nvSpPr>
        <p:spPr>
          <a:xfrm>
            <a:off x="6327648" y="2779776"/>
            <a:ext cx="2468880" cy="1170432"/>
          </a:xfrm>
          <a:prstGeom prst="rect">
            <a:avLst/>
          </a:prstGeom>
          <a:noFill/>
          <a:ln/>
        </p:spPr>
        <p:txBody>
          <a:bodyPr wrap="square" rtlCol="0" anchor="ctr"/>
          <a:lstStyle/>
          <a:p>
            <a:pPr marL="0" indent="0">
              <a:buNone/>
            </a:pPr>
            <a:r>
              <a:rPr lang="en-US" sz="800" b="1" dirty="0">
                <a:solidFill>
                  <a:srgbClr val="A8D8F0"/>
                </a:solidFill>
                <a:latin typeface="Courier New" pitchFamily="34" charset="0"/>
                <a:ea typeface="Courier New" pitchFamily="34" charset="-122"/>
                <a:cs typeface="Courier New" pitchFamily="34" charset="-120"/>
              </a:rPr>
              <a:t>Q: Which country hosted the 1936 Olympics?
</a:t>
            </a:r>
            <a:r>
              <a:rPr lang="en-US" sz="800" dirty="0">
                <a:solidFill>
                  <a:srgbClr val="7EE8A2"/>
                </a:solidFill>
                <a:latin typeface="Courier New" pitchFamily="34" charset="0"/>
                <a:ea typeface="Courier New" pitchFamily="34" charset="-122"/>
                <a:cs typeface="Courier New" pitchFamily="34" charset="-120"/>
              </a:rPr>
              <a:t>Gold: Germany
</a:t>
            </a:r>
            <a:r>
              <a:rPr lang="en-US" sz="800" i="1" dirty="0">
                <a:solidFill>
                  <a:srgbClr val="FF9980"/>
                </a:solidFill>
                <a:latin typeface="Courier New" pitchFamily="34" charset="0"/>
                <a:ea typeface="Courier New" pitchFamily="34" charset="-122"/>
                <a:cs typeface="Courier New" pitchFamily="34" charset="-120"/>
              </a:rPr>
              <a:t>Pred: "Based on passages, Germany hosted in Berlin."</a:t>
            </a:r>
            <a:endParaRPr lang="en-US" sz="800" dirty="0"/>
          </a:p>
        </p:txBody>
      </p:sp>
      <p:sp>
        <p:nvSpPr>
          <p:cNvPr id="28" name="Shape 26"/>
          <p:cNvSpPr/>
          <p:nvPr/>
        </p:nvSpPr>
        <p:spPr>
          <a:xfrm>
            <a:off x="6163056" y="4069080"/>
            <a:ext cx="2788920" cy="502920"/>
          </a:xfrm>
          <a:prstGeom prst="rect">
            <a:avLst/>
          </a:prstGeom>
          <a:solidFill>
            <a:srgbClr val="EAF8F0"/>
          </a:solidFill>
          <a:ln w="6350">
            <a:solidFill>
              <a:srgbClr val="90D0A8"/>
            </a:solidFill>
            <a:prstDash val="solid"/>
          </a:ln>
        </p:spPr>
        <p:txBody>
          <a:bodyPr/>
          <a:lstStyle/>
          <a:p>
            <a:endParaRPr lang="en-US"/>
          </a:p>
        </p:txBody>
      </p:sp>
      <p:sp>
        <p:nvSpPr>
          <p:cNvPr id="29" name="Text 27"/>
          <p:cNvSpPr/>
          <p:nvPr/>
        </p:nvSpPr>
        <p:spPr>
          <a:xfrm>
            <a:off x="6254496" y="4096512"/>
            <a:ext cx="2606040" cy="438912"/>
          </a:xfrm>
          <a:prstGeom prst="rect">
            <a:avLst/>
          </a:prstGeom>
          <a:noFill/>
          <a:ln/>
        </p:spPr>
        <p:txBody>
          <a:bodyPr wrap="square" rtlCol="0" anchor="ctr"/>
          <a:lstStyle/>
          <a:p>
            <a:pPr marL="0" indent="0">
              <a:buNone/>
            </a:pPr>
            <a:r>
              <a:rPr lang="en-US" sz="950" b="1" dirty="0">
                <a:solidFill>
                  <a:srgbClr val="2E9E6B"/>
                </a:solidFill>
              </a:rPr>
              <a:t>Fix: </a:t>
            </a:r>
            <a:r>
              <a:rPr lang="en-US" sz="950" dirty="0">
                <a:solidFill>
                  <a:srgbClr val="2C3E50"/>
                </a:solidFill>
              </a:rPr>
              <a:t>Instruction-tune to trust retrieved context over memory</a:t>
            </a:r>
            <a:endParaRPr lang="en-US" sz="9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164592"/>
            <a:ext cx="8229600" cy="256032"/>
          </a:xfrm>
          <a:prstGeom prst="rect">
            <a:avLst/>
          </a:prstGeom>
          <a:noFill/>
          <a:ln/>
        </p:spPr>
        <p:txBody>
          <a:bodyPr wrap="square" rtlCol="0" anchor="ctr"/>
          <a:lstStyle/>
          <a:p>
            <a:pPr marL="0" indent="0" algn="l">
              <a:buNone/>
            </a:pPr>
            <a:r>
              <a:rPr lang="en-US" sz="900" b="1" kern="0" spc="300" dirty="0">
                <a:solidFill>
                  <a:srgbClr val="2E8BAE"/>
                </a:solidFill>
              </a:rPr>
              <a:t>C O N C L U S I O N S</a:t>
            </a:r>
            <a:endParaRPr lang="en-US" sz="900" dirty="0"/>
          </a:p>
        </p:txBody>
      </p:sp>
      <p:sp>
        <p:nvSpPr>
          <p:cNvPr id="3" name="Text 1"/>
          <p:cNvSpPr/>
          <p:nvPr/>
        </p:nvSpPr>
        <p:spPr>
          <a:xfrm>
            <a:off x="7863840" y="164592"/>
            <a:ext cx="1097280" cy="256032"/>
          </a:xfrm>
          <a:prstGeom prst="rect">
            <a:avLst/>
          </a:prstGeom>
          <a:noFill/>
          <a:ln/>
        </p:spPr>
        <p:txBody>
          <a:bodyPr wrap="square" rtlCol="0" anchor="ctr"/>
          <a:lstStyle/>
          <a:p>
            <a:pPr marL="0" indent="0" algn="r">
              <a:buNone/>
            </a:pPr>
            <a:r>
              <a:rPr lang="en-US" sz="900" dirty="0">
                <a:solidFill>
                  <a:srgbClr val="5A7080"/>
                </a:solidFill>
              </a:rPr>
              <a:t>15 / 17</a:t>
            </a:r>
            <a:endParaRPr lang="en-US" sz="900" dirty="0"/>
          </a:p>
        </p:txBody>
      </p:sp>
      <p:sp>
        <p:nvSpPr>
          <p:cNvPr id="4" name="Text 2"/>
          <p:cNvSpPr/>
          <p:nvPr/>
        </p:nvSpPr>
        <p:spPr>
          <a:xfrm>
            <a:off x="457200" y="502920"/>
            <a:ext cx="8229600" cy="777240"/>
          </a:xfrm>
          <a:prstGeom prst="rect">
            <a:avLst/>
          </a:prstGeom>
          <a:noFill/>
          <a:ln/>
        </p:spPr>
        <p:txBody>
          <a:bodyPr wrap="square" rtlCol="0" anchor="ctr"/>
          <a:lstStyle/>
          <a:p>
            <a:pPr marL="0" indent="0" algn="l">
              <a:buNone/>
            </a:pPr>
            <a:r>
              <a:rPr lang="en-US" sz="3000" b="1" dirty="0">
                <a:solidFill>
                  <a:srgbClr val="0D2B5E"/>
                </a:solidFill>
                <a:latin typeface="Calibri" pitchFamily="34" charset="0"/>
                <a:ea typeface="Calibri" pitchFamily="34" charset="-122"/>
                <a:cs typeface="Calibri" pitchFamily="34" charset="-120"/>
              </a:rPr>
              <a:t>What we learned</a:t>
            </a:r>
            <a:endParaRPr lang="en-US" sz="3000" dirty="0"/>
          </a:p>
        </p:txBody>
      </p:sp>
      <p:sp>
        <p:nvSpPr>
          <p:cNvPr id="5" name="Shape 3"/>
          <p:cNvSpPr/>
          <p:nvPr/>
        </p:nvSpPr>
        <p:spPr>
          <a:xfrm>
            <a:off x="365760" y="1389888"/>
            <a:ext cx="4114800" cy="1664208"/>
          </a:xfrm>
          <a:prstGeom prst="rect">
            <a:avLst/>
          </a:prstGeom>
          <a:solidFill>
            <a:srgbClr val="EEF3F8"/>
          </a:solidFill>
          <a:ln w="9525">
            <a:solidFill>
              <a:srgbClr val="D0DCE8"/>
            </a:solidFill>
            <a:prstDash val="solid"/>
          </a:ln>
        </p:spPr>
        <p:txBody>
          <a:bodyPr/>
          <a:lstStyle/>
          <a:p>
            <a:endParaRPr lang="en-US"/>
          </a:p>
        </p:txBody>
      </p:sp>
      <p:pic>
        <p:nvPicPr>
          <p:cNvPr id="6" name="Image 0" descr="preencoded.png"/>
          <p:cNvPicPr>
            <a:picLocks noChangeAspect="1"/>
          </p:cNvPicPr>
          <p:nvPr/>
        </p:nvPicPr>
        <p:blipFill>
          <a:blip r:embed="rId3"/>
          <a:stretch>
            <a:fillRect/>
          </a:stretch>
        </p:blipFill>
        <p:spPr>
          <a:xfrm>
            <a:off x="475488" y="1572768"/>
            <a:ext cx="502920" cy="502920"/>
          </a:xfrm>
          <a:prstGeom prst="rect">
            <a:avLst/>
          </a:prstGeom>
        </p:spPr>
      </p:pic>
      <p:sp>
        <p:nvSpPr>
          <p:cNvPr id="7" name="Text 4"/>
          <p:cNvSpPr/>
          <p:nvPr/>
        </p:nvSpPr>
        <p:spPr>
          <a:xfrm>
            <a:off x="1078992" y="1572768"/>
            <a:ext cx="3291840" cy="548640"/>
          </a:xfrm>
          <a:prstGeom prst="rect">
            <a:avLst/>
          </a:prstGeom>
          <a:noFill/>
          <a:ln/>
        </p:spPr>
        <p:txBody>
          <a:bodyPr wrap="square" rtlCol="0" anchor="ctr"/>
          <a:lstStyle/>
          <a:p>
            <a:pPr marL="0" indent="0">
              <a:buNone/>
            </a:pPr>
            <a:r>
              <a:rPr lang="en-US" sz="1200" b="1" dirty="0">
                <a:solidFill>
                  <a:srgbClr val="0D2B5E"/>
                </a:solidFill>
              </a:rPr>
              <a:t>LoRA fine-tuning rescues RAG</a:t>
            </a:r>
            <a:endParaRPr lang="en-US" sz="1200" dirty="0"/>
          </a:p>
        </p:txBody>
      </p:sp>
      <p:sp>
        <p:nvSpPr>
          <p:cNvPr id="8" name="Text 5"/>
          <p:cNvSpPr/>
          <p:nvPr/>
        </p:nvSpPr>
        <p:spPr>
          <a:xfrm>
            <a:off x="502920" y="2194560"/>
            <a:ext cx="3840480" cy="749808"/>
          </a:xfrm>
          <a:prstGeom prst="rect">
            <a:avLst/>
          </a:prstGeom>
          <a:noFill/>
          <a:ln/>
        </p:spPr>
        <p:txBody>
          <a:bodyPr wrap="square" rtlCol="0" anchor="ctr"/>
          <a:lstStyle/>
          <a:p>
            <a:pPr marL="0" indent="0">
              <a:buNone/>
            </a:pPr>
            <a:r>
              <a:rPr lang="en-US" sz="1000" dirty="0">
                <a:solidFill>
                  <a:srgbClr val="2C3E50"/>
                </a:solidFill>
              </a:rPr>
              <a:t>RAG with no tuning collapses on strict EM (1.4%). LoRA recovers it to 25.6% — an 18× gain — by teaching the model to give terse answers in the RAG prompt format.</a:t>
            </a:r>
            <a:endParaRPr lang="en-US" sz="1000" dirty="0"/>
          </a:p>
        </p:txBody>
      </p:sp>
      <p:sp>
        <p:nvSpPr>
          <p:cNvPr id="9" name="Shape 6"/>
          <p:cNvSpPr/>
          <p:nvPr/>
        </p:nvSpPr>
        <p:spPr>
          <a:xfrm>
            <a:off x="4709160" y="1389888"/>
            <a:ext cx="4114800" cy="1664208"/>
          </a:xfrm>
          <a:prstGeom prst="rect">
            <a:avLst/>
          </a:prstGeom>
          <a:solidFill>
            <a:srgbClr val="EEF3F8"/>
          </a:solidFill>
          <a:ln w="9525">
            <a:solidFill>
              <a:srgbClr val="D0DCE8"/>
            </a:solidFill>
            <a:prstDash val="solid"/>
          </a:ln>
        </p:spPr>
        <p:txBody>
          <a:bodyPr/>
          <a:lstStyle/>
          <a:p>
            <a:endParaRPr lang="en-US"/>
          </a:p>
        </p:txBody>
      </p:sp>
      <p:pic>
        <p:nvPicPr>
          <p:cNvPr id="10" name="Image 1" descr="preencoded.png"/>
          <p:cNvPicPr>
            <a:picLocks noChangeAspect="1"/>
          </p:cNvPicPr>
          <p:nvPr/>
        </p:nvPicPr>
        <p:blipFill>
          <a:blip r:embed="rId4"/>
          <a:stretch>
            <a:fillRect/>
          </a:stretch>
        </p:blipFill>
        <p:spPr>
          <a:xfrm>
            <a:off x="4818888" y="1572768"/>
            <a:ext cx="502920" cy="502920"/>
          </a:xfrm>
          <a:prstGeom prst="rect">
            <a:avLst/>
          </a:prstGeom>
        </p:spPr>
      </p:pic>
      <p:sp>
        <p:nvSpPr>
          <p:cNvPr id="11" name="Text 7"/>
          <p:cNvSpPr/>
          <p:nvPr/>
        </p:nvSpPr>
        <p:spPr>
          <a:xfrm>
            <a:off x="5422392" y="1572768"/>
            <a:ext cx="3291840" cy="548640"/>
          </a:xfrm>
          <a:prstGeom prst="rect">
            <a:avLst/>
          </a:prstGeom>
          <a:noFill/>
          <a:ln/>
        </p:spPr>
        <p:txBody>
          <a:bodyPr wrap="square" rtlCol="0" anchor="ctr"/>
          <a:lstStyle/>
          <a:p>
            <a:pPr marL="0" indent="0">
              <a:buNone/>
            </a:pPr>
            <a:r>
              <a:rPr lang="en-US" sz="1200" b="1" dirty="0">
                <a:solidFill>
                  <a:srgbClr val="0D2B5E"/>
                </a:solidFill>
              </a:rPr>
              <a:t>Format mismatch is a real, fixable problem</a:t>
            </a:r>
            <a:endParaRPr lang="en-US" sz="1200" dirty="0"/>
          </a:p>
        </p:txBody>
      </p:sp>
      <p:sp>
        <p:nvSpPr>
          <p:cNvPr id="12" name="Text 8"/>
          <p:cNvSpPr/>
          <p:nvPr/>
        </p:nvSpPr>
        <p:spPr>
          <a:xfrm>
            <a:off x="4846320" y="2194560"/>
            <a:ext cx="3840480" cy="749808"/>
          </a:xfrm>
          <a:prstGeom prst="rect">
            <a:avLst/>
          </a:prstGeom>
          <a:noFill/>
          <a:ln/>
        </p:spPr>
        <p:txBody>
          <a:bodyPr wrap="square" rtlCol="0" anchor="ctr"/>
          <a:lstStyle/>
          <a:p>
            <a:pPr marL="0" indent="0">
              <a:buNone/>
            </a:pPr>
            <a:r>
              <a:rPr lang="en-US" sz="1000" dirty="0">
                <a:solidFill>
                  <a:srgbClr val="2C3E50"/>
                </a:solidFill>
              </a:rPr>
              <a:t>Off-the-shelf RAG produces verbose, passage-referencing answers that fail strict evaluation. Fine-tuning aligns output style to the task — substring EM jumps +13.8 pts.</a:t>
            </a:r>
            <a:endParaRPr lang="en-US" sz="1000" dirty="0"/>
          </a:p>
        </p:txBody>
      </p:sp>
      <p:sp>
        <p:nvSpPr>
          <p:cNvPr id="13" name="Shape 9"/>
          <p:cNvSpPr/>
          <p:nvPr/>
        </p:nvSpPr>
        <p:spPr>
          <a:xfrm>
            <a:off x="365760" y="3218688"/>
            <a:ext cx="4114800" cy="1664208"/>
          </a:xfrm>
          <a:prstGeom prst="rect">
            <a:avLst/>
          </a:prstGeom>
          <a:solidFill>
            <a:srgbClr val="EEF3F8"/>
          </a:solidFill>
          <a:ln w="9525">
            <a:solidFill>
              <a:srgbClr val="D0DCE8"/>
            </a:solidFill>
            <a:prstDash val="solid"/>
          </a:ln>
        </p:spPr>
        <p:txBody>
          <a:bodyPr/>
          <a:lstStyle/>
          <a:p>
            <a:endParaRPr lang="en-US"/>
          </a:p>
        </p:txBody>
      </p:sp>
      <p:pic>
        <p:nvPicPr>
          <p:cNvPr id="14" name="Image 2" descr="preencoded.png"/>
          <p:cNvPicPr>
            <a:picLocks noChangeAspect="1"/>
          </p:cNvPicPr>
          <p:nvPr/>
        </p:nvPicPr>
        <p:blipFill>
          <a:blip r:embed="rId5"/>
          <a:stretch>
            <a:fillRect/>
          </a:stretch>
        </p:blipFill>
        <p:spPr>
          <a:xfrm>
            <a:off x="475488" y="3401568"/>
            <a:ext cx="502920" cy="502920"/>
          </a:xfrm>
          <a:prstGeom prst="rect">
            <a:avLst/>
          </a:prstGeom>
        </p:spPr>
      </p:pic>
      <p:sp>
        <p:nvSpPr>
          <p:cNvPr id="15" name="Text 10"/>
          <p:cNvSpPr/>
          <p:nvPr/>
        </p:nvSpPr>
        <p:spPr>
          <a:xfrm>
            <a:off x="1078992" y="3401568"/>
            <a:ext cx="3291840" cy="548640"/>
          </a:xfrm>
          <a:prstGeom prst="rect">
            <a:avLst/>
          </a:prstGeom>
          <a:noFill/>
          <a:ln/>
        </p:spPr>
        <p:txBody>
          <a:bodyPr wrap="square" rtlCol="0" anchor="ctr"/>
          <a:lstStyle/>
          <a:p>
            <a:pPr marL="0" indent="0">
              <a:buNone/>
            </a:pPr>
            <a:r>
              <a:rPr lang="en-US" sz="1200" b="1" dirty="0">
                <a:solidFill>
                  <a:srgbClr val="0D2B5E"/>
                </a:solidFill>
              </a:rPr>
              <a:t>RAG is corpus-bound on long-tail QA</a:t>
            </a:r>
            <a:endParaRPr lang="en-US" sz="1200" dirty="0"/>
          </a:p>
        </p:txBody>
      </p:sp>
      <p:sp>
        <p:nvSpPr>
          <p:cNvPr id="16" name="Text 11"/>
          <p:cNvSpPr/>
          <p:nvPr/>
        </p:nvSpPr>
        <p:spPr>
          <a:xfrm>
            <a:off x="502920" y="4023360"/>
            <a:ext cx="3840480" cy="749808"/>
          </a:xfrm>
          <a:prstGeom prst="rect">
            <a:avLst/>
          </a:prstGeom>
          <a:noFill/>
          <a:ln/>
        </p:spPr>
        <p:txBody>
          <a:bodyPr wrap="square" rtlCol="0" anchor="ctr"/>
          <a:lstStyle/>
          <a:p>
            <a:pPr marL="0" indent="0">
              <a:buNone/>
            </a:pPr>
            <a:r>
              <a:rPr lang="en-US" sz="1000" dirty="0">
                <a:solidFill>
                  <a:srgbClr val="2C3E50"/>
                </a:solidFill>
              </a:rPr>
              <a:t>When pretraining already covers the answer, retrieval is redundant. When it doesn't, our 525k-passage corpus often misses. Corpus scale is the next bottleneck.</a:t>
            </a:r>
            <a:endParaRPr lang="en-US" sz="1000" dirty="0"/>
          </a:p>
        </p:txBody>
      </p:sp>
      <p:sp>
        <p:nvSpPr>
          <p:cNvPr id="17" name="Shape 12"/>
          <p:cNvSpPr/>
          <p:nvPr/>
        </p:nvSpPr>
        <p:spPr>
          <a:xfrm>
            <a:off x="4709160" y="3218688"/>
            <a:ext cx="4114800" cy="1664208"/>
          </a:xfrm>
          <a:prstGeom prst="rect">
            <a:avLst/>
          </a:prstGeom>
          <a:solidFill>
            <a:srgbClr val="EEF3F8"/>
          </a:solidFill>
          <a:ln w="9525">
            <a:solidFill>
              <a:srgbClr val="D0DCE8"/>
            </a:solidFill>
            <a:prstDash val="solid"/>
          </a:ln>
        </p:spPr>
        <p:txBody>
          <a:bodyPr/>
          <a:lstStyle/>
          <a:p>
            <a:endParaRPr lang="en-US"/>
          </a:p>
        </p:txBody>
      </p:sp>
      <p:pic>
        <p:nvPicPr>
          <p:cNvPr id="18" name="Image 3" descr="preencoded.png"/>
          <p:cNvPicPr>
            <a:picLocks noChangeAspect="1"/>
          </p:cNvPicPr>
          <p:nvPr/>
        </p:nvPicPr>
        <p:blipFill>
          <a:blip r:embed="rId6"/>
          <a:stretch>
            <a:fillRect/>
          </a:stretch>
        </p:blipFill>
        <p:spPr>
          <a:xfrm>
            <a:off x="4818888" y="3401568"/>
            <a:ext cx="502920" cy="502920"/>
          </a:xfrm>
          <a:prstGeom prst="rect">
            <a:avLst/>
          </a:prstGeom>
        </p:spPr>
      </p:pic>
      <p:sp>
        <p:nvSpPr>
          <p:cNvPr id="19" name="Text 13"/>
          <p:cNvSpPr/>
          <p:nvPr/>
        </p:nvSpPr>
        <p:spPr>
          <a:xfrm>
            <a:off x="5422392" y="3401568"/>
            <a:ext cx="3291840" cy="548640"/>
          </a:xfrm>
          <a:prstGeom prst="rect">
            <a:avLst/>
          </a:prstGeom>
          <a:noFill/>
          <a:ln/>
        </p:spPr>
        <p:txBody>
          <a:bodyPr wrap="square" rtlCol="0" anchor="ctr"/>
          <a:lstStyle/>
          <a:p>
            <a:pPr marL="0" indent="0">
              <a:buNone/>
            </a:pPr>
            <a:r>
              <a:rPr lang="en-US" sz="1200" b="1" dirty="0">
                <a:solidFill>
                  <a:srgbClr val="0D2B5E"/>
                </a:solidFill>
              </a:rPr>
              <a:t>Modular pipelines are practical</a:t>
            </a:r>
            <a:endParaRPr lang="en-US" sz="1200" dirty="0"/>
          </a:p>
        </p:txBody>
      </p:sp>
      <p:sp>
        <p:nvSpPr>
          <p:cNvPr id="20" name="Text 14"/>
          <p:cNvSpPr/>
          <p:nvPr/>
        </p:nvSpPr>
        <p:spPr>
          <a:xfrm>
            <a:off x="4846320" y="4023360"/>
            <a:ext cx="3840480" cy="749808"/>
          </a:xfrm>
          <a:prstGeom prst="rect">
            <a:avLst/>
          </a:prstGeom>
          <a:noFill/>
          <a:ln/>
        </p:spPr>
        <p:txBody>
          <a:bodyPr wrap="square" rtlCol="0" anchor="ctr"/>
          <a:lstStyle/>
          <a:p>
            <a:pPr marL="0" indent="0">
              <a:buNone/>
            </a:pPr>
            <a:r>
              <a:rPr lang="en-US" sz="1000" dirty="0">
                <a:solidFill>
                  <a:srgbClr val="2C3E50"/>
                </a:solidFill>
              </a:rPr>
              <a:t>Independent retriever, generator, and adapter — each can be swapped. We swapped corpora mid-project without retraining the LoRA. That modularity is a real engineering win.</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164592"/>
            <a:ext cx="8229600" cy="256032"/>
          </a:xfrm>
          <a:prstGeom prst="rect">
            <a:avLst/>
          </a:prstGeom>
          <a:noFill/>
          <a:ln/>
        </p:spPr>
        <p:txBody>
          <a:bodyPr wrap="square" rtlCol="0" anchor="ctr"/>
          <a:lstStyle/>
          <a:p>
            <a:pPr marL="0" indent="0" algn="l">
              <a:buNone/>
            </a:pPr>
            <a:r>
              <a:rPr lang="en-US" sz="900" b="1" kern="0" spc="300" dirty="0">
                <a:solidFill>
                  <a:srgbClr val="2E8BAE"/>
                </a:solidFill>
              </a:rPr>
              <a:t>L I M I T A T I O N S  ·  F U T U R E  W O R K</a:t>
            </a:r>
            <a:endParaRPr lang="en-US" sz="900" dirty="0"/>
          </a:p>
        </p:txBody>
      </p:sp>
      <p:sp>
        <p:nvSpPr>
          <p:cNvPr id="3" name="Text 1"/>
          <p:cNvSpPr/>
          <p:nvPr/>
        </p:nvSpPr>
        <p:spPr>
          <a:xfrm>
            <a:off x="7863840" y="164592"/>
            <a:ext cx="1097280" cy="256032"/>
          </a:xfrm>
          <a:prstGeom prst="rect">
            <a:avLst/>
          </a:prstGeom>
          <a:noFill/>
          <a:ln/>
        </p:spPr>
        <p:txBody>
          <a:bodyPr wrap="square" rtlCol="0" anchor="ctr"/>
          <a:lstStyle/>
          <a:p>
            <a:pPr marL="0" indent="0" algn="r">
              <a:buNone/>
            </a:pPr>
            <a:r>
              <a:rPr lang="en-US" sz="900" dirty="0">
                <a:solidFill>
                  <a:srgbClr val="5A7080"/>
                </a:solidFill>
              </a:rPr>
              <a:t>16 / 17</a:t>
            </a:r>
            <a:endParaRPr lang="en-US" sz="900" dirty="0"/>
          </a:p>
        </p:txBody>
      </p:sp>
      <p:sp>
        <p:nvSpPr>
          <p:cNvPr id="4" name="Text 2"/>
          <p:cNvSpPr/>
          <p:nvPr/>
        </p:nvSpPr>
        <p:spPr>
          <a:xfrm>
            <a:off x="457200" y="502920"/>
            <a:ext cx="8229600" cy="777240"/>
          </a:xfrm>
          <a:prstGeom prst="rect">
            <a:avLst/>
          </a:prstGeom>
          <a:noFill/>
          <a:ln/>
        </p:spPr>
        <p:txBody>
          <a:bodyPr wrap="square" rtlCol="0" anchor="ctr"/>
          <a:lstStyle/>
          <a:p>
            <a:pPr marL="0" indent="0" algn="l">
              <a:buNone/>
            </a:pPr>
            <a:r>
              <a:rPr lang="en-US" sz="3000" b="1" dirty="0">
                <a:solidFill>
                  <a:srgbClr val="0D2B5E"/>
                </a:solidFill>
                <a:latin typeface="Calibri" pitchFamily="34" charset="0"/>
                <a:ea typeface="Calibri" pitchFamily="34" charset="-122"/>
                <a:cs typeface="Calibri" pitchFamily="34" charset="-120"/>
              </a:rPr>
              <a:t>What we'd do with more time</a:t>
            </a:r>
            <a:endParaRPr lang="en-US" sz="3000" dirty="0"/>
          </a:p>
        </p:txBody>
      </p:sp>
      <p:sp>
        <p:nvSpPr>
          <p:cNvPr id="5" name="Shape 3"/>
          <p:cNvSpPr/>
          <p:nvPr/>
        </p:nvSpPr>
        <p:spPr>
          <a:xfrm>
            <a:off x="365760" y="1389888"/>
            <a:ext cx="4023360" cy="3383280"/>
          </a:xfrm>
          <a:prstGeom prst="rect">
            <a:avLst/>
          </a:prstGeom>
          <a:solidFill>
            <a:srgbClr val="EEF3F8"/>
          </a:solidFill>
          <a:ln w="9525">
            <a:solidFill>
              <a:srgbClr val="D0DCE8"/>
            </a:solidFill>
            <a:prstDash val="solid"/>
          </a:ln>
        </p:spPr>
        <p:txBody>
          <a:bodyPr/>
          <a:lstStyle/>
          <a:p>
            <a:endParaRPr lang="en-US"/>
          </a:p>
        </p:txBody>
      </p:sp>
      <p:sp>
        <p:nvSpPr>
          <p:cNvPr id="6" name="Text 4"/>
          <p:cNvSpPr/>
          <p:nvPr/>
        </p:nvSpPr>
        <p:spPr>
          <a:xfrm>
            <a:off x="548640" y="1508760"/>
            <a:ext cx="3657600" cy="274320"/>
          </a:xfrm>
          <a:prstGeom prst="rect">
            <a:avLst/>
          </a:prstGeom>
          <a:noFill/>
          <a:ln/>
        </p:spPr>
        <p:txBody>
          <a:bodyPr wrap="square" rtlCol="0" anchor="ctr"/>
          <a:lstStyle/>
          <a:p>
            <a:pPr marL="0" indent="0">
              <a:buNone/>
            </a:pPr>
            <a:r>
              <a:rPr lang="en-US" sz="1000" b="1" kern="0" spc="200" dirty="0">
                <a:solidFill>
                  <a:srgbClr val="C0392B"/>
                </a:solidFill>
              </a:rPr>
              <a:t>L I M I T A T I O N S</a:t>
            </a:r>
            <a:endParaRPr lang="en-US" sz="1000" dirty="0"/>
          </a:p>
        </p:txBody>
      </p:sp>
      <p:sp>
        <p:nvSpPr>
          <p:cNvPr id="7" name="Text 5"/>
          <p:cNvSpPr/>
          <p:nvPr/>
        </p:nvSpPr>
        <p:spPr>
          <a:xfrm>
            <a:off x="548640" y="1874520"/>
            <a:ext cx="3657600" cy="2651760"/>
          </a:xfrm>
          <a:prstGeom prst="rect">
            <a:avLst/>
          </a:prstGeom>
          <a:noFill/>
          <a:ln/>
        </p:spPr>
        <p:txBody>
          <a:bodyPr wrap="square" rtlCol="0" anchor="ctr"/>
          <a:lstStyle/>
          <a:p>
            <a:pPr marL="342900" indent="-342900">
              <a:buSzPct val="100000"/>
              <a:buChar char="•"/>
            </a:pPr>
            <a:r>
              <a:rPr lang="en-US" sz="1100" dirty="0">
                <a:solidFill>
                  <a:srgbClr val="2C3E50"/>
                </a:solidFill>
              </a:rPr>
              <a:t>525k-passage corpus is a Wikipedia subset, not full</a:t>
            </a:r>
            <a:endParaRPr lang="en-US" sz="1100" dirty="0"/>
          </a:p>
          <a:p>
            <a:pPr marL="342900" indent="-342900">
              <a:buSzPct val="100000"/>
              <a:buChar char="•"/>
            </a:pPr>
            <a:r>
              <a:rPr lang="en-US" sz="1100" dirty="0">
                <a:solidFill>
                  <a:srgbClr val="2C3E50"/>
                </a:solidFill>
              </a:rPr>
              <a:t>500-question evaluation slice — narrow statistical confidence</a:t>
            </a:r>
            <a:endParaRPr lang="en-US" sz="1100" dirty="0"/>
          </a:p>
          <a:p>
            <a:pPr marL="342900" indent="-342900">
              <a:buSzPct val="100000"/>
              <a:buChar char="•"/>
            </a:pPr>
            <a:r>
              <a:rPr lang="en-US" sz="1100" dirty="0">
                <a:solidFill>
                  <a:srgbClr val="2C3E50"/>
                </a:solidFill>
              </a:rPr>
              <a:t>Greedy decoding only; no beam search or sampling sweeps</a:t>
            </a:r>
            <a:endParaRPr lang="en-US" sz="1100" dirty="0"/>
          </a:p>
          <a:p>
            <a:pPr marL="342900" indent="-342900">
              <a:buSzPct val="100000"/>
              <a:buChar char="•"/>
            </a:pPr>
            <a:r>
              <a:rPr lang="en-US" sz="1100" dirty="0">
                <a:solidFill>
                  <a:srgbClr val="2C3E50"/>
                </a:solidFill>
              </a:rPr>
              <a:t>Did not explore stop tokens for verbose-output mitigation</a:t>
            </a:r>
            <a:endParaRPr lang="en-US" sz="1100" dirty="0"/>
          </a:p>
          <a:p>
            <a:pPr marL="342900" indent="-342900">
              <a:buSzPct val="100000"/>
              <a:buChar char="•"/>
            </a:pPr>
            <a:r>
              <a:rPr lang="en-US" sz="1100" dirty="0">
                <a:solidFill>
                  <a:srgbClr val="2C3E50"/>
                </a:solidFill>
              </a:rPr>
              <a:t>LoRA hyperparameters fixed (r=8, α=16) — not tuned</a:t>
            </a:r>
            <a:endParaRPr lang="en-US" sz="1100" dirty="0"/>
          </a:p>
        </p:txBody>
      </p:sp>
      <p:sp>
        <p:nvSpPr>
          <p:cNvPr id="8" name="Shape 6"/>
          <p:cNvSpPr/>
          <p:nvPr/>
        </p:nvSpPr>
        <p:spPr>
          <a:xfrm>
            <a:off x="4663440" y="1389888"/>
            <a:ext cx="4023360" cy="3383280"/>
          </a:xfrm>
          <a:prstGeom prst="rect">
            <a:avLst/>
          </a:prstGeom>
          <a:solidFill>
            <a:srgbClr val="EEF3F8"/>
          </a:solidFill>
          <a:ln w="9525">
            <a:solidFill>
              <a:srgbClr val="D0DCE8"/>
            </a:solidFill>
            <a:prstDash val="solid"/>
          </a:ln>
        </p:spPr>
        <p:txBody>
          <a:bodyPr/>
          <a:lstStyle/>
          <a:p>
            <a:endParaRPr lang="en-US"/>
          </a:p>
        </p:txBody>
      </p:sp>
      <p:sp>
        <p:nvSpPr>
          <p:cNvPr id="9" name="Text 7"/>
          <p:cNvSpPr/>
          <p:nvPr/>
        </p:nvSpPr>
        <p:spPr>
          <a:xfrm>
            <a:off x="4846320" y="1508760"/>
            <a:ext cx="3657600" cy="274320"/>
          </a:xfrm>
          <a:prstGeom prst="rect">
            <a:avLst/>
          </a:prstGeom>
          <a:noFill/>
          <a:ln/>
        </p:spPr>
        <p:txBody>
          <a:bodyPr wrap="square" rtlCol="0" anchor="ctr"/>
          <a:lstStyle/>
          <a:p>
            <a:pPr marL="0" indent="0">
              <a:buNone/>
            </a:pPr>
            <a:r>
              <a:rPr lang="en-US" sz="1000" b="1" kern="0" spc="200" dirty="0">
                <a:solidFill>
                  <a:srgbClr val="1A6B8A"/>
                </a:solidFill>
              </a:rPr>
              <a:t>F U T U R E  W O R K</a:t>
            </a:r>
            <a:endParaRPr lang="en-US" sz="1000" dirty="0"/>
          </a:p>
        </p:txBody>
      </p:sp>
      <p:sp>
        <p:nvSpPr>
          <p:cNvPr id="10" name="Text 8"/>
          <p:cNvSpPr/>
          <p:nvPr/>
        </p:nvSpPr>
        <p:spPr>
          <a:xfrm>
            <a:off x="4846320" y="1874520"/>
            <a:ext cx="3657600" cy="2651760"/>
          </a:xfrm>
          <a:prstGeom prst="rect">
            <a:avLst/>
          </a:prstGeom>
          <a:noFill/>
          <a:ln/>
        </p:spPr>
        <p:txBody>
          <a:bodyPr wrap="square" rtlCol="0" anchor="ctr"/>
          <a:lstStyle/>
          <a:p>
            <a:pPr marL="342900" indent="-342900">
              <a:buSzPct val="100000"/>
              <a:buChar char="•"/>
            </a:pPr>
            <a:r>
              <a:rPr lang="en-US" sz="1100" dirty="0">
                <a:solidFill>
                  <a:srgbClr val="2C3E50"/>
                </a:solidFill>
              </a:rPr>
              <a:t>Scale to full Wikipedia (5.5M+ passages) and re-evaluate</a:t>
            </a:r>
            <a:endParaRPr lang="en-US" sz="1100" dirty="0"/>
          </a:p>
          <a:p>
            <a:pPr marL="342900" indent="-342900">
              <a:buSzPct val="100000"/>
              <a:buChar char="•"/>
            </a:pPr>
            <a:r>
              <a:rPr lang="en-US" sz="1100" dirty="0">
                <a:solidFill>
                  <a:srgbClr val="2C3E50"/>
                </a:solidFill>
              </a:rPr>
              <a:t>Replace MiniLM retriever with original DPR (Karpukhin 2020)</a:t>
            </a:r>
            <a:endParaRPr lang="en-US" sz="1100" dirty="0"/>
          </a:p>
          <a:p>
            <a:pPr marL="342900" indent="-342900">
              <a:buSzPct val="100000"/>
              <a:buChar char="•"/>
            </a:pPr>
            <a:r>
              <a:rPr lang="en-US" sz="1100" dirty="0">
                <a:solidFill>
                  <a:srgbClr val="2C3E50"/>
                </a:solidFill>
              </a:rPr>
              <a:t>Hyperparameter sweep over LoRA rank, target modules, learning rate</a:t>
            </a:r>
            <a:endParaRPr lang="en-US" sz="1100" dirty="0"/>
          </a:p>
          <a:p>
            <a:pPr marL="342900" indent="-342900">
              <a:buSzPct val="100000"/>
              <a:buChar char="•"/>
            </a:pPr>
            <a:r>
              <a:rPr lang="en-US" sz="1100" dirty="0">
                <a:solidFill>
                  <a:srgbClr val="2C3E50"/>
                </a:solidFill>
              </a:rPr>
              <a:t>Add stop tokens to RAG decoding to control output length</a:t>
            </a:r>
            <a:endParaRPr lang="en-US" sz="1100" dirty="0"/>
          </a:p>
          <a:p>
            <a:pPr marL="342900" indent="-342900">
              <a:buSzPct val="100000"/>
              <a:buChar char="•"/>
            </a:pPr>
            <a:r>
              <a:rPr lang="en-US" sz="1100" dirty="0">
                <a:solidFill>
                  <a:srgbClr val="2C3E50"/>
                </a:solidFill>
              </a:rPr>
              <a:t>Per-question failure analysis: retrieval-fail vs generation-fail</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D1B3E"/>
        </a:solidFill>
        <a:effectLst/>
      </p:bgPr>
    </p:bg>
    <p:spTree>
      <p:nvGrpSpPr>
        <p:cNvPr id="1" name=""/>
        <p:cNvGrpSpPr/>
        <p:nvPr/>
      </p:nvGrpSpPr>
      <p:grpSpPr>
        <a:xfrm>
          <a:off x="0" y="0"/>
          <a:ext cx="0" cy="0"/>
          <a:chOff x="0" y="0"/>
          <a:chExt cx="0" cy="0"/>
        </a:xfrm>
      </p:grpSpPr>
      <p:sp>
        <p:nvSpPr>
          <p:cNvPr id="2" name="Text 0"/>
          <p:cNvSpPr/>
          <p:nvPr/>
        </p:nvSpPr>
        <p:spPr>
          <a:xfrm>
            <a:off x="457200" y="548640"/>
            <a:ext cx="8229600" cy="1280160"/>
          </a:xfrm>
          <a:prstGeom prst="rect">
            <a:avLst/>
          </a:prstGeom>
          <a:noFill/>
          <a:ln/>
        </p:spPr>
        <p:txBody>
          <a:bodyPr wrap="square" rtlCol="0" anchor="ctr"/>
          <a:lstStyle/>
          <a:p>
            <a:pPr marL="0" indent="0" algn="ctr">
              <a:buNone/>
            </a:pPr>
            <a:r>
              <a:rPr lang="en-US" sz="6000" b="1" dirty="0">
                <a:solidFill>
                  <a:srgbClr val="FFFFFF"/>
                </a:solidFill>
              </a:rPr>
              <a:t>Thank you</a:t>
            </a:r>
            <a:endParaRPr lang="en-US" sz="6000" dirty="0"/>
          </a:p>
        </p:txBody>
      </p:sp>
      <p:sp>
        <p:nvSpPr>
          <p:cNvPr id="3" name="Text 1"/>
          <p:cNvSpPr/>
          <p:nvPr/>
        </p:nvSpPr>
        <p:spPr>
          <a:xfrm>
            <a:off x="457200" y="1828800"/>
            <a:ext cx="8229600" cy="640080"/>
          </a:xfrm>
          <a:prstGeom prst="rect">
            <a:avLst/>
          </a:prstGeom>
          <a:noFill/>
          <a:ln/>
        </p:spPr>
        <p:txBody>
          <a:bodyPr wrap="square" rtlCol="0" anchor="ctr"/>
          <a:lstStyle/>
          <a:p>
            <a:pPr marL="0" indent="0" algn="ctr">
              <a:buNone/>
            </a:pPr>
            <a:r>
              <a:rPr lang="en-US" sz="2800" i="1" dirty="0">
                <a:solidFill>
                  <a:srgbClr val="E8842A"/>
                </a:solidFill>
              </a:rPr>
              <a:t>Questions?</a:t>
            </a:r>
            <a:endParaRPr lang="en-US" sz="2800" dirty="0"/>
          </a:p>
        </p:txBody>
      </p:sp>
      <p:sp>
        <p:nvSpPr>
          <p:cNvPr id="4" name="Shape 2"/>
          <p:cNvSpPr/>
          <p:nvPr/>
        </p:nvSpPr>
        <p:spPr>
          <a:xfrm>
            <a:off x="457200" y="2578608"/>
            <a:ext cx="8229600" cy="36576"/>
          </a:xfrm>
          <a:prstGeom prst="rect">
            <a:avLst/>
          </a:prstGeom>
          <a:solidFill>
            <a:srgbClr val="2A4870"/>
          </a:solidFill>
          <a:ln w="12700">
            <a:solidFill>
              <a:srgbClr val="2A4870"/>
            </a:solidFill>
            <a:prstDash val="solid"/>
          </a:ln>
        </p:spPr>
        <p:txBody>
          <a:bodyPr/>
          <a:lstStyle/>
          <a:p>
            <a:endParaRPr lang="en-US"/>
          </a:p>
        </p:txBody>
      </p:sp>
      <p:sp>
        <p:nvSpPr>
          <p:cNvPr id="5" name="Text 3"/>
          <p:cNvSpPr/>
          <p:nvPr/>
        </p:nvSpPr>
        <p:spPr>
          <a:xfrm>
            <a:off x="457200" y="2697480"/>
            <a:ext cx="8229600" cy="256032"/>
          </a:xfrm>
          <a:prstGeom prst="rect">
            <a:avLst/>
          </a:prstGeom>
          <a:noFill/>
          <a:ln/>
        </p:spPr>
        <p:txBody>
          <a:bodyPr wrap="square" rtlCol="0" anchor="ctr"/>
          <a:lstStyle/>
          <a:p>
            <a:pPr marL="0" indent="0">
              <a:buNone/>
            </a:pPr>
            <a:r>
              <a:rPr lang="en-US" sz="900" b="1" kern="0" spc="200" dirty="0">
                <a:solidFill>
                  <a:srgbClr val="E8842A"/>
                </a:solidFill>
              </a:rPr>
              <a:t>K E Y  R E F E R E N C E S</a:t>
            </a:r>
            <a:endParaRPr lang="en-US" sz="900" dirty="0"/>
          </a:p>
        </p:txBody>
      </p:sp>
      <p:sp>
        <p:nvSpPr>
          <p:cNvPr id="6" name="Text 4"/>
          <p:cNvSpPr/>
          <p:nvPr/>
        </p:nvSpPr>
        <p:spPr>
          <a:xfrm>
            <a:off x="457200" y="2999232"/>
            <a:ext cx="8229600" cy="1554480"/>
          </a:xfrm>
          <a:prstGeom prst="rect">
            <a:avLst/>
          </a:prstGeom>
          <a:noFill/>
          <a:ln/>
        </p:spPr>
        <p:txBody>
          <a:bodyPr wrap="square" rtlCol="0" anchor="ctr"/>
          <a:lstStyle/>
          <a:p>
            <a:pPr marL="0" indent="0">
              <a:buNone/>
            </a:pPr>
            <a:r>
              <a:rPr lang="en-US" sz="950" dirty="0">
                <a:solidFill>
                  <a:srgbClr val="8AAEC8"/>
                </a:solidFill>
              </a:rPr>
              <a:t>• Lewis et al. (2020). Retrieval-Augmented Generation for Knowledge-Intensive NLP Tasks. NeurIPS.</a:t>
            </a:r>
            <a:endParaRPr lang="en-US" sz="950" dirty="0"/>
          </a:p>
          <a:p>
            <a:pPr marL="0" indent="0">
              <a:buNone/>
            </a:pPr>
            <a:r>
              <a:rPr lang="en-US" sz="950" dirty="0">
                <a:solidFill>
                  <a:srgbClr val="8AAEC8"/>
                </a:solidFill>
              </a:rPr>
              <a:t>• Hu et al. (2021). LoRA: Low-Rank Adaptation of Large Language Models. ICLR 2022.</a:t>
            </a:r>
            <a:endParaRPr lang="en-US" sz="950" dirty="0"/>
          </a:p>
          <a:p>
            <a:pPr marL="0" indent="0">
              <a:buNone/>
            </a:pPr>
            <a:r>
              <a:rPr lang="en-US" sz="950" dirty="0">
                <a:solidFill>
                  <a:srgbClr val="8AAEC8"/>
                </a:solidFill>
              </a:rPr>
              <a:t>• Karpukhin et al. (2020). Dense Passage Retrieval for Open-Domain Question Answering. EMNLP.</a:t>
            </a:r>
            <a:endParaRPr lang="en-US" sz="950" dirty="0"/>
          </a:p>
          <a:p>
            <a:pPr marL="0" indent="0">
              <a:buNone/>
            </a:pPr>
            <a:r>
              <a:rPr lang="en-US" sz="950" dirty="0">
                <a:solidFill>
                  <a:srgbClr val="8AAEC8"/>
                </a:solidFill>
              </a:rPr>
              <a:t>• Joshi et al. (2017). TriviaQA: A Large Scale Distantly Supervised Challenge Dataset. ACL.</a:t>
            </a:r>
            <a:endParaRPr lang="en-US" sz="950" dirty="0"/>
          </a:p>
          <a:p>
            <a:pPr marL="0" indent="0">
              <a:buNone/>
            </a:pPr>
            <a:r>
              <a:rPr lang="en-US" sz="950" dirty="0">
                <a:solidFill>
                  <a:srgbClr val="8AAEC8"/>
                </a:solidFill>
              </a:rPr>
              <a:t>• Brown et al. (2020). Language Models are Few-Shot Learners. NeurIPS.</a:t>
            </a:r>
            <a:endParaRPr lang="en-US" sz="950" dirty="0"/>
          </a:p>
          <a:p>
            <a:pPr marL="0" indent="0">
              <a:buNone/>
            </a:pPr>
            <a:r>
              <a:rPr lang="en-US" sz="950" dirty="0">
                <a:solidFill>
                  <a:srgbClr val="8AAEC8"/>
                </a:solidFill>
              </a:rPr>
              <a:t>• Dettmers et al. (2023). QLoRA: Efficient Finetuning of Quantized LLMs. NeurIPS.</a:t>
            </a:r>
            <a:endParaRPr lang="en-US" sz="950" dirty="0"/>
          </a:p>
        </p:txBody>
      </p:sp>
      <p:sp>
        <p:nvSpPr>
          <p:cNvPr id="7" name="Text 5"/>
          <p:cNvSpPr/>
          <p:nvPr/>
        </p:nvSpPr>
        <p:spPr>
          <a:xfrm>
            <a:off x="457200" y="4800600"/>
            <a:ext cx="8229600" cy="256032"/>
          </a:xfrm>
          <a:prstGeom prst="rect">
            <a:avLst/>
          </a:prstGeom>
          <a:noFill/>
          <a:ln/>
        </p:spPr>
        <p:txBody>
          <a:bodyPr wrap="square" rtlCol="0" anchor="ctr"/>
          <a:lstStyle/>
          <a:p>
            <a:pPr marL="0" indent="0">
              <a:buNone/>
            </a:pPr>
            <a:r>
              <a:rPr lang="en-US" sz="800" i="1" dirty="0">
                <a:solidFill>
                  <a:srgbClr val="4A6A88"/>
                </a:solidFill>
              </a:rPr>
              <a:t>Tools used: HuggingFace Transformers, PEFT, TRL, sentence-transformers, FAISS, Mistral AI · Generative AI tools (Claude) used for project planning, debugging, and report drafting.</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TotalTime>
  <Words>5727</Words>
  <Application>Microsoft Macintosh PowerPoint</Application>
  <PresentationFormat>On-screen Show (16:9)</PresentationFormat>
  <Paragraphs>394</Paragraphs>
  <Slides>17</Slides>
  <Notes>17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17</vt:i4>
      </vt:variant>
    </vt:vector>
  </HeadingPairs>
  <TitlesOfParts>
    <vt:vector size="21" baseType="lpstr">
      <vt:lpstr>Arial</vt:lpstr>
      <vt:lpstr>Calibri</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Enhancing Open-Domain QA via RAG with LoRA Fine-Tuning</dc:title>
  <dc:subject>PptxGenJS Presentation</dc:subject>
  <dc:creator>PptxGenJS</dc:creator>
  <cp:lastModifiedBy>Shruti Bharatbhai Gajipara</cp:lastModifiedBy>
  <cp:revision>2</cp:revision>
  <dcterms:created xsi:type="dcterms:W3CDTF">2026-04-30T16:56:24Z</dcterms:created>
  <dcterms:modified xsi:type="dcterms:W3CDTF">2026-04-30T17:04:31Z</dcterms:modified>
</cp:coreProperties>
</file>